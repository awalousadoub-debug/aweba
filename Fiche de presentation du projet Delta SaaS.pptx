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8" r:id="rId2"/>
    <p:sldId id="267" r:id="rId3"/>
    <p:sldId id="256" r:id="rId4"/>
    <p:sldId id="257" r:id="rId5"/>
    <p:sldId id="258" r:id="rId6"/>
    <p:sldId id="269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D42"/>
    <a:srgbClr val="0A1628"/>
    <a:srgbClr val="074A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437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Revenus mensuels (FCFA)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M1–M3</c:v>
                </c:pt>
                <c:pt idx="1">
                  <c:v>M4–M6</c:v>
                </c:pt>
                <c:pt idx="2">
                  <c:v>M7–M9</c:v>
                </c:pt>
                <c:pt idx="3">
                  <c:v>M10–M12</c:v>
                </c:pt>
                <c:pt idx="4">
                  <c:v>An 2 (moy.)</c:v>
                </c:pt>
                <c:pt idx="5">
                  <c:v>An 3 (moy.)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440000</c:v>
                </c:pt>
                <c:pt idx="1">
                  <c:v>900000</c:v>
                </c:pt>
                <c:pt idx="2">
                  <c:v>1600000</c:v>
                </c:pt>
                <c:pt idx="3">
                  <c:v>2500000</c:v>
                </c:pt>
                <c:pt idx="4">
                  <c:v>5000000</c:v>
                </c:pt>
                <c:pt idx="5">
                  <c:v>9000000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CF-42B1-9AEC-F2688A5823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40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linkedin.com/in/sadou-awalou-9232ab40a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DCE5F4"/>
            </a:gs>
            <a:gs pos="75000">
              <a:srgbClr val="D9E3F3"/>
            </a:gs>
            <a:gs pos="70000">
              <a:srgbClr val="D3DEF1"/>
            </a:gs>
            <a:gs pos="95000">
              <a:srgbClr val="DFE7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9D2A12-0992-49BA-AE5F-05AEB56EEB1B}"/>
              </a:ext>
            </a:extLst>
          </p:cNvPr>
          <p:cNvSpPr>
            <a:spLocks noGrp="1"/>
          </p:cNvSpPr>
          <p:nvPr/>
        </p:nvSpPr>
        <p:spPr>
          <a:xfrm>
            <a:off x="1741170" y="221634"/>
            <a:ext cx="443865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>
                <a:latin typeface="Gabriola" panose="04040605051002020D02" pitchFamily="82" charset="0"/>
              </a:rPr>
              <a:t>Nom de l’entreprise </a:t>
            </a:r>
            <a:r>
              <a:rPr lang="fr-FR" dirty="0"/>
              <a:t>: </a:t>
            </a:r>
            <a:r>
              <a:rPr lang="fr-FR" b="1" dirty="0"/>
              <a:t>Delta SaaS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F43FAA-D57C-4AEC-984E-95AB17F3738C}"/>
              </a:ext>
            </a:extLst>
          </p:cNvPr>
          <p:cNvSpPr>
            <a:spLocks noGrp="1"/>
          </p:cNvSpPr>
          <p:nvPr/>
        </p:nvSpPr>
        <p:spPr>
          <a:xfrm>
            <a:off x="202234" y="4336308"/>
            <a:ext cx="7886700" cy="470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>
                <a:latin typeface="Bahnschrift" panose="020B0502040204020203" pitchFamily="34" charset="0"/>
              </a:rPr>
              <a:t>Slogan</a:t>
            </a:r>
            <a:r>
              <a:rPr lang="fr-FR" dirty="0"/>
              <a:t> : </a:t>
            </a:r>
            <a:r>
              <a:rPr lang="fr-FR" sz="2400" b="1" i="1" dirty="0">
                <a:latin typeface="Calisto MT" panose="02040603050505030304" pitchFamily="18" charset="0"/>
              </a:rPr>
              <a:t>une meilleure solution commence localement</a:t>
            </a:r>
            <a:endParaRPr lang="fr-FR" b="1" i="1" dirty="0">
              <a:latin typeface="Calisto MT" panose="02040603050505030304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6D906D3-1968-6F56-6B32-BA423600E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154" y="1215806"/>
            <a:ext cx="2308859" cy="281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0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8DC25C-0315-9F77-B01C-D1A846F99012}"/>
              </a:ext>
            </a:extLst>
          </p:cNvPr>
          <p:cNvSpPr/>
          <p:nvPr/>
        </p:nvSpPr>
        <p:spPr>
          <a:xfrm>
            <a:off x="646786" y="296382"/>
            <a:ext cx="7644384" cy="4550735"/>
          </a:xfrm>
          <a:prstGeom prst="rect">
            <a:avLst/>
          </a:prstGeom>
          <a:gradFill>
            <a:gsLst>
              <a:gs pos="72000">
                <a:srgbClr val="DCE5F4"/>
              </a:gs>
              <a:gs pos="75000">
                <a:srgbClr val="D9E3F3"/>
              </a:gs>
              <a:gs pos="54000">
                <a:srgbClr val="074A48"/>
              </a:gs>
              <a:gs pos="83000">
                <a:srgbClr val="DFE7F5"/>
              </a:gs>
            </a:gsLst>
            <a:lin ang="5400000" scaled="1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Arial Black" panose="020B0A04020102020204" pitchFamily="34" charset="0"/>
            </a:endParaRPr>
          </a:p>
          <a:p>
            <a:pPr algn="ctr"/>
            <a:r>
              <a:rPr lang="en-US" b="1" dirty="0">
                <a:latin typeface="Arial Black" panose="020B0A04020102020204" pitchFamily="34" charset="0"/>
              </a:rPr>
              <a:t>PLAN</a:t>
            </a:r>
          </a:p>
          <a:p>
            <a:pPr algn="ctr"/>
            <a:endParaRPr lang="fr-CM" dirty="0"/>
          </a:p>
          <a:p>
            <a:pPr algn="ctr">
              <a:lnSpc>
                <a:spcPct val="150000"/>
              </a:lnSpc>
            </a:pPr>
            <a:r>
              <a:rPr lang="en-US" dirty="0">
                <a:latin typeface="Berlin Sans FB" panose="020E0602020502020306" pitchFamily="34" charset="0"/>
              </a:rPr>
              <a:t>CONSTAT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Berlin Sans FB" panose="020E0602020502020306" pitchFamily="34" charset="0"/>
              </a:rPr>
              <a:t>SOLUTION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Berlin Sans FB" panose="020E0602020502020306" pitchFamily="34" charset="0"/>
              </a:rPr>
              <a:t>MARCHE/CIBLES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Berlin Sans FB" panose="020E0602020502020306" pitchFamily="34" charset="0"/>
              </a:rPr>
              <a:t>STRATEGIE D’ACQUISITION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Berlin Sans FB" panose="020E0602020502020306" pitchFamily="34" charset="0"/>
              </a:rPr>
              <a:t>BUSINESS MODEL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Berlin Sans FB" panose="020E0602020502020306" pitchFamily="34" charset="0"/>
              </a:rPr>
              <a:t>PROJECTION ET REVENUS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Berlin Sans FB" panose="020E0602020502020306" pitchFamily="34" charset="0"/>
              </a:rPr>
              <a:t>POSITIONNEMENT CONCURENTIEL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Berlin Sans FB" panose="020E0602020502020306" pitchFamily="34" charset="0"/>
              </a:rPr>
              <a:t>TRACTION ET ROADMAP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Berlin Sans FB" panose="020E0602020502020306" pitchFamily="34" charset="0"/>
              </a:rPr>
              <a:t>EQUIPE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Berlin Sans FB" panose="020E0602020502020306" pitchFamily="34" charset="0"/>
              </a:rPr>
              <a:t>PROTOTYPE</a:t>
            </a:r>
          </a:p>
          <a:p>
            <a:pPr algn="ctr">
              <a:lnSpc>
                <a:spcPct val="15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36037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365760"/>
            <a:ext cx="2560320" cy="25603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434840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02920"/>
            <a:ext cx="164592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DELTA SaaS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Visibilité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Performance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tout-en-un qui transforme les commerçants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secteur Tertiaire Camerounais en vrais professionnels.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</a:rPr>
              <a:t>deltasaas2026@gmail.com  •  Cameroun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2377440"/>
            <a:ext cx="1920240" cy="1554480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2423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96"/>
                </a:solidFill>
              </a:rPr>
              <a:t>77%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949440" y="3090672"/>
            <a:ext cx="19202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8"/>
                </a:solidFill>
              </a:rPr>
              <a:t>des PME du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8"/>
                </a:solidFill>
              </a:rPr>
              <a:t>secteur Tertiaire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8"/>
                </a:solidFill>
              </a:rPr>
              <a:t>au Cameroun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96"/>
                </a:solidFill>
              </a:rPr>
              <a:t>LE CONSTAT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29184"/>
            <a:ext cx="8229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 marché coincé dans les réseaux sociaux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371600"/>
            <a:ext cx="731520" cy="7315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4630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Visibilité sans gestion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" y="29260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445577"/>
                </a:solidFill>
              </a:rPr>
              <a:t>WhatsApp, Facebook, TikTok servent à promouvoir — mais aucun de ces outils ne gère les stocks, les commandes ou les paiements.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72968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8808" y="1371600"/>
            <a:ext cx="731520" cy="7315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4630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Pas d'outils de suivi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29260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445577"/>
                </a:solidFill>
              </a:rPr>
              <a:t>Sans historique des ventes ni tableau de bord, le commerçant ne sait pas vraiment où va son activité.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17336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23176" y="1371600"/>
            <a:ext cx="731520" cy="7315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14630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Solutions étrangères inadaptées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81928" y="29260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445577"/>
                </a:solidFill>
              </a:rPr>
              <a:t>Les plateformes SaaS disponibles sont pensées pour l'Occident : trop chères, pas de Mobile Money, pas de livraison locale.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896"/>
                </a:solidFill>
              </a:rPr>
              <a:t>Publicité ≠ Gestion professionnelle  →  Il manque une solution locale, complète et abordable.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96"/>
                </a:solidFill>
              </a:rPr>
              <a:t>NOTRE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Une plateforme tout-en-un, pensée pour le Cameroun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1600200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658368" cy="658368"/>
          </a:xfrm>
          <a:prstGeom prst="ellipse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19072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Catalogue &amp; Stocks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828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8"/>
                </a:solidFill>
              </a:rPr>
              <a:t>Gestion des produits et stocks en temps réel. Historique complet des ventes en un clic.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234440"/>
            <a:ext cx="4160520" cy="1600200"/>
          </a:xfrm>
          <a:prstGeom prst="rect">
            <a:avLst/>
          </a:prstGeom>
          <a:solidFill>
            <a:srgbClr val="132038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645920"/>
            <a:ext cx="658368" cy="658368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719072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Paiements locaux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15000" y="1828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8"/>
                </a:solidFill>
              </a:rPr>
              <a:t>Encaissement via Mobile Money (MTN, Orange) et tous les moyens de paiement locaux.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3063240"/>
            <a:ext cx="4160520" cy="1600200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474720"/>
            <a:ext cx="658368" cy="658368"/>
          </a:xfrm>
          <a:prstGeom prst="ellipse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547872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Gestion Clients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80160" y="3657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8"/>
                </a:solidFill>
              </a:rPr>
              <a:t>Abonnements, suivi professionnel et personnalisé. Fidélisation intégrée.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3063240"/>
            <a:ext cx="4160520" cy="1600200"/>
          </a:xfrm>
          <a:prstGeom prst="rect">
            <a:avLst/>
          </a:prstGeom>
          <a:solidFill>
            <a:srgbClr val="132038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92040" y="3474720"/>
            <a:ext cx="658368" cy="658368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547872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Livraisons GPS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15000" y="3657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8"/>
                </a:solidFill>
              </a:rPr>
              <a:t>Commandes fiables, suivi en temps réel de la position des livreurs via GPS sécurisé.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1645920" y="4727448"/>
            <a:ext cx="5852160" cy="3017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645920" y="4727448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Interface intuitive • Pensée pour l'utilisateur Camerounais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1000" t="2000" r="2000" b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030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-11887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96"/>
                </a:solidFill>
              </a:rPr>
              <a:t>MARCHÉ CIBLE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4480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77% du tissu économique Camerounais à portée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926080" cy="3657600"/>
          </a:xfrm>
          <a:prstGeom prst="rect">
            <a:avLst/>
          </a:prstGeom>
          <a:solidFill>
            <a:srgbClr val="0A1628"/>
          </a:solidFill>
          <a:ln w="254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544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C896"/>
                </a:solidFill>
              </a:rPr>
              <a:t>77%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8"/>
                </a:solidFill>
              </a:rPr>
              <a:t>du tissu économique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8"/>
                </a:solidFill>
              </a:rPr>
              <a:t>Camerounais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BBF"/>
                </a:solidFill>
              </a:rPr>
              <a:t>Source : minpmeesa.com, mai 2025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20440" y="1234440"/>
            <a:ext cx="5349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234440"/>
            <a:ext cx="64008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490472"/>
            <a:ext cx="548640" cy="5486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462272" y="1344168"/>
            <a:ext cx="11887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2272" y="1344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Cible Principale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462272" y="16367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PME du Secteur Tertiaire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62272" y="19476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</a:rPr>
              <a:t>Commerces, boutiques, restaurants, services — la colonne vertébrale de l'économie locale.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20440" y="2450592"/>
            <a:ext cx="5349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20440" y="2450592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706624"/>
            <a:ext cx="548640" cy="5486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462272" y="2560320"/>
            <a:ext cx="11887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62272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Cible Secondaire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462272" y="28529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Freelances &amp; Auto-entrepreneurs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462272" y="316382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</a:rPr>
              <a:t>Notamment issus des filières digitales, en forte croissance au Cameroun.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520440" y="3666744"/>
            <a:ext cx="5349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520440" y="3666744"/>
            <a:ext cx="64008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922776"/>
            <a:ext cx="548640" cy="54864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462272" y="3776472"/>
            <a:ext cx="11887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462272" y="3776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Pipeline futur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462272" y="40690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Étudiants Entrepreneurs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462272" y="43799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</a:rPr>
              <a:t>Partenariats avec les universités et associations d'aide à l'entrepreneuriat.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</a:rPr>
              <a:t>STRATÉGIE D'ACQUISITION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3 canaux complémentaires pour une croissance rapide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743200" cy="3657600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2743200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34440" y="1901952"/>
            <a:ext cx="731520" cy="731520"/>
          </a:xfrm>
          <a:prstGeom prst="ellipse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993392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Salons &amp; Partenariats PME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2194560" cy="274320"/>
          </a:xfrm>
          <a:prstGeom prst="rect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</a:rPr>
              <a:t>~200 contacts/salon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93192" y="37490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8"/>
                </a:solidFill>
              </a:rPr>
              <a:t>Présence dans les salons dédiés aux PME et partenariats avec les associations du secteur tertiaire. Démonstrations live de la plateforme.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72968" y="1234440"/>
            <a:ext cx="2743200" cy="3657600"/>
          </a:xfrm>
          <a:prstGeom prst="rect">
            <a:avLst/>
          </a:prstGeom>
          <a:solidFill>
            <a:srgbClr val="1320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1234440"/>
            <a:ext cx="274320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72968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02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178808" y="1901952"/>
            <a:ext cx="731520" cy="731520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993392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10128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Communication Digitale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447288" y="3383280"/>
            <a:ext cx="2194560" cy="274320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47288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Réseaux ciblés + presse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337560" y="37490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8"/>
                </a:solidFill>
              </a:rPr>
              <a:t>Présence dans les médias spécialisés camerounais et campagnes sur les canaux digitaux ciblés (WhatsApp Business, Facebook Ads).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17336" y="1234440"/>
            <a:ext cx="2743200" cy="3657600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17336" y="1234440"/>
            <a:ext cx="2743200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17336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03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7123176" y="1901952"/>
            <a:ext cx="731520" cy="731520"/>
          </a:xfrm>
          <a:prstGeom prst="ellipse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1993392"/>
            <a:ext cx="548640" cy="5486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54496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Universités &amp; Entrepreneuriat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391656" y="3383280"/>
            <a:ext cx="2194560" cy="274320"/>
          </a:xfrm>
          <a:prstGeom prst="rect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91656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</a:rPr>
              <a:t>Pipeline early adopters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281928" y="37490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8"/>
                </a:solidFill>
              </a:rPr>
              <a:t>Contact dès la sortie des universités et partenariats avec les incubateurs et associations d'aide à l'entrepreneuriat.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96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Abonnements mensuels progressifs — dès 5 000 FCFA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20391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88720"/>
            <a:ext cx="2039112" cy="4572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8872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Essai Gratuit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1755648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4A"/>
                </a:solidFill>
              </a:rPr>
              <a:t>0 FCFA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" y="23957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</a:rPr>
              <a:t>7 jours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89864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1792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</a:rPr>
              <a:t>Toutes les fonctionnalités</a:t>
            </a:r>
            <a:endParaRPr lang="en-US" sz="9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4612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" y="3227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</a:rPr>
              <a:t>Sans engagement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9359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" y="3575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</a:rPr>
              <a:t>Idéal pour tester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2404872" y="1188720"/>
            <a:ext cx="20391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404872" y="1188720"/>
            <a:ext cx="2039112" cy="457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404872" y="118872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Freemium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2404872" y="1755648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B4A"/>
                </a:solidFill>
              </a:rPr>
              <a:t>5 000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2404872" y="23957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</a:rPr>
              <a:t>FCFA/mois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2898648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843784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</a:rPr>
              <a:t>~10 commandes/jour</a:t>
            </a:r>
            <a:endParaRPr lang="en-US" sz="9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3246120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843784" y="3227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</a:rPr>
              <a:t>Catalogue basique</a:t>
            </a:r>
            <a:endParaRPr lang="en-US" sz="9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3593592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843784" y="3575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</a:rPr>
              <a:t>Sans livraison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626864" y="1188720"/>
            <a:ext cx="2039112" cy="3749040"/>
          </a:xfrm>
          <a:prstGeom prst="rect">
            <a:avLst/>
          </a:prstGeom>
          <a:solidFill>
            <a:srgbClr val="0A1628"/>
          </a:solidFill>
          <a:ln w="317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626864" y="1188720"/>
            <a:ext cx="2039112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626864" y="118872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Professionnel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4901184" y="1664208"/>
            <a:ext cx="1490472" cy="2468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901184" y="1664208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⭐ RECOMMANDÉ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4626864" y="2011680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</a:rPr>
              <a:t>10 000</a:t>
            </a:r>
            <a:endParaRPr lang="en-US" sz="3000" dirty="0"/>
          </a:p>
        </p:txBody>
      </p:sp>
      <p:sp>
        <p:nvSpPr>
          <p:cNvPr id="34" name="Text 26"/>
          <p:cNvSpPr/>
          <p:nvPr/>
        </p:nvSpPr>
        <p:spPr>
          <a:xfrm>
            <a:off x="4626864" y="265176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8"/>
                </a:solidFill>
              </a:rPr>
              <a:t>FCFA/mois</a:t>
            </a:r>
            <a:endParaRPr lang="en-US" sz="1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3172968"/>
            <a:ext cx="201168" cy="2011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065776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Commandes illimitées</a:t>
            </a:r>
            <a:endParaRPr lang="en-US" sz="95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3520440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065776" y="3502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Clients illimités</a:t>
            </a:r>
            <a:endParaRPr lang="en-US" sz="95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3867912"/>
            <a:ext cx="201168" cy="20116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065776" y="3849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Livraison limitée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6848856" y="1188720"/>
            <a:ext cx="20391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6848856" y="1188720"/>
            <a:ext cx="2039112" cy="457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6848856" y="118872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Illimité</a:t>
            </a:r>
            <a:endParaRPr lang="en-US" sz="1200" dirty="0"/>
          </a:p>
        </p:txBody>
      </p:sp>
      <p:sp>
        <p:nvSpPr>
          <p:cNvPr id="44" name="Text 33"/>
          <p:cNvSpPr/>
          <p:nvPr/>
        </p:nvSpPr>
        <p:spPr>
          <a:xfrm>
            <a:off x="6848856" y="1755648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B4A"/>
                </a:solidFill>
              </a:rPr>
              <a:t>15 000</a:t>
            </a:r>
            <a:endParaRPr lang="en-US" sz="3000" dirty="0"/>
          </a:p>
        </p:txBody>
      </p:sp>
      <p:sp>
        <p:nvSpPr>
          <p:cNvPr id="45" name="Text 34"/>
          <p:cNvSpPr/>
          <p:nvPr/>
        </p:nvSpPr>
        <p:spPr>
          <a:xfrm>
            <a:off x="6848856" y="23957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</a:rPr>
              <a:t>FCFA/mois</a:t>
            </a:r>
            <a:endParaRPr lang="en-US" sz="10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2898648"/>
            <a:ext cx="201168" cy="20116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7287768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</a:rPr>
              <a:t>Toutes fonctionnalités</a:t>
            </a:r>
            <a:endParaRPr lang="en-US" sz="95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3246120"/>
            <a:ext cx="201168" cy="20116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287768" y="3227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</a:rPr>
              <a:t>Livraison GPS illimitée</a:t>
            </a:r>
            <a:endParaRPr lang="en-US" sz="95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3593592"/>
            <a:ext cx="201168" cy="20116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7287768" y="3575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</a:rPr>
              <a:t>Suivi minutieux dédié</a:t>
            </a:r>
            <a:endParaRPr lang="en-US" sz="950" dirty="0"/>
          </a:p>
        </p:txBody>
      </p:sp>
      <p:sp>
        <p:nvSpPr>
          <p:cNvPr id="52" name="Text 38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BBF"/>
                </a:solidFill>
              </a:rPr>
              <a:t>* Tarif Illimité révisé à 15 000 FCFA pour maintenir une valeur perçue claire entre les paliers.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96"/>
                </a:solidFill>
              </a:rPr>
              <a:t>PROJECTION DE REVENUS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Un modèle scalable avec un potentiel de croissance fort</a:t>
            </a:r>
            <a:endParaRPr lang="en-US" sz="2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4300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188720"/>
            <a:ext cx="3063240" cy="1078992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06440" y="1234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</a:rPr>
              <a:t>440K FCFA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806440" y="17373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8"/>
                </a:solidFill>
              </a:rPr>
              <a:t>/ mois • 5,3M FCFA/an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06440" y="19385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BBF"/>
                </a:solidFill>
              </a:rPr>
              <a:t>Scénario démarrage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A9BBF"/>
                </a:solidFill>
              </a:rPr>
              <a:t>(10 Free + 15 Pro + 20 Illimités)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806440" y="2377440"/>
            <a:ext cx="3063240" cy="1078992"/>
          </a:xfrm>
          <a:prstGeom prst="rect">
            <a:avLst/>
          </a:prstGeom>
          <a:solidFill>
            <a:srgbClr val="132038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06440" y="2423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5M FCFA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806440" y="29260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8"/>
                </a:solidFill>
              </a:rPr>
              <a:t>/ mois estimé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06440" y="31272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BBF"/>
                </a:solidFill>
              </a:rPr>
              <a:t>Scénario An 2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A9BBF"/>
                </a:solidFill>
              </a:rPr>
              <a:t>(~200 abonnés actifs)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06440" y="3566160"/>
            <a:ext cx="3063240" cy="1078992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06440" y="3611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</a:rPr>
              <a:t>9M FCFA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806440" y="41148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8"/>
                </a:solidFill>
              </a:rPr>
              <a:t>/ mois estimé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06440" y="43159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BBF"/>
                </a:solidFill>
              </a:rPr>
              <a:t>Scénario An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A9BBF"/>
                </a:solidFill>
              </a:rPr>
              <a:t>(~600 abonnés actifs)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74320" y="482803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BBF"/>
                </a:solidFill>
              </a:rPr>
              <a:t>Projections basées sur un modèle d'abonnement mensuel. Les chiffres An 2/An 3 sont des estimations indicatives.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96"/>
                </a:solidFill>
              </a:rPr>
              <a:t>POSITIONNEMENT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Pourquoi Delta SaaS gagne là où les autres échouent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56032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Critère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170432"/>
            <a:ext cx="1737360" cy="438912"/>
          </a:xfrm>
          <a:prstGeom prst="rect">
            <a:avLst/>
          </a:prstGeom>
          <a:solidFill>
            <a:srgbClr val="607D8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1704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Réseaux Sociaux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170432"/>
            <a:ext cx="1783080" cy="438912"/>
          </a:xfrm>
          <a:prstGeom prst="rect">
            <a:avLst/>
          </a:prstGeom>
          <a:solidFill>
            <a:srgbClr val="607D8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1704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SaaS Étrangers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170432"/>
            <a:ext cx="1828800" cy="438912"/>
          </a:xfrm>
          <a:prstGeom prst="rect">
            <a:avLst/>
          </a:prstGeom>
          <a:solidFill>
            <a:srgbClr val="00C89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1704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Delta SaaS 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609344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09344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</a:rPr>
              <a:t>Gestion des stocks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1609344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6093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1609344"/>
            <a:ext cx="1783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60934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B4A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1609344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6093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" y="2084832"/>
            <a:ext cx="256032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084832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</a:rPr>
              <a:t>Paiement Mobile Money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2084832"/>
            <a:ext cx="173736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20848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0" y="2084832"/>
            <a:ext cx="178308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0848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5080" y="2084832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0848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4320" y="2560320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560320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</a:rPr>
              <a:t>Livraison GPS locale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34640" y="2560320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25603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0" y="2560320"/>
            <a:ext cx="1783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5603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2560320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560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74320" y="3035808"/>
            <a:ext cx="256032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035808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</a:rPr>
              <a:t>Adapté au Cameroun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34640" y="3035808"/>
            <a:ext cx="173736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0" y="30358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72000" y="3035808"/>
            <a:ext cx="178308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0358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5080" y="3035808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0358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74320" y="3511296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511296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</a:rPr>
              <a:t>Prix abordable (FCFA)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34640" y="3511296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0" y="35112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72000" y="3511296"/>
            <a:ext cx="1783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351129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5080" y="3511296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35112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74320" y="3986784"/>
            <a:ext cx="256032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986784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</a:rPr>
              <a:t>Interface en français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834640" y="3986784"/>
            <a:ext cx="173736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34640" y="39867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B4A"/>
                </a:solidFill>
              </a:rPr>
              <a:t>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572000" y="3986784"/>
            <a:ext cx="178308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0" y="39867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</a:rPr>
              <a:t>±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55080" y="3986784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39867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274320" y="4636008"/>
            <a:ext cx="8595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636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96"/>
                </a:solidFill>
              </a:rPr>
              <a:t>Notre avantage clé : une solution 100% locale, pensée pour les réalités africaines.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</a:rPr>
              <a:t>TRACTION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Où nous en sommes — et où nous allons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514600"/>
            <a:ext cx="8412480" cy="54864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377440"/>
            <a:ext cx="329184" cy="32918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1993392" cy="1115568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1993392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88720"/>
            <a:ext cx="11887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Phase 1 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188720"/>
            <a:ext cx="80467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A1628"/>
                </a:solidFill>
              </a:rPr>
              <a:t>Démarrage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Plateforme développée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Interface testée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2 commerçants pilotes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1993392" cy="73152"/>
          </a:xfrm>
          <a:prstGeom prst="rect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237744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6312" y="1188720"/>
            <a:ext cx="1993392" cy="1115568"/>
          </a:xfrm>
          <a:prstGeom prst="rect">
            <a:avLst/>
          </a:prstGeom>
          <a:solidFill>
            <a:srgbClr val="132038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1188720"/>
            <a:ext cx="199339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1188720"/>
            <a:ext cx="11887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Phase 2 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85032" y="1188720"/>
            <a:ext cx="80467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A1628"/>
                </a:solidFill>
              </a:rPr>
              <a:t>M1 – M6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87752" y="15727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Lancement officiel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7752" y="1828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50 abonnés cible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87752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Présence salons PME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96312" y="2834640"/>
            <a:ext cx="1993392" cy="73152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8384" y="2377440"/>
            <a:ext cx="329184" cy="329184"/>
          </a:xfrm>
          <a:prstGeom prst="ellipse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6864" y="1188720"/>
            <a:ext cx="1993392" cy="1115568"/>
          </a:xfrm>
          <a:prstGeom prst="rect">
            <a:avLst/>
          </a:prstGeom>
          <a:solidFill>
            <a:srgbClr val="132038"/>
          </a:solidFill>
          <a:ln w="19050">
            <a:solidFill>
              <a:srgbClr val="8A9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188720"/>
            <a:ext cx="1993392" cy="347472"/>
          </a:xfrm>
          <a:prstGeom prst="rect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1188720"/>
            <a:ext cx="11887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15584" y="1188720"/>
            <a:ext cx="80467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8"/>
                </a:solidFill>
              </a:rPr>
              <a:t>M7 – M12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18304" y="15727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200 abonnés actifs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18304" y="1828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Partenariats bancaires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18304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Module analytics avancé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26864" y="2834640"/>
            <a:ext cx="1993392" cy="73152"/>
          </a:xfrm>
          <a:prstGeom prst="rect">
            <a:avLst/>
          </a:prstGeom>
          <a:solidFill>
            <a:srgbClr val="8A9BBF">
              <a:alpha val="40000"/>
            </a:srgbClr>
          </a:solidFill>
          <a:ln w="12700">
            <a:solidFill>
              <a:srgbClr val="8A9BB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88936" y="2377440"/>
            <a:ext cx="329184" cy="329184"/>
          </a:xfrm>
          <a:prstGeom prst="ellipse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57416" y="1188720"/>
            <a:ext cx="1993392" cy="1115568"/>
          </a:xfrm>
          <a:prstGeom prst="rect">
            <a:avLst/>
          </a:prstGeom>
          <a:solidFill>
            <a:srgbClr val="132038"/>
          </a:solidFill>
          <a:ln w="19050">
            <a:solidFill>
              <a:srgbClr val="8A9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57416" y="1188720"/>
            <a:ext cx="1993392" cy="347472"/>
          </a:xfrm>
          <a:prstGeom prst="rect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1188720"/>
            <a:ext cx="11887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46136" y="1188720"/>
            <a:ext cx="80467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8"/>
                </a:solidFill>
              </a:rPr>
              <a:t>An 2 – An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48856" y="15727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600+ abonnés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48856" y="1828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Expansion régionale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48856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8"/>
                </a:solidFill>
              </a:rPr>
              <a:t>• Levée de fonds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57416" y="2834640"/>
            <a:ext cx="1993392" cy="73152"/>
          </a:xfrm>
          <a:prstGeom prst="rect">
            <a:avLst/>
          </a:prstGeom>
          <a:solidFill>
            <a:srgbClr val="8A9BBF">
              <a:alpha val="40000"/>
            </a:srgbClr>
          </a:solidFill>
          <a:ln w="12700">
            <a:solidFill>
              <a:srgbClr val="8A9BB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108960"/>
            <a:ext cx="8595360" cy="1737360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02920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Prochains jalons prioritaires</a:t>
            </a:r>
            <a:endParaRPr lang="en-US" sz="130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39312"/>
            <a:ext cx="182880" cy="18288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749808" y="3611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8"/>
                </a:solidFill>
              </a:rPr>
              <a:t>Atteindre 5 commerçants pilotes supplémentaires d'ici 60 jours</a:t>
            </a:r>
            <a:endParaRPr lang="en-US" sz="1050" dirty="0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31920"/>
            <a:ext cx="182880" cy="18288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749808" y="39044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8"/>
                </a:solidFill>
              </a:rPr>
              <a:t>Signer un 1er partenariat avec une association PME camerounaise</a:t>
            </a:r>
            <a:endParaRPr lang="en-US" sz="1050" dirty="0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24528"/>
            <a:ext cx="182880" cy="182880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749808" y="41970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8"/>
                </a:solidFill>
              </a:rPr>
              <a:t>Participer à 2 salons entrepreneurs avant fin 2025</a:t>
            </a:r>
            <a:endParaRPr lang="en-US" sz="1050" dirty="0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17136"/>
            <a:ext cx="182880" cy="18288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749808" y="44897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8"/>
                </a:solidFill>
              </a:rPr>
              <a:t>Préparer un dossier d'investissement pour une levée de fonds amorçage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96"/>
                </a:solidFill>
              </a:rPr>
              <a:t>NOTRE ÉQUIPE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Jeunes, déterminés, ancrés dans la réalité camerounaise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1242" y="1124712"/>
            <a:ext cx="39776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397764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325880"/>
            <a:ext cx="1051560" cy="1051560"/>
          </a:xfrm>
          <a:prstGeom prst="ellipse">
            <a:avLst/>
          </a:prstGeom>
          <a:solidFill>
            <a:srgbClr val="0A1628"/>
          </a:solidFill>
          <a:ln w="317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1325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</a:rPr>
              <a:t>AWALOU SADOU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2871216"/>
            <a:ext cx="23317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8712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Fondateur &amp; CEO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BF"/>
                </a:solidFill>
              </a:rPr>
              <a:t>Licence </a:t>
            </a:r>
            <a:r>
              <a:rPr lang="en-US" sz="1000" i="1" dirty="0" err="1">
                <a:solidFill>
                  <a:srgbClr val="8A9BBF"/>
                </a:solidFill>
              </a:rPr>
              <a:t>en</a:t>
            </a:r>
            <a:r>
              <a:rPr lang="en-US" sz="1000" i="1" dirty="0">
                <a:solidFill>
                  <a:srgbClr val="8A9BBF"/>
                </a:solidFill>
              </a:rPr>
              <a:t> Physique </a:t>
            </a:r>
          </a:p>
          <a:p>
            <a:pPr algn="ctr"/>
            <a:r>
              <a:rPr lang="en-US" sz="1000" i="1" dirty="0">
                <a:solidFill>
                  <a:srgbClr val="8A9BBF"/>
                </a:solidFill>
              </a:rPr>
              <a:t>`BAC+2 </a:t>
            </a:r>
            <a:r>
              <a:rPr lang="en-US" sz="1000" i="1" dirty="0" err="1">
                <a:solidFill>
                  <a:srgbClr val="8A9BBF"/>
                </a:solidFill>
              </a:rPr>
              <a:t>Ingénieur</a:t>
            </a:r>
            <a:r>
              <a:rPr lang="en-US" sz="1000" i="1" dirty="0">
                <a:solidFill>
                  <a:srgbClr val="8A9BBF"/>
                </a:solidFill>
              </a:rPr>
              <a:t> des Travaux des </a:t>
            </a:r>
            <a:r>
              <a:rPr lang="en-US" sz="1000" i="1" dirty="0" err="1">
                <a:solidFill>
                  <a:srgbClr val="8A9BBF"/>
                </a:solidFill>
              </a:rPr>
              <a:t>Télécommunications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47872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</a:rPr>
              <a:t>Vision produit &amp; stratégie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895344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</a:rPr>
              <a:t>Management et business development</a:t>
            </a:r>
            <a:endParaRPr lang="en-US" sz="10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242816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4215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</a:rPr>
              <a:t>Connaissance du marché local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46320" y="1170432"/>
            <a:ext cx="39776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1170432"/>
            <a:ext cx="39776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09360" y="1325880"/>
            <a:ext cx="1051560" cy="1051560"/>
          </a:xfrm>
          <a:prstGeom prst="ellipse">
            <a:avLst/>
          </a:prstGeom>
          <a:solidFill>
            <a:srgbClr val="0A1628"/>
          </a:solidFill>
          <a:ln w="317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309360" y="1325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ED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4983480" y="24871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</a:rPr>
              <a:t>EBANA DTATO OTHNIEL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669280" y="2871216"/>
            <a:ext cx="23317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669280" y="28712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Directeur Technique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32004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BF"/>
                </a:solidFill>
              </a:rPr>
              <a:t>BAC+2 </a:t>
            </a:r>
            <a:r>
              <a:rPr lang="en-US" sz="1000" i="1" dirty="0" err="1">
                <a:solidFill>
                  <a:srgbClr val="8A9BBF"/>
                </a:solidFill>
              </a:rPr>
              <a:t>Ingénieur</a:t>
            </a:r>
            <a:r>
              <a:rPr lang="en-US" sz="1000" i="1" dirty="0">
                <a:solidFill>
                  <a:srgbClr val="8A9BBF"/>
                </a:solidFill>
              </a:rPr>
              <a:t> des Travaux des </a:t>
            </a:r>
            <a:r>
              <a:rPr lang="en-US" sz="1000" i="1" dirty="0" err="1">
                <a:solidFill>
                  <a:srgbClr val="8A9BBF"/>
                </a:solidFill>
              </a:rPr>
              <a:t>Télécommunications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547872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924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</a:rPr>
              <a:t>Architecture plateforme</a:t>
            </a:r>
            <a:endParaRPr lang="en-US" sz="105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895344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4924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</a:rPr>
              <a:t>Développement &amp; intégrations</a:t>
            </a:r>
            <a:endParaRPr lang="en-US" sz="10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4242816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49240" y="4215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</a:rPr>
              <a:t>Systèmes GPS et Mobile Money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solidFill>
            <a:srgbClr val="FEF9E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5A00"/>
                </a:solidFill>
              </a:rPr>
              <a:t>🚀  Nous cherchons un(e) commercial(e) terrain et un(e) développeur(se) mobile pour rejoindre l'aventure !</a:t>
            </a:r>
            <a:endParaRPr lang="en-US" sz="950" dirty="0"/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86CEEDF6-D983-4FC1-B650-4E56BE541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720" y="1297861"/>
            <a:ext cx="1170114" cy="1080167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B56E032F-8942-2A1C-E61D-4070C963F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9040" y="1286392"/>
            <a:ext cx="1092200" cy="10978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896">
              <a:alpha val="8000"/>
            </a:srgbClr>
          </a:solidFill>
          <a:ln w="12700">
            <a:solidFill>
              <a:srgbClr val="00C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20040"/>
            <a:ext cx="256032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320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A1628"/>
                </a:solidFill>
              </a:rPr>
              <a:t>PASSEZ À L'ACTION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Rejoignez la révolution</a:t>
            </a:r>
            <a:endParaRPr lang="en-US" sz="3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du commerce camerounais.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2542032" cy="1078992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257860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0632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Cible claire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3375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F"/>
                </a:solidFill>
              </a:rPr>
              <a:t>77% de l'éco. camerounaise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3552" y="2468880"/>
            <a:ext cx="2542032" cy="1078992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257860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73552" y="30632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 unique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73552" y="33375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F"/>
                </a:solidFill>
              </a:rPr>
              <a:t>Catalogue, paiements, GPS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44184" y="2468880"/>
            <a:ext cx="2542032" cy="1078992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57860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44184" y="30632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Modèle rentable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044184" y="33375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F"/>
                </a:solidFill>
              </a:rPr>
              <a:t>Dès 5 000 FCFA/mois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3730752"/>
            <a:ext cx="8138160" cy="530352"/>
          </a:xfrm>
          <a:prstGeom prst="rect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2920" y="3730752"/>
            <a:ext cx="813816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De la visibilité dispersée à une gestion professionnelle et performante — c'est notre mission.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440740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CBD5E8"/>
                </a:solidFill>
              </a:rPr>
              <a:t>📧  deltasaas2026@gmail.com     📱  +237 673003112     🌐  </a:t>
            </a:r>
            <a:r>
              <a:rPr lang="fr-CM" sz="1100" dirty="0">
                <a:solidFill>
                  <a:schemeClr val="bg1"/>
                </a:solidFill>
                <a:hlinkClick r:id="rId6"/>
              </a:rPr>
              <a:t>www.linkedin.com/in/sadou-awalou-9232ab40a</a:t>
            </a:r>
            <a:endParaRPr lang="fr-CM" sz="1100" dirty="0">
              <a:solidFill>
                <a:schemeClr val="bg1"/>
              </a:solidFill>
            </a:endParaRPr>
          </a:p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29B3D0C-E051-F105-6F17-0BDD35E69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745" y="186684"/>
            <a:ext cx="3112619" cy="223893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F3A82D7-3289-BC19-3123-86DBF119C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6" y="171449"/>
            <a:ext cx="3395659" cy="225417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D659C60-C671-826D-16D8-E05044087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745" y="2481258"/>
            <a:ext cx="3112619" cy="243884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5B409E1-1410-F217-CB7A-1B8CFF658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364" y="171449"/>
            <a:ext cx="2306537" cy="223893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95FCD8E-06A1-B56D-09BC-052E42D06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864" y="2571751"/>
            <a:ext cx="2211037" cy="24003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575EFC0-F964-7A9F-DE90-8B11AAE05F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462" y="2481258"/>
            <a:ext cx="3309283" cy="249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85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947</Words>
  <Application>Microsoft Office PowerPoint</Application>
  <PresentationFormat>Affichage à l'écran (16:9)</PresentationFormat>
  <Paragraphs>214</Paragraphs>
  <Slides>15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Bahnschrift</vt:lpstr>
      <vt:lpstr>Berlin Sans FB</vt:lpstr>
      <vt:lpstr>Calibri</vt:lpstr>
      <vt:lpstr>Calisto MT</vt:lpstr>
      <vt:lpstr>Gabriola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la Visibilité à la Performance – Delta SaaS</dc:title>
  <dc:subject>PptxGenJS Presentation</dc:subject>
  <dc:creator>Delta SaaS</dc:creator>
  <cp:lastModifiedBy>AWALOU SADOU</cp:lastModifiedBy>
  <cp:revision>26</cp:revision>
  <dcterms:created xsi:type="dcterms:W3CDTF">2026-05-16T14:13:17Z</dcterms:created>
  <dcterms:modified xsi:type="dcterms:W3CDTF">2026-05-16T18:28:41Z</dcterms:modified>
</cp:coreProperties>
</file>