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FFFFFF"/>
                </a:solidFill>
                <a:latin typeface="Calibri"/>
              </a:rPr>
              <a:t>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LogiSaaS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546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1FAE5"/>
                </a:solidFill>
                <a:latin typeface="Calibri"/>
              </a:rPr>
              <a:t>Plateforme SaaS de gestion
logistique &amp; e-commerce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64592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La solution pensée
pour les commerçants
camerounais.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84048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FF"/>
                </a:solidFill>
                <a:latin typeface="Calibri"/>
              </a:rPr>
              <a:t>Gérez vos commandes, votre stock et vos livraisons
en temps réel — depuis un seul tableau de bord.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217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contact@logisaas.cm  |  +237 699 000 000  |  logisaas.cm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9E75"/>
                </a:solidFill>
                <a:latin typeface="Calibri"/>
              </a:rPr>
              <a:t>CONSTAT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2B45"/>
                </a:solidFill>
                <a:latin typeface="Calibri"/>
              </a:rPr>
              <a:t>Un marché immense, des outils inexistants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743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743200" cy="54864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D9E75"/>
                </a:solidFill>
                <a:latin typeface="Calibri"/>
              </a:rPr>
              <a:t>85 %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9748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des PME camerounaises gèrent encore
leurs commandes par WhatsApp ou cahier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743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91840" y="1828800"/>
            <a:ext cx="2743200" cy="54864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1965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D9E75"/>
                </a:solidFill>
                <a:latin typeface="Calibr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69748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solution SaaS logistique adaptée
au contexte Cameroun &amp; Mobile Money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828800"/>
            <a:ext cx="2743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26480" y="1828800"/>
            <a:ext cx="2743200" cy="54864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1965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D9E75"/>
                </a:solidFill>
                <a:latin typeface="Calibri"/>
              </a:rPr>
              <a:t>3–5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69748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perdues chaque jour par un gérant
à cause de la gestion manuelle des stocks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828800"/>
            <a:ext cx="2743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61120" y="1828800"/>
            <a:ext cx="2743200" cy="54864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98280" y="19659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D9E75"/>
                </a:solidFill>
                <a:latin typeface="Calibri"/>
              </a:rPr>
              <a:t>+12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69748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commerçants en Afrique centrale sans
outil numérique de gestion des ventes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Sources : MINPMEESA 2023 · Banque Mondiale Afrique subsaharienne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9E75"/>
                </a:solidFill>
                <a:latin typeface="Calibri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D9E75"/>
                </a:solidFill>
                <a:latin typeface="Calibri"/>
              </a:rPr>
              <a:t>LogiSaaS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FDBFF"/>
                </a:solidFill>
                <a:latin typeface="Calibri"/>
              </a:rPr>
              <a:t>La 1ère plateforme SaaS de gestion logistique
adaptée aux commerçants d'Afrique centrale.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2743200" cy="256032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2743200" cy="54864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Gestion des
commandes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Créez, suivez et gérez vos commandes
en temps réel avec statuts automatiques.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103120"/>
            <a:ext cx="2743200" cy="256032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2103120"/>
            <a:ext cx="2743200" cy="54864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2044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651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Stock intelligent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20040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Alertes de stock critique, historique
des mouvements, entrées/sorties.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103120"/>
            <a:ext cx="2743200" cy="256032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2103120"/>
            <a:ext cx="2743200" cy="54864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51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Livraisons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20040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Assignez vos livreurs, générez des codes
de confirmation, suivez les zones.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2103120"/>
            <a:ext cx="2743200" cy="256032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35440" y="2103120"/>
            <a:ext cx="2743200" cy="54864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7260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6517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Dashboard
analytique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20040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KPIs en temps réel : CA, commandes
du mois, stock critique.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Multi-tenant · Sécurisé JWT · API REST · PostgreSQL · React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9E75"/>
                </a:solidFill>
                <a:latin typeface="Calibri"/>
              </a:rPr>
              <a:t>PRODUIT /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2B45"/>
                </a:solidFill>
                <a:latin typeface="Calibri"/>
              </a:rPr>
              <a:t>Une plateforme 3 faces, 1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Commerçant · Acheteur · Livreur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4747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3474720" cy="73152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D2B45"/>
                </a:solidFill>
                <a:latin typeface="Calibri"/>
              </a:rPr>
              <a:t>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45"/>
                </a:solidFill>
                <a:latin typeface="Calibri"/>
              </a:rPr>
              <a:t>Dashboard
Commerçant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Gestion complète : commandes,
produits, stock, livraisons,
notifications, paramètres.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737360"/>
            <a:ext cx="34747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79" y="1737360"/>
            <a:ext cx="347472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59" y="187451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D2B45"/>
                </a:solidFill>
                <a:latin typeface="Calibri"/>
              </a:rPr>
              <a:t>🛍️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4688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45"/>
                </a:solidFill>
                <a:latin typeface="Calibri"/>
              </a:rPr>
              <a:t>Vitrine
Acheteur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31089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Site web par commerçant :
catalogue produits, panier,
commande en ligne 24h/24.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1737360"/>
            <a:ext cx="347472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19" y="1737360"/>
            <a:ext cx="3474720" cy="73152"/>
          </a:xfrm>
          <a:prstGeom prst="rect">
            <a:avLst/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9" y="187451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D2B45"/>
                </a:solidFill>
                <a:latin typeface="Calibri"/>
              </a:rPr>
              <a:t>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24688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45"/>
                </a:solidFill>
                <a:latin typeface="Calibri"/>
              </a:rPr>
              <a:t>App
Livreur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31089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Livraisons assignées,
codes de confirmation,
suivi de zone.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92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Calibri"/>
              </a:rPr>
              <a:t>Backend commun Node.js + PostgreSQL — API REST sécurisée JWT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9E75"/>
                </a:solidFill>
                <a:latin typeface="Calibri"/>
              </a:rPr>
              <a:t>MARCHÉ / CIBLE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2B45"/>
                </a:solidFill>
                <a:latin typeface="Calibri"/>
              </a:rPr>
              <a:t>Un marché de +12 millions de commerçants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Afrique centrale — Cameroun en priorité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11247120" cy="54864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9E75"/>
                </a:solidFill>
                <a:latin typeface="Calibri"/>
              </a:rPr>
              <a:t>🎯 Cible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45"/>
                </a:solidFill>
                <a:latin typeface="Calibri"/>
              </a:rPr>
              <a:t>Boutiques alimentaires
et épiceries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Douala &amp; Yaoundé
500–5 000 commandes/mois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92024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2011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  <a:latin typeface="Calibri"/>
              </a:rPr>
              <a:t>🎯 Cible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331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45"/>
                </a:solidFill>
                <a:latin typeface="Calibri"/>
              </a:rPr>
              <a:t>Pharmacies &amp;
parapharmacie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8346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Stock critique, traçabilité
des médicaments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920240"/>
            <a:ext cx="3474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59" y="2011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54F0B"/>
                </a:solidFill>
                <a:latin typeface="Calibri"/>
              </a:rPr>
              <a:t>🎯 Cible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9" y="2331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45"/>
                </a:solidFill>
                <a:latin typeface="Calibri"/>
              </a:rPr>
              <a:t>Restaurants &amp;
traiteurs avec livraison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59" y="28346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Gestion temps réel
des plats et livreurs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25603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4572000"/>
            <a:ext cx="54864" cy="10515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645152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2B45"/>
                </a:solidFill>
                <a:latin typeface="Calibri"/>
              </a:rPr>
              <a:t>85 %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16636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des PME sans outil
numérique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4572000"/>
            <a:ext cx="25603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06240" y="4572000"/>
            <a:ext cx="54864" cy="10515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43400" y="4645152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2B45"/>
                </a:solidFill>
                <a:latin typeface="Calibri"/>
              </a:rPr>
              <a:t>3,2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516636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de commerçants
au Cameroun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4572000"/>
            <a:ext cx="25603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55279" y="4572000"/>
            <a:ext cx="54864" cy="105156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92440" y="4645152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D2B45"/>
                </a:solidFill>
                <a:latin typeface="Calibri"/>
              </a:rPr>
              <a:t>42 %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516636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croissance e-commerce
Afrique 2023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9E75"/>
                </a:solidFill>
                <a:latin typeface="Calibri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Comment LogiSaaS génère ses revenus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474720" cy="384048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474720" cy="640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Gratuit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4748B"/>
                </a:solidFill>
                <a:latin typeface="Calibri"/>
              </a:rPr>
              <a:t>0 F / mois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✓  50 commandes/mois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43784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✓  2 utilisateurs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7296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✓  100 produits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02151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✓  Support communauté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463040"/>
            <a:ext cx="3474720" cy="384048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06240" y="1463040"/>
            <a:ext cx="3474720" cy="640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1600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Starter 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5A82"/>
                </a:solidFill>
                <a:latin typeface="Calibri"/>
              </a:rPr>
              <a:t>5 000 F / mois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51460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✓  500 commandes/mois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843784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✓  5 utilisateurs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17296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✓  1 000 produits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502151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✓  Support email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1463040"/>
            <a:ext cx="3474720" cy="384048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55279" y="1463040"/>
            <a:ext cx="3474720" cy="6400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59" y="1600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Pro 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59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9E75"/>
                </a:solidFill>
                <a:latin typeface="Calibri"/>
              </a:rPr>
              <a:t>15 000 F / mois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9" y="251460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✓  Illimité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59" y="2843784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✓  20 utilisateurs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59" y="317296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✓  Produits illimités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59" y="3502151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F"/>
                </a:solidFill>
                <a:latin typeface="Calibri"/>
              </a:rPr>
              <a:t>✓  Support prioritaire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+ Frais d'installation unique : 50 000 F  |  Commission optionnelle : 1 % par transaction Mobile Money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107"/>
                </a:solidFill>
                <a:latin typeface="Calibri"/>
              </a:rPr>
              <a:t>Projection : 50 clients Starter = 250 000 F/mois · 100 clients Pro = 1 500 000 F/mois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9E75"/>
                </a:solidFill>
                <a:latin typeface="Calibri"/>
              </a:rPr>
              <a:t>CONCURRENTS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2B45"/>
                </a:solidFill>
                <a:latin typeface="Calibri"/>
              </a:rPr>
              <a:t>Positionnement concurrentiel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LogiSaaS vs solutions existantes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3794760" cy="41148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719072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Fonctionnalité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691640"/>
            <a:ext cx="1691639" cy="41148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34840" y="171907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LogiSaaS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691640"/>
            <a:ext cx="1691639" cy="4114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171907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Odoo/ERP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1691640"/>
            <a:ext cx="1691639" cy="4114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01000" y="171907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Vendus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1691640"/>
            <a:ext cx="1691639" cy="4114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84080" y="171907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WhatsApp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21408"/>
            <a:ext cx="379476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148840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Interface en français adaptée Cameroun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2121408"/>
            <a:ext cx="16916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4840" y="214884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D9E75"/>
                </a:solidFill>
                <a:latin typeface="Calibri"/>
              </a:rPr>
              <a:t>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121408"/>
            <a:ext cx="16916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214884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⚠️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9560" y="2121408"/>
            <a:ext cx="16916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01000" y="214884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⚠️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2121408"/>
            <a:ext cx="16916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84080" y="214884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2B45"/>
                </a:solidFill>
                <a:latin typeface="Calibri"/>
              </a:rPr>
              <a:t>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560320"/>
            <a:ext cx="3794760" cy="42062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2587752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Mobile Money intégré (MTN/Orange)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2560320"/>
            <a:ext cx="1691639" cy="42062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34840" y="258775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D9E75"/>
                </a:solidFill>
                <a:latin typeface="Calibri"/>
              </a:rPr>
              <a:t>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560320"/>
            <a:ext cx="1691639" cy="42062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0" y="258775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9560" y="2560320"/>
            <a:ext cx="1691639" cy="42062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01000" y="258775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⚠️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40" y="2560320"/>
            <a:ext cx="1691639" cy="42062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784080" y="258775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999232"/>
            <a:ext cx="379476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3026664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Gestion multi-tenant SaaS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3400" y="2999232"/>
            <a:ext cx="16916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34840" y="3026664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D9E75"/>
                </a:solidFill>
                <a:latin typeface="Calibri"/>
              </a:rPr>
              <a:t>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2999232"/>
            <a:ext cx="16916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17920" y="3026664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2B45"/>
                </a:solidFill>
                <a:latin typeface="Calibri"/>
              </a:rPr>
              <a:t>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09560" y="2999232"/>
            <a:ext cx="16916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01000" y="3026664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92640" y="2999232"/>
            <a:ext cx="16916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784080" y="3026664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438144"/>
            <a:ext cx="3794760" cy="42062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8640" y="3465576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Tableau de bord temps réel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3438144"/>
            <a:ext cx="1691639" cy="42062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434840" y="3465576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D9E75"/>
                </a:solidFill>
                <a:latin typeface="Calibri"/>
              </a:rPr>
              <a:t>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3438144"/>
            <a:ext cx="1691639" cy="42062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17920" y="3465576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2B45"/>
                </a:solidFill>
                <a:latin typeface="Calibri"/>
              </a:rPr>
              <a:t>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09560" y="3438144"/>
            <a:ext cx="1691639" cy="42062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01000" y="3465576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⚠️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92640" y="3438144"/>
            <a:ext cx="1691639" cy="42062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784080" y="3465576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877056"/>
            <a:ext cx="379476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48640" y="3904487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Gestion des livreurs &amp; zones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43400" y="3877056"/>
            <a:ext cx="16916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434840" y="3904487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D9E75"/>
                </a:solidFill>
                <a:latin typeface="Calibri"/>
              </a:rPr>
              <a:t>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26480" y="3877056"/>
            <a:ext cx="16916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217920" y="3904487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⚠️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09560" y="3877056"/>
            <a:ext cx="16916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001000" y="3904487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❌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92640" y="3877056"/>
            <a:ext cx="16916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784080" y="3904487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❌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315968"/>
            <a:ext cx="3794760" cy="42062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48640" y="4343400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Prix accessible PME (&lt; 15 000 F/mois)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43400" y="4315968"/>
            <a:ext cx="1691639" cy="42062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434840" y="43434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D9E75"/>
                </a:solidFill>
                <a:latin typeface="Calibri"/>
              </a:rPr>
              <a:t>✅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26480" y="4315968"/>
            <a:ext cx="1691639" cy="42062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217920" y="43434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❌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09560" y="4315968"/>
            <a:ext cx="1691639" cy="42062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001000" y="43434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⚠️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692640" y="4315968"/>
            <a:ext cx="1691639" cy="42062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784080" y="4343400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2B45"/>
                </a:solidFill>
                <a:latin typeface="Calibri"/>
              </a:rPr>
              <a:t>✅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754879"/>
            <a:ext cx="379476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48640" y="4782312"/>
            <a:ext cx="3703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Vitrine acheteur intégrée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343400" y="4754879"/>
            <a:ext cx="16916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434840" y="478231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D9E75"/>
                </a:solidFill>
                <a:latin typeface="Calibri"/>
              </a:rPr>
              <a:t>✅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26480" y="4754879"/>
            <a:ext cx="16916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217920" y="478231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❌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909560" y="4754879"/>
            <a:ext cx="16916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001000" y="478231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❌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692640" y="4754879"/>
            <a:ext cx="1691639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9784080" y="478231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9E75"/>
                </a:solidFill>
                <a:latin typeface="Calibri"/>
              </a:rPr>
              <a:t>ÉQUIPE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Les fondateurs de LogiSaaS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291840" cy="393192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920240" y="1508760"/>
            <a:ext cx="914400" cy="9144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20240" y="150876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Awalou Sadou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D9E75"/>
                </a:solidFill>
                <a:latin typeface="Calibri"/>
              </a:rPr>
              <a:t>CEO &amp; Fondateur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FDBFF"/>
                </a:solidFill>
                <a:latin typeface="Calibri"/>
              </a:rPr>
              <a:t>Architecture système
Vision produit &amp; stratégie
Gestion commerciale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5029200"/>
            <a:ext cx="1280160" cy="256032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91640" y="50474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Capital : 40 %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1371600"/>
            <a:ext cx="3291840" cy="393192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79" y="1508760"/>
            <a:ext cx="914400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79" y="150876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DT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514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 err="1">
                <a:solidFill>
                  <a:srgbClr val="FFFFFF"/>
                </a:solidFill>
                <a:latin typeface="Calibri"/>
              </a:rPr>
              <a:t>Direc</a:t>
            </a:r>
            <a:r>
              <a:rPr lang="fr-CM" sz="1400" b="1" i="0" dirty="0" err="1">
                <a:solidFill>
                  <a:srgbClr val="FFFFFF"/>
                </a:solidFill>
                <a:latin typeface="Calibri"/>
              </a:rPr>
              <a:t>teur</a:t>
            </a:r>
            <a:r>
              <a:rPr lang="fr-CM" sz="1400" b="1" i="0" dirty="0">
                <a:solidFill>
                  <a:srgbClr val="FFFFFF"/>
                </a:solidFill>
                <a:latin typeface="Calibri"/>
              </a:rPr>
              <a:t> Tech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880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5A82"/>
                </a:solidFill>
                <a:latin typeface="Calibri"/>
              </a:rPr>
              <a:t>CTO &amp; Co-fondateur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2461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FDBFF"/>
                </a:solidFill>
                <a:latin typeface="Calibri"/>
              </a:rPr>
              <a:t>Développement backend
PostgreSQL &amp; API REST
Infrastructure cloud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5029200"/>
            <a:ext cx="128016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40679" y="50474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Capital : 35 %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371600"/>
            <a:ext cx="3291840" cy="393192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418320" y="1508760"/>
            <a:ext cx="914400" cy="914400"/>
          </a:xfrm>
          <a:prstGeom prst="rect">
            <a:avLst/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0" y="150876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MK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514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Resp. Marketing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880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54F0B"/>
                </a:solidFill>
                <a:latin typeface="Calibri"/>
              </a:rPr>
              <a:t>CMO &amp; Co-fondatrice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2461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FDBFF"/>
                </a:solidFill>
                <a:latin typeface="Calibri"/>
              </a:rPr>
              <a:t>Acquisition clients
Partenariats PME
Communication digitale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5029200"/>
            <a:ext cx="1280160" cy="256032"/>
          </a:xfrm>
          <a:prstGeom prst="rect">
            <a:avLst/>
          </a:prstGeom>
          <a:solidFill>
            <a:srgbClr val="854F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89720" y="50474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Capital : 25 %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9E75"/>
                </a:solidFill>
                <a:latin typeface="Calibri"/>
              </a:rPr>
              <a:t>CHIFFRES CLÉS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2B45"/>
                </a:solidFill>
                <a:latin typeface="Calibri"/>
              </a:rPr>
              <a:t>Traction &amp; Projections financières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64748B"/>
                </a:solidFill>
                <a:latin typeface="Calibri"/>
              </a:rPr>
              <a:t>202</a:t>
            </a:r>
            <a:r>
              <a:rPr lang="fr-CM" sz="1400" b="0" i="0" dirty="0">
                <a:solidFill>
                  <a:srgbClr val="64748B"/>
                </a:solidFill>
                <a:latin typeface="Calibri"/>
              </a:rPr>
              <a:t>6</a:t>
            </a:r>
            <a:r>
              <a:rPr sz="1400" b="0" i="0" dirty="0">
                <a:solidFill>
                  <a:srgbClr val="64748B"/>
                </a:solidFill>
                <a:latin typeface="Calibri"/>
              </a:rPr>
              <a:t> – 20</a:t>
            </a:r>
            <a:r>
              <a:rPr lang="fr-CM" sz="1400" b="0" i="0" dirty="0">
                <a:solidFill>
                  <a:srgbClr val="64748B"/>
                </a:solidFill>
                <a:latin typeface="Calibri"/>
              </a:rPr>
              <a:t>30</a:t>
            </a:r>
            <a:endParaRPr sz="14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11430000" cy="41148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7190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Indicateur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719072"/>
            <a:ext cx="1965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202</a:t>
            </a:r>
            <a:r>
              <a:rPr lang="fr-CM" sz="1000" b="1" dirty="0">
                <a:solidFill>
                  <a:srgbClr val="FFFFFF"/>
                </a:solidFill>
                <a:latin typeface="Calibri"/>
              </a:rPr>
              <a:t>6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
(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Lancement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719072"/>
            <a:ext cx="1965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202</a:t>
            </a:r>
            <a:r>
              <a:rPr lang="fr-CM" sz="1000" b="1" i="0" dirty="0">
                <a:solidFill>
                  <a:srgbClr val="FFFFFF"/>
                </a:solidFill>
                <a:latin typeface="Calibri"/>
              </a:rPr>
              <a:t>7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
(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Croissance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719072"/>
            <a:ext cx="1965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202</a:t>
            </a:r>
            <a:r>
              <a:rPr lang="fr-CM" sz="1000" b="1" i="0" dirty="0">
                <a:solidFill>
                  <a:srgbClr val="FFFFFF"/>
                </a:solidFill>
                <a:latin typeface="Calibri"/>
              </a:rPr>
              <a:t>8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
(Expansion)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19" y="1719072"/>
            <a:ext cx="1965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20</a:t>
            </a:r>
            <a:r>
              <a:rPr lang="fr-CM" sz="1000" b="1" i="0" dirty="0">
                <a:solidFill>
                  <a:srgbClr val="FFFFFF"/>
                </a:solidFill>
                <a:latin typeface="Calibri"/>
              </a:rPr>
              <a:t>30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
(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Maturité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21408"/>
            <a:ext cx="114300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15798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45"/>
                </a:solidFill>
                <a:latin typeface="Calibri"/>
              </a:rPr>
              <a:t>Clients actifs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15798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9E75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15798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9E75"/>
                </a:solidFill>
                <a:latin typeface="Calibri"/>
              </a:rPr>
              <a:t>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15798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9E75"/>
                </a:solidFill>
                <a:latin typeface="Calibri"/>
              </a:rPr>
              <a:t>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19" y="215798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9E75"/>
                </a:solidFill>
                <a:latin typeface="Calibri"/>
              </a:rPr>
              <a:t>500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24328"/>
            <a:ext cx="11430000" cy="4846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66090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45"/>
                </a:solidFill>
                <a:latin typeface="Calibri"/>
              </a:rPr>
              <a:t>Commandes/mois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66090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45"/>
                </a:solidFill>
                <a:latin typeface="Calibri"/>
              </a:rPr>
              <a:t>250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66090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45"/>
                </a:solidFill>
                <a:latin typeface="Calibri"/>
              </a:rPr>
              <a:t>5 000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66090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45"/>
                </a:solidFill>
                <a:latin typeface="Calibri"/>
              </a:rPr>
              <a:t>25 000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19" y="266090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45"/>
                </a:solidFill>
                <a:latin typeface="Calibri"/>
              </a:rPr>
              <a:t>80 000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127248"/>
            <a:ext cx="114300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16382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9E75"/>
                </a:solidFill>
                <a:latin typeface="Calibri"/>
              </a:rPr>
              <a:t>Chiffre d'affaires (F CFA)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316382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9E75"/>
                </a:solidFill>
                <a:latin typeface="Calibri"/>
              </a:rPr>
              <a:t>250 000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16382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9E75"/>
                </a:solidFill>
                <a:latin typeface="Calibri"/>
              </a:rPr>
              <a:t>3 000 000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316382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9E75"/>
                </a:solidFill>
                <a:latin typeface="Calibri"/>
              </a:rPr>
              <a:t>15 000 000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19" y="316382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9E75"/>
                </a:solidFill>
                <a:latin typeface="Calibri"/>
              </a:rPr>
              <a:t>45 000 000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630168"/>
            <a:ext cx="11430000" cy="48463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66674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45"/>
                </a:solidFill>
                <a:latin typeface="Calibri"/>
              </a:rPr>
              <a:t>Résultat net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366674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32D2D"/>
                </a:solidFill>
                <a:latin typeface="Calibri"/>
              </a:rPr>
              <a:t>- 500 000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366674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45"/>
                </a:solidFill>
                <a:latin typeface="Calibri"/>
              </a:rPr>
              <a:t>100 000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366674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45"/>
                </a:solidFill>
                <a:latin typeface="Calibri"/>
              </a:rPr>
              <a:t>3 000 000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19" y="366674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45"/>
                </a:solidFill>
                <a:latin typeface="Calibri"/>
              </a:rPr>
              <a:t>12 000 000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133087"/>
            <a:ext cx="114300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16966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2B45"/>
                </a:solidFill>
                <a:latin typeface="Calibri"/>
              </a:rPr>
              <a:t>Effectif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416966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45"/>
                </a:solidFill>
                <a:latin typeface="Calibr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416966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45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79" y="416966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45"/>
                </a:solidFill>
                <a:latin typeface="Calibri"/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19" y="4169664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2B45"/>
                </a:solidFill>
                <a:latin typeface="Calibri"/>
              </a:rPr>
              <a:t>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Calibri"/>
              </a:rPr>
              <a:t>Projections basées sur 5 % de pénétration du marché PME de Douala/Yaoundé — hypothèse conservatrice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9E75"/>
                </a:solidFill>
                <a:latin typeface="Calibri"/>
              </a:rPr>
              <a:t>ROADMAP &amp; SOUTIENS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Ce que nous avons déjà réalisé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3566160" cy="146304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566160" cy="54864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6420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9E75"/>
                </a:solidFill>
                <a:latin typeface="Calibri"/>
              </a:rPr>
              <a:t>✅ Fait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F"/>
                </a:solidFill>
                <a:latin typeface="Calibri"/>
              </a:rPr>
              <a:t>Base de données PostgreSQL
multi-tenant opérationnelle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554480"/>
            <a:ext cx="3566160" cy="146304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97680" y="1554480"/>
            <a:ext cx="3566160" cy="54864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166420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9E75"/>
                </a:solidFill>
                <a:latin typeface="Calibri"/>
              </a:rPr>
              <a:t>✅ Fait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9659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F"/>
                </a:solidFill>
                <a:latin typeface="Calibri"/>
              </a:rPr>
              <a:t>Dashboard commerçant
complet (React + Node.js)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554480"/>
            <a:ext cx="3566160" cy="146304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554480"/>
            <a:ext cx="3566160" cy="54864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66420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9E75"/>
                </a:solidFill>
                <a:latin typeface="Calibri"/>
              </a:rPr>
              <a:t>✅ Fait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9659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F"/>
                </a:solidFill>
                <a:latin typeface="Calibri"/>
              </a:rPr>
              <a:t>Authentification JWT
et gestion des rôles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83280"/>
            <a:ext cx="3566160" cy="146304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383280"/>
            <a:ext cx="356616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4930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🔄 En cours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947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F"/>
                </a:solidFill>
                <a:latin typeface="Calibri"/>
              </a:rPr>
              <a:t>Vitrine acheteur
et paiement Mobile Money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383280"/>
            <a:ext cx="3566160" cy="146304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7680" y="3383280"/>
            <a:ext cx="3566160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34840" y="34930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📅 Q3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7947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F"/>
                </a:solidFill>
                <a:latin typeface="Calibri"/>
              </a:rPr>
              <a:t>Déploiement cloud
et premiers clients pilotes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3383280"/>
            <a:ext cx="3566160" cy="1463040"/>
          </a:xfrm>
          <a:prstGeom prst="rect">
            <a:avLst/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38160" y="3383280"/>
            <a:ext cx="3566160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75320" y="349300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📅 Q1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7947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FDBFF"/>
                </a:solidFill>
                <a:latin typeface="Calibri"/>
              </a:rPr>
              <a:t>Application mobile
livreur (React Native)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0" i="0">
                <a:solidFill>
                  <a:srgbClr val="FFFFFF"/>
                </a:solidFill>
                <a:latin typeface="Calibri"/>
              </a:rPr>
              <a:t>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LogiSaaS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1FAE5"/>
                </a:solidFill>
                <a:latin typeface="Calibri"/>
              </a:rPr>
              <a:t>Gestion logistique
pour l'Afrique centrale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09728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Contactez-nous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9385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38528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CM" sz="1300" b="1">
                <a:solidFill>
                  <a:srgbClr val="FFFFFF"/>
                </a:solidFill>
                <a:latin typeface="Calibri"/>
              </a:rPr>
              <a:t>logisaas@</a:t>
            </a:r>
            <a:r>
              <a:rPr lang="fr-CM" sz="1300" b="1" dirty="0">
                <a:solidFill>
                  <a:srgbClr val="FFFFFF"/>
                </a:solidFill>
                <a:latin typeface="Calibri"/>
              </a:rPr>
              <a:t>gamil.com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6243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Tél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24328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+237</a:t>
            </a:r>
            <a:r>
              <a:rPr lang="en-US" sz="1300" b="1" i="0" dirty="0">
                <a:solidFill>
                  <a:srgbClr val="FFFFFF"/>
                </a:solidFill>
                <a:latin typeface="Calibri"/>
              </a:rPr>
              <a:t> 673003112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331012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Web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776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99592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Facebook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995927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facebook.com/logisaas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0292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9E75"/>
                </a:solidFill>
                <a:latin typeface="Calibri"/>
              </a:rPr>
              <a:t>Merci pour votre attention 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6692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Nous sommes disponibles pour toute démonstration de la plateforme.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880</Words>
  <Application>Microsoft Office PowerPoint</Application>
  <PresentationFormat>Personnalisé</PresentationFormat>
  <Paragraphs>211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AWALOU SADOU</cp:lastModifiedBy>
  <cp:revision>6</cp:revision>
  <dcterms:created xsi:type="dcterms:W3CDTF">2013-01-27T09:14:16Z</dcterms:created>
  <dcterms:modified xsi:type="dcterms:W3CDTF">2026-05-15T14:07:18Z</dcterms:modified>
  <cp:category/>
</cp:coreProperties>
</file>