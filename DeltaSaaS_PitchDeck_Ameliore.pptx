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67" r:id="rId3"/>
    <p:sldId id="256" r:id="rId4"/>
    <p:sldId id="257" r:id="rId5"/>
    <p:sldId id="258" r:id="rId6"/>
    <p:sldId id="269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1D42"/>
    <a:srgbClr val="0A1628"/>
    <a:srgbClr val="074A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437" autoAdjust="0"/>
    <p:restoredTop sz="94610"/>
  </p:normalViewPr>
  <p:slideViewPr>
    <p:cSldViewPr snapToGrid="0" snapToObjects="1">
      <p:cViewPr>
        <p:scale>
          <a:sx n="93" d="100"/>
          <a:sy n="93" d="100"/>
        </p:scale>
        <p:origin x="104" y="-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Revenus mensuels (FCFA)</c:v>
                </c:pt>
              </c:strCache>
            </c:strRef>
          </c:tx>
          <c:spPr>
            <a:solidFill>
              <a:srgbClr val="00C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M1–M3</c:v>
                </c:pt>
                <c:pt idx="1">
                  <c:v>M4–M6</c:v>
                </c:pt>
                <c:pt idx="2">
                  <c:v>M7–M9</c:v>
                </c:pt>
                <c:pt idx="3">
                  <c:v>M10–M12</c:v>
                </c:pt>
                <c:pt idx="4">
                  <c:v>An 2 (moy.)</c:v>
                </c:pt>
                <c:pt idx="5">
                  <c:v>An 3 (moy.)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440000</c:v>
                </c:pt>
                <c:pt idx="1">
                  <c:v>900000</c:v>
                </c:pt>
                <c:pt idx="2">
                  <c:v>1600000</c:v>
                </c:pt>
                <c:pt idx="3">
                  <c:v>2500000</c:v>
                </c:pt>
                <c:pt idx="4">
                  <c:v>5000000</c:v>
                </c:pt>
                <c:pt idx="5">
                  <c:v>9000000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CF-42B1-9AEC-F2688A58235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0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BD5E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3203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40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www.linkedin.com/in/sadou-awalou-9232ab40a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5000">
              <a:srgbClr val="DCE5F4"/>
            </a:gs>
            <a:gs pos="75000">
              <a:srgbClr val="D9E3F3"/>
            </a:gs>
            <a:gs pos="70000">
              <a:srgbClr val="D3DEF1"/>
            </a:gs>
            <a:gs pos="95000">
              <a:srgbClr val="DFE7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9D2A12-0992-49BA-AE5F-05AEB56EEB1B}"/>
              </a:ext>
            </a:extLst>
          </p:cNvPr>
          <p:cNvSpPr>
            <a:spLocks noGrp="1"/>
          </p:cNvSpPr>
          <p:nvPr/>
        </p:nvSpPr>
        <p:spPr>
          <a:xfrm>
            <a:off x="1741170" y="221634"/>
            <a:ext cx="443865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2800" dirty="0">
                <a:latin typeface="Gabriola" panose="04040605051002020D02" pitchFamily="82" charset="0"/>
              </a:rPr>
              <a:t>Nom de l’entreprise </a:t>
            </a:r>
            <a:r>
              <a:rPr lang="fr-FR" dirty="0"/>
              <a:t>: </a:t>
            </a:r>
            <a:r>
              <a:rPr lang="fr-FR" b="1" dirty="0"/>
              <a:t>Delta SaaS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F43FAA-D57C-4AEC-984E-95AB17F3738C}"/>
              </a:ext>
            </a:extLst>
          </p:cNvPr>
          <p:cNvSpPr>
            <a:spLocks noGrp="1"/>
          </p:cNvSpPr>
          <p:nvPr/>
        </p:nvSpPr>
        <p:spPr>
          <a:xfrm>
            <a:off x="202234" y="4336308"/>
            <a:ext cx="7886700" cy="47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dirty="0">
                <a:latin typeface="Bahnschrift" panose="020B0502040204020203" pitchFamily="34" charset="0"/>
              </a:rPr>
              <a:t>Slogan</a:t>
            </a:r>
            <a:r>
              <a:rPr lang="fr-FR" dirty="0"/>
              <a:t> : </a:t>
            </a:r>
            <a:r>
              <a:rPr lang="fr-FR" sz="2400" b="1" i="1" dirty="0">
                <a:latin typeface="Calisto MT" panose="02040603050505030304" pitchFamily="18" charset="0"/>
              </a:rPr>
              <a:t>une meilleure solution commence localement</a:t>
            </a:r>
            <a:endParaRPr lang="fr-FR" b="1" i="1" dirty="0">
              <a:latin typeface="Calisto MT" panose="02040603050505030304" pitchFamily="18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6D906D3-1968-6F56-6B32-BA423600E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154" y="1215806"/>
            <a:ext cx="2308859" cy="2815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70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D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C8DC25C-0315-9F77-B01C-D1A846F99012}"/>
              </a:ext>
            </a:extLst>
          </p:cNvPr>
          <p:cNvSpPr/>
          <p:nvPr/>
        </p:nvSpPr>
        <p:spPr>
          <a:xfrm>
            <a:off x="646786" y="296382"/>
            <a:ext cx="7644384" cy="4550735"/>
          </a:xfrm>
          <a:prstGeom prst="rect">
            <a:avLst/>
          </a:prstGeom>
          <a:gradFill>
            <a:gsLst>
              <a:gs pos="72000">
                <a:srgbClr val="DCE5F4"/>
              </a:gs>
              <a:gs pos="75000">
                <a:srgbClr val="D9E3F3"/>
              </a:gs>
              <a:gs pos="54000">
                <a:srgbClr val="074A48"/>
              </a:gs>
              <a:gs pos="83000">
                <a:srgbClr val="DFE7F5"/>
              </a:gs>
            </a:gsLst>
            <a:lin ang="5400000" scaled="1"/>
          </a:gra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b="1" dirty="0">
              <a:latin typeface="Arial Black" panose="020B0A04020102020204" pitchFamily="34" charset="0"/>
            </a:endParaRPr>
          </a:p>
          <a:p>
            <a:pPr algn="ctr"/>
            <a:r>
              <a:rPr lang="en-US" b="1" dirty="0">
                <a:latin typeface="Arial Black" panose="020B0A04020102020204" pitchFamily="34" charset="0"/>
              </a:rPr>
              <a:t>PLAN</a:t>
            </a:r>
          </a:p>
          <a:p>
            <a:pPr algn="ctr"/>
            <a:endParaRPr lang="fr-CM" dirty="0"/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CONSTAT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SOLUTION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MARCHE/CIBLES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STRATEGIE D’ACQUISITION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BUSINESS MODEL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PROJECTION ET REVENUS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POSITIONNEMENT CONCURENTIEL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TRACTION ET ROADMAP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Berlin Sans FB" panose="020E0602020502020306" pitchFamily="34" charset="0"/>
              </a:rPr>
              <a:t>EQUIPE</a:t>
            </a:r>
          </a:p>
          <a:p>
            <a:pPr algn="ctr">
              <a:lnSpc>
                <a:spcPct val="150000"/>
              </a:lnSpc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36037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00C896">
              <a:alpha val="12000"/>
            </a:srgbClr>
          </a:solidFill>
          <a:ln w="12700">
            <a:solidFill>
              <a:srgbClr val="00C896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-365760"/>
            <a:ext cx="2560320" cy="2560320"/>
          </a:xfrm>
          <a:prstGeom prst="ellipse">
            <a:avLst/>
          </a:prstGeom>
          <a:solidFill>
            <a:srgbClr val="00C896">
              <a:alpha val="20000"/>
            </a:srgbClr>
          </a:solidFill>
          <a:ln w="12700">
            <a:solidFill>
              <a:srgbClr val="00C896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4434840"/>
            <a:ext cx="201168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502920"/>
            <a:ext cx="1645920" cy="3474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029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</a:rPr>
              <a:t>DELTA SaaS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Visibilité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" y="19202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Performance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65760" y="28803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B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tout-en-un qui transforme les commerçants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B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secteur Tertiaire Camerounais en vrais professionnels.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4663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BBF"/>
                </a:solidFill>
              </a:rPr>
              <a:t>deltasaas2026@gmail.com  •  Cameroun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49440" y="2377440"/>
            <a:ext cx="1920240" cy="1554480"/>
          </a:xfrm>
          <a:prstGeom prst="rect">
            <a:avLst/>
          </a:prstGeom>
          <a:solidFill>
            <a:srgbClr val="132038"/>
          </a:solidFill>
          <a:ln w="190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9440" y="2423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C896"/>
                </a:solidFill>
              </a:rPr>
              <a:t>77%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949440" y="3090672"/>
            <a:ext cx="192024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8"/>
                </a:solidFill>
              </a:rPr>
              <a:t>des PME du</a:t>
            </a:r>
            <a:endParaRPr lang="en-US" sz="9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8"/>
                </a:solidFill>
              </a:rPr>
              <a:t>secteur Tertiaire</a:t>
            </a:r>
            <a:endParaRPr lang="en-US" sz="9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CBD5E8"/>
                </a:solidFill>
              </a:rPr>
              <a:t>au Cameroun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LE CONSTAT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329184"/>
            <a:ext cx="82296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Un marché coincé dans les réseaux sociaux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" y="118872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34440" y="1371600"/>
            <a:ext cx="731520" cy="73152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46304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5760" y="2286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4A"/>
                </a:solidFill>
              </a:rPr>
              <a:t>Visibilité sans gestion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93192" y="292608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dirty="0">
                <a:solidFill>
                  <a:srgbClr val="445577"/>
                </a:solidFill>
              </a:rPr>
              <a:t>WhatsApp, Facebook, TikTok servent à promouvoir — mais aucun de ces outils ne gère les stocks, les commandes ou les paiements.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72968" y="118872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178808" y="1371600"/>
            <a:ext cx="731520" cy="73152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146304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10128" y="2286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4A"/>
                </a:solidFill>
              </a:rPr>
              <a:t>Pas d'outils de suivi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37560" y="292608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dirty="0">
                <a:solidFill>
                  <a:srgbClr val="445577"/>
                </a:solidFill>
              </a:rPr>
              <a:t>Sans historique des ventes ni tableau de bord, le commerçant ne sait pas vraiment où va son activité.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17336" y="118872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123176" y="1371600"/>
            <a:ext cx="731520" cy="731520"/>
          </a:xfrm>
          <a:prstGeom prst="ellipse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1463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54496" y="2286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4A"/>
                </a:solidFill>
              </a:rPr>
              <a:t>Solutions étrangères inadaptées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81928" y="2926080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dirty="0">
                <a:solidFill>
                  <a:srgbClr val="445577"/>
                </a:solidFill>
              </a:rPr>
              <a:t>Les plateformes SaaS disponibles sont pensées pour l'Occident : trop chères, pas de Mobile Money, pas de livraison locale.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228600" y="4663440"/>
            <a:ext cx="8686800" cy="347472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28600" y="466344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0C896"/>
                </a:solidFill>
              </a:rPr>
              <a:t>Publicité ≠ Gestion professionnelle  →  Il manque une solution locale, complète et abordable.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NOTRE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Une plateforme tout-en-un, pensée pour le Cameroun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234440"/>
            <a:ext cx="4160520" cy="1600200"/>
          </a:xfrm>
          <a:prstGeom prst="rect">
            <a:avLst/>
          </a:prstGeom>
          <a:solidFill>
            <a:srgbClr val="132038"/>
          </a:solidFill>
          <a:ln w="190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45920"/>
            <a:ext cx="658368" cy="658368"/>
          </a:xfrm>
          <a:prstGeom prst="ellipse">
            <a:avLst/>
          </a:prstGeom>
          <a:solidFill>
            <a:srgbClr val="00C896">
              <a:alpha val="80000"/>
            </a:srgbClr>
          </a:solidFill>
          <a:ln w="12700">
            <a:solidFill>
              <a:srgbClr val="00C896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19072"/>
            <a:ext cx="512064" cy="5120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Catalogue &amp; Stocks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18288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CBD5E8"/>
                </a:solidFill>
              </a:rPr>
              <a:t>Gestion des produits et stocks en temps réel. Historique complet des ventes en un clic.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1234440"/>
            <a:ext cx="4160520" cy="1600200"/>
          </a:xfrm>
          <a:prstGeom prst="rect">
            <a:avLst/>
          </a:prstGeom>
          <a:solidFill>
            <a:srgbClr val="13203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45920"/>
            <a:ext cx="658368" cy="658368"/>
          </a:xfrm>
          <a:prstGeom prst="ellipse">
            <a:avLst/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1719072"/>
            <a:ext cx="512064" cy="5120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1500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Paiements locaux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715000" y="18288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CBD5E8"/>
                </a:solidFill>
              </a:rPr>
              <a:t>Encaissement via Mobile Money (MTN, Orange) et tous les moyens de paiement locaux.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274320" y="3063240"/>
            <a:ext cx="4160520" cy="1600200"/>
          </a:xfrm>
          <a:prstGeom prst="rect">
            <a:avLst/>
          </a:prstGeom>
          <a:solidFill>
            <a:srgbClr val="132038"/>
          </a:solidFill>
          <a:ln w="190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474720"/>
            <a:ext cx="658368" cy="658368"/>
          </a:xfrm>
          <a:prstGeom prst="ellipse">
            <a:avLst/>
          </a:prstGeom>
          <a:solidFill>
            <a:srgbClr val="00C896">
              <a:alpha val="80000"/>
            </a:srgbClr>
          </a:solidFill>
          <a:ln w="12700">
            <a:solidFill>
              <a:srgbClr val="00C896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547872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8016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Gestion Clients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280160" y="36576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CBD5E8"/>
                </a:solidFill>
              </a:rPr>
              <a:t>Abonnements, suivi professionnel et personnalisé. Fidélisation intégrée.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13203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892040" y="3474720"/>
            <a:ext cx="658368" cy="658368"/>
          </a:xfrm>
          <a:prstGeom prst="ellipse">
            <a:avLst/>
          </a:prstGeom>
          <a:solidFill>
            <a:srgbClr val="F5A623">
              <a:alpha val="80000"/>
            </a:srgbClr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3547872"/>
            <a:ext cx="512064" cy="51206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715000" y="3246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Livraisons GPS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5715000" y="36576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CBD5E8"/>
                </a:solidFill>
              </a:rPr>
              <a:t>Commandes fiables, suivi en temps réel de la position des livreurs via GPS sécurisé.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645920" y="4727448"/>
            <a:ext cx="5852160" cy="3017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1645920" y="4727448"/>
            <a:ext cx="5852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</a:rPr>
              <a:t>Interface intuitive • Pensée pour l'utilisateur Camerounais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1000" t="2000" r="2000" b="4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030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-118872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MARCHÉ CIBLE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47472" y="448056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77% du tissu économique Camerounais à portée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2926080" cy="3657600"/>
          </a:xfrm>
          <a:prstGeom prst="rect">
            <a:avLst/>
          </a:prstGeom>
          <a:solidFill>
            <a:srgbClr val="0A1628"/>
          </a:solidFill>
          <a:ln w="254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5544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C896"/>
                </a:solidFill>
              </a:rPr>
              <a:t>77%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274320" y="274320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8"/>
                </a:solidFill>
              </a:rPr>
              <a:t>du tissu économique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BD5E8"/>
                </a:solidFill>
              </a:rPr>
              <a:t>Camerounais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3429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Source : minpmeesa.com, mai 2025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20440" y="1234440"/>
            <a:ext cx="5349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20440" y="1234440"/>
            <a:ext cx="64008" cy="10972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1490472"/>
            <a:ext cx="548640" cy="5486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462272" y="1344168"/>
            <a:ext cx="1188720" cy="2743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1344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</a:rPr>
              <a:t>Cible Principale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462272" y="163677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</a:rPr>
              <a:t>PME du Secteur Tertiaire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62272" y="194767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77"/>
                </a:solidFill>
              </a:rPr>
              <a:t>Commerces, boutiques, restaurants, services — la colonne vertébrale de l'économie locale.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520440" y="2450592"/>
            <a:ext cx="5349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520440" y="2450592"/>
            <a:ext cx="64008" cy="10972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706624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462272" y="2560320"/>
            <a:ext cx="118872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62272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</a:rPr>
              <a:t>Cible Secondaire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4462272" y="285292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</a:rPr>
              <a:t>Freelances &amp; Auto-entrepreneurs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462272" y="316382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77"/>
                </a:solidFill>
              </a:rPr>
              <a:t>Notamment issus des filières digitales, en forte croissance au Cameroun.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3520440" y="3666744"/>
            <a:ext cx="5349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3520440" y="3666744"/>
            <a:ext cx="64008" cy="10972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3922776"/>
            <a:ext cx="548640" cy="54864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462272" y="3776472"/>
            <a:ext cx="1188720" cy="2743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462272" y="37764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</a:rPr>
              <a:t>Pipeline futur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4462272" y="406908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</a:rPr>
              <a:t>Étudiants Entrepreneurs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4462272" y="4379976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5577"/>
                </a:solidFill>
              </a:rPr>
              <a:t>Partenariats avec les universités et associations d'aide à l'entrepreneuriat.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A623"/>
                </a:solidFill>
              </a:rPr>
              <a:t>STRATÉGIE D'ACQUISITION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3 canaux complémentaires pour une croissance rapide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28600" y="1234440"/>
            <a:ext cx="2743200" cy="3657600"/>
          </a:xfrm>
          <a:prstGeom prst="rect">
            <a:avLst/>
          </a:prstGeom>
          <a:solidFill>
            <a:srgbClr val="132038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234440"/>
            <a:ext cx="2743200" cy="5029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628"/>
                </a:solidFill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234440" y="1901952"/>
            <a:ext cx="731520" cy="731520"/>
          </a:xfrm>
          <a:prstGeom prst="ellipse">
            <a:avLst/>
          </a:prstGeom>
          <a:solidFill>
            <a:srgbClr val="00C896">
              <a:alpha val="85000"/>
            </a:srgbClr>
          </a:solidFill>
          <a:ln w="12700">
            <a:solidFill>
              <a:srgbClr val="00C896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993392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5760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Salons &amp; Partenariats PME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383280"/>
            <a:ext cx="2194560" cy="274320"/>
          </a:xfrm>
          <a:prstGeom prst="rect">
            <a:avLst/>
          </a:prstGeom>
          <a:solidFill>
            <a:srgbClr val="00C896">
              <a:alpha val="70000"/>
            </a:srgbClr>
          </a:solidFill>
          <a:ln w="12700">
            <a:solidFill>
              <a:srgbClr val="00C896">
                <a:alpha val="6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896"/>
                </a:solidFill>
              </a:rPr>
              <a:t>~200 contacts/salon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93192" y="374904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CBD5E8"/>
                </a:solidFill>
              </a:rPr>
              <a:t>Présence dans les salons dédiés aux PME et partenariats avec les associations du secteur tertiaire. Démonstrations live de la plateforme.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172968" y="1234440"/>
            <a:ext cx="2743200" cy="3657600"/>
          </a:xfrm>
          <a:prstGeom prst="rect">
            <a:avLst/>
          </a:prstGeom>
          <a:solidFill>
            <a:srgbClr val="132038"/>
          </a:solidFill>
          <a:ln w="127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172968" y="1234440"/>
            <a:ext cx="274320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72968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628"/>
                </a:solidFill>
              </a:rPr>
              <a:t>02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178808" y="1901952"/>
            <a:ext cx="731520" cy="731520"/>
          </a:xfrm>
          <a:prstGeom prst="ellipse">
            <a:avLst/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1993392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310128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Communication Digitale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3447288" y="3383280"/>
            <a:ext cx="2194560" cy="274320"/>
          </a:xfrm>
          <a:prstGeom prst="rect">
            <a:avLst/>
          </a:prstGeom>
          <a:solidFill>
            <a:srgbClr val="F5A623">
              <a:alpha val="70000"/>
            </a:srgbClr>
          </a:solidFill>
          <a:ln w="12700">
            <a:solidFill>
              <a:srgbClr val="F5A623">
                <a:alpha val="60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447288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A623"/>
                </a:solidFill>
              </a:rPr>
              <a:t>Réseaux ciblés + presse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3337560" y="374904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CBD5E8"/>
                </a:solidFill>
              </a:rPr>
              <a:t>Présence dans les médias spécialisés camerounais et campagnes sur les canaux digitaux ciblés (WhatsApp Business, Facebook Ads).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117336" y="1234440"/>
            <a:ext cx="2743200" cy="3657600"/>
          </a:xfrm>
          <a:prstGeom prst="rect">
            <a:avLst/>
          </a:prstGeom>
          <a:solidFill>
            <a:srgbClr val="132038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117336" y="1234440"/>
            <a:ext cx="2743200" cy="5029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117336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A1628"/>
                </a:solidFill>
              </a:rPr>
              <a:t>03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7123176" y="1901952"/>
            <a:ext cx="731520" cy="731520"/>
          </a:xfrm>
          <a:prstGeom prst="ellipse">
            <a:avLst/>
          </a:prstGeom>
          <a:solidFill>
            <a:srgbClr val="00C896">
              <a:alpha val="85000"/>
            </a:srgbClr>
          </a:solidFill>
          <a:ln w="12700">
            <a:solidFill>
              <a:srgbClr val="00C896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1993392"/>
            <a:ext cx="548640" cy="54864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254496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Universités &amp; Entrepreneuriat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391656" y="3383280"/>
            <a:ext cx="2194560" cy="274320"/>
          </a:xfrm>
          <a:prstGeom prst="rect">
            <a:avLst/>
          </a:prstGeom>
          <a:solidFill>
            <a:srgbClr val="00C896">
              <a:alpha val="70000"/>
            </a:srgbClr>
          </a:solidFill>
          <a:ln w="12700">
            <a:solidFill>
              <a:srgbClr val="00C896">
                <a:alpha val="60000"/>
              </a:srgbClr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391656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C896"/>
                </a:solidFill>
              </a:rPr>
              <a:t>Pipeline early adopters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6281928" y="374904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rgbClr val="CBD5E8"/>
                </a:solidFill>
              </a:rPr>
              <a:t>Contact dès la sortie des universités et partenariats avec les incubateurs et associations d'aide à l'entrepreneuriat.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Abonnements mensuels progressifs — dès 5 000 FCFA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82880" y="1188720"/>
            <a:ext cx="203911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607D8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2880" y="1188720"/>
            <a:ext cx="2039112" cy="457200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11887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Essai Gratuit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" y="1755648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2B4A"/>
                </a:solidFill>
              </a:rPr>
              <a:t>0 FCFA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82880" y="2395728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F"/>
                </a:solidFill>
              </a:rPr>
              <a:t>7 jours</a:t>
            </a:r>
            <a:endParaRPr lang="en-US" sz="10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898648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21792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Toutes les fonctionnalités</a:t>
            </a:r>
            <a:endParaRPr lang="en-US" sz="9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246120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21792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Sans engagement</a:t>
            </a:r>
            <a:endParaRPr lang="en-US" sz="95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593592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1792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Idéal pour tester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2404872" y="1188720"/>
            <a:ext cx="203911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2404872" y="1188720"/>
            <a:ext cx="2039112" cy="4572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404872" y="11887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Freemium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2404872" y="1755648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2B4A"/>
                </a:solidFill>
              </a:rPr>
              <a:t>5 000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2404872" y="2395728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F"/>
                </a:solidFill>
              </a:rPr>
              <a:t>FCFA/mois</a:t>
            </a:r>
            <a:endParaRPr lang="en-US" sz="10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752" y="2898648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843784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~10 commandes/jour</a:t>
            </a:r>
            <a:endParaRPr lang="en-US" sz="95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752" y="3246120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2843784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Catalogue basique</a:t>
            </a:r>
            <a:endParaRPr lang="en-US" sz="9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7752" y="3593592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2843784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Sans livraison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626864" y="1188720"/>
            <a:ext cx="2039112" cy="3749040"/>
          </a:xfrm>
          <a:prstGeom prst="rect">
            <a:avLst/>
          </a:prstGeom>
          <a:solidFill>
            <a:srgbClr val="0A1628"/>
          </a:solidFill>
          <a:ln w="317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4626864" y="1188720"/>
            <a:ext cx="2039112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626864" y="11887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</a:rPr>
              <a:t>Professionnel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901184" y="1664208"/>
            <a:ext cx="1490472" cy="24688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4901184" y="1664208"/>
            <a:ext cx="1490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1628"/>
                </a:solidFill>
              </a:rPr>
              <a:t>⭐ RECOMMANDÉ</a:t>
            </a:r>
            <a:endParaRPr lang="en-US" sz="800" dirty="0"/>
          </a:p>
        </p:txBody>
      </p:sp>
      <p:sp>
        <p:nvSpPr>
          <p:cNvPr id="33" name="Text 25"/>
          <p:cNvSpPr/>
          <p:nvPr/>
        </p:nvSpPr>
        <p:spPr>
          <a:xfrm>
            <a:off x="4626864" y="2011680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</a:rPr>
              <a:t>10 000</a:t>
            </a:r>
            <a:endParaRPr lang="en-US" sz="3000" dirty="0"/>
          </a:p>
        </p:txBody>
      </p:sp>
      <p:sp>
        <p:nvSpPr>
          <p:cNvPr id="34" name="Text 26"/>
          <p:cNvSpPr/>
          <p:nvPr/>
        </p:nvSpPr>
        <p:spPr>
          <a:xfrm>
            <a:off x="4626864" y="2651760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8"/>
                </a:solidFill>
              </a:rPr>
              <a:t>FCFA/mois</a:t>
            </a:r>
            <a:endParaRPr lang="en-US" sz="10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17296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065776" y="3154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Commandes illimitées</a:t>
            </a:r>
            <a:endParaRPr lang="en-US" sz="9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520440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5065776" y="3502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Clients illimités</a:t>
            </a:r>
            <a:endParaRPr lang="en-US" sz="9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867912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065776" y="3849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Livraison limitée</a:t>
            </a:r>
            <a:endParaRPr lang="en-US" sz="950" dirty="0"/>
          </a:p>
        </p:txBody>
      </p:sp>
      <p:sp>
        <p:nvSpPr>
          <p:cNvPr id="41" name="Shape 30"/>
          <p:cNvSpPr/>
          <p:nvPr/>
        </p:nvSpPr>
        <p:spPr>
          <a:xfrm>
            <a:off x="6848856" y="1188720"/>
            <a:ext cx="203911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6848856" y="1188720"/>
            <a:ext cx="2039112" cy="4572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6848856" y="1188720"/>
            <a:ext cx="2039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Illimité</a:t>
            </a:r>
            <a:endParaRPr lang="en-US" sz="1200" dirty="0"/>
          </a:p>
        </p:txBody>
      </p:sp>
      <p:sp>
        <p:nvSpPr>
          <p:cNvPr id="44" name="Text 33"/>
          <p:cNvSpPr/>
          <p:nvPr/>
        </p:nvSpPr>
        <p:spPr>
          <a:xfrm>
            <a:off x="6848856" y="1755648"/>
            <a:ext cx="2039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2B4A"/>
                </a:solidFill>
              </a:rPr>
              <a:t>15 000</a:t>
            </a:r>
            <a:endParaRPr lang="en-US" sz="3000" dirty="0"/>
          </a:p>
        </p:txBody>
      </p:sp>
      <p:sp>
        <p:nvSpPr>
          <p:cNvPr id="45" name="Text 34"/>
          <p:cNvSpPr/>
          <p:nvPr/>
        </p:nvSpPr>
        <p:spPr>
          <a:xfrm>
            <a:off x="6848856" y="2395728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BF"/>
                </a:solidFill>
              </a:rPr>
              <a:t>FCFA/mois</a:t>
            </a:r>
            <a:endParaRPr lang="en-US" sz="1000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2898648"/>
            <a:ext cx="201168" cy="201168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7287768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Toutes fonctionnalités</a:t>
            </a:r>
            <a:endParaRPr lang="en-US" sz="95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3246120"/>
            <a:ext cx="201168" cy="201168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287768" y="3227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Livraison GPS illimitée</a:t>
            </a:r>
            <a:endParaRPr lang="en-US" sz="950" dirty="0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3593592"/>
            <a:ext cx="201168" cy="201168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7287768" y="35753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466"/>
                </a:solidFill>
              </a:rPr>
              <a:t>Suivi minutieux dédié</a:t>
            </a:r>
            <a:endParaRPr lang="en-US" sz="950" dirty="0"/>
          </a:p>
        </p:txBody>
      </p:sp>
      <p:sp>
        <p:nvSpPr>
          <p:cNvPr id="52" name="Text 38"/>
          <p:cNvSpPr/>
          <p:nvPr/>
        </p:nvSpPr>
        <p:spPr>
          <a:xfrm>
            <a:off x="182880" y="4892040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9BBF"/>
                </a:solidFill>
              </a:rPr>
              <a:t>* Tarif Illimité révisé à 15 000 FCFA pour maintenir une valeur perçue claire entre les paliers.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PROJECTION DE REVENUS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Un modèle scalable avec un potentiel de croissance fort</a:t>
            </a:r>
            <a:endParaRPr lang="en-US" sz="2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143000"/>
          <a:ext cx="530352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1188720"/>
            <a:ext cx="3063240" cy="1078992"/>
          </a:xfrm>
          <a:prstGeom prst="rect">
            <a:avLst/>
          </a:prstGeom>
          <a:solidFill>
            <a:srgbClr val="132038"/>
          </a:solidFill>
          <a:ln w="190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06440" y="12344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96"/>
                </a:solidFill>
              </a:rPr>
              <a:t>440K FCFA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806440" y="173736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8"/>
                </a:solidFill>
              </a:rPr>
              <a:t>/ mois • 5,3M FCFA/an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06440" y="19385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Scénario démarrage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(10 Free + 15 Pro + 20 Illimités)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806440" y="2377440"/>
            <a:ext cx="3063240" cy="1078992"/>
          </a:xfrm>
          <a:prstGeom prst="rect">
            <a:avLst/>
          </a:prstGeom>
          <a:solidFill>
            <a:srgbClr val="13203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806440" y="24231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</a:rPr>
              <a:t>5M FCFA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806440" y="2926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8"/>
                </a:solidFill>
              </a:rPr>
              <a:t>/ mois estimé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806440" y="312724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Scénario An 2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(~200 abonnés actifs)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5806440" y="3566160"/>
            <a:ext cx="3063240" cy="1078992"/>
          </a:xfrm>
          <a:prstGeom prst="rect">
            <a:avLst/>
          </a:prstGeom>
          <a:solidFill>
            <a:srgbClr val="132038"/>
          </a:solidFill>
          <a:ln w="190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806440" y="36118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896"/>
                </a:solidFill>
              </a:rPr>
              <a:t>9M FCFA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5806440" y="411480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8"/>
                </a:solidFill>
              </a:rPr>
              <a:t>/ mois estimé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06440" y="431596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Scénario An 3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9BBF"/>
                </a:solidFill>
              </a:rPr>
              <a:t>(~600 abonnés actifs)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274320" y="4828032"/>
            <a:ext cx="8595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9BBF"/>
                </a:solidFill>
              </a:rPr>
              <a:t>Projections basées sur un modèle d'abonnement mensuel. Les chiffres An 2/An 3 sont des estimations indicatives.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POSITIONNEMENT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Pourquoi Delta SaaS gagne là où les autres échouent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74320" y="1170432"/>
            <a:ext cx="256032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1704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Critère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34640" y="1170432"/>
            <a:ext cx="1737360" cy="438912"/>
          </a:xfrm>
          <a:prstGeom prst="rect">
            <a:avLst/>
          </a:prstGeom>
          <a:solidFill>
            <a:srgbClr val="607D8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17043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Réseaux Sociaux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170432"/>
            <a:ext cx="1783080" cy="438912"/>
          </a:xfrm>
          <a:prstGeom prst="rect">
            <a:avLst/>
          </a:prstGeom>
          <a:solidFill>
            <a:srgbClr val="607D8B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170432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SaaS Étrangers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1170432"/>
            <a:ext cx="1828800" cy="438912"/>
          </a:xfrm>
          <a:prstGeom prst="rect">
            <a:avLst/>
          </a:prstGeom>
          <a:solidFill>
            <a:srgbClr val="00C896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17043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</a:rPr>
              <a:t>Delta SaaS 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1609344"/>
            <a:ext cx="25603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609344"/>
            <a:ext cx="2560320" cy="4754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</a:rPr>
              <a:t>Gestion des stocks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34640" y="1609344"/>
            <a:ext cx="1737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60934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0" y="1609344"/>
            <a:ext cx="1783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160934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2B4A"/>
                </a:solidFill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5080" y="1609344"/>
            <a:ext cx="1828800" cy="475488"/>
          </a:xfrm>
          <a:prstGeom prst="rect">
            <a:avLst/>
          </a:prstGeom>
          <a:solidFill>
            <a:srgbClr val="E6FB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160934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74320" y="2084832"/>
            <a:ext cx="256032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084832"/>
            <a:ext cx="2560320" cy="4754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</a:rPr>
              <a:t>Paiement Mobile Money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834640" y="2084832"/>
            <a:ext cx="173736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834640" y="2084832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0" y="2084832"/>
            <a:ext cx="178308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2084832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55080" y="2084832"/>
            <a:ext cx="1828800" cy="475488"/>
          </a:xfrm>
          <a:prstGeom prst="rect">
            <a:avLst/>
          </a:prstGeom>
          <a:solidFill>
            <a:srgbClr val="E6FB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2084832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274320" y="2560320"/>
            <a:ext cx="25603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560320"/>
            <a:ext cx="2560320" cy="4754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</a:rPr>
              <a:t>Livraison GPS locale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34640" y="2560320"/>
            <a:ext cx="1737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34640" y="2560320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72000" y="2560320"/>
            <a:ext cx="1783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2560320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55080" y="2560320"/>
            <a:ext cx="1828800" cy="475488"/>
          </a:xfrm>
          <a:prstGeom prst="rect">
            <a:avLst/>
          </a:prstGeom>
          <a:solidFill>
            <a:srgbClr val="E6FB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55080" y="256032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274320" y="3035808"/>
            <a:ext cx="256032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035808"/>
            <a:ext cx="2560320" cy="4754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</a:rPr>
              <a:t>Adapté au Cameroun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834640" y="3035808"/>
            <a:ext cx="173736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34640" y="3035808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572000" y="3035808"/>
            <a:ext cx="178308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0" y="3035808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55080" y="3035808"/>
            <a:ext cx="1828800" cy="475488"/>
          </a:xfrm>
          <a:prstGeom prst="rect">
            <a:avLst/>
          </a:prstGeom>
          <a:solidFill>
            <a:srgbClr val="E6FB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303580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274320" y="3511296"/>
            <a:ext cx="25603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3511296"/>
            <a:ext cx="2560320" cy="4754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</a:rPr>
              <a:t>Prix abordable (FCFA)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834640" y="3511296"/>
            <a:ext cx="1737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4640" y="3511296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72000" y="3511296"/>
            <a:ext cx="17830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0" y="3511296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C3333"/>
                </a:solidFill>
              </a:rPr>
              <a:t>✗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55080" y="3511296"/>
            <a:ext cx="1828800" cy="475488"/>
          </a:xfrm>
          <a:prstGeom prst="rect">
            <a:avLst/>
          </a:prstGeom>
          <a:solidFill>
            <a:srgbClr val="E6FB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55080" y="3511296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274320" y="3986784"/>
            <a:ext cx="256032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" y="3986784"/>
            <a:ext cx="2560320" cy="47548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B4A"/>
                </a:solidFill>
              </a:rPr>
              <a:t>Interface en français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834640" y="3986784"/>
            <a:ext cx="173736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834640" y="3986784"/>
            <a:ext cx="1737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A2B4A"/>
                </a:solidFill>
              </a:rPr>
              <a:t>✓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4572000" y="3986784"/>
            <a:ext cx="1783080" cy="475488"/>
          </a:xfrm>
          <a:prstGeom prst="rect">
            <a:avLst/>
          </a:prstGeom>
          <a:solidFill>
            <a:srgbClr val="EFF3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0" y="3986784"/>
            <a:ext cx="1783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5A623"/>
                </a:solidFill>
              </a:rPr>
              <a:t>±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55080" y="3986784"/>
            <a:ext cx="1828800" cy="475488"/>
          </a:xfrm>
          <a:prstGeom prst="rect">
            <a:avLst/>
          </a:prstGeom>
          <a:solidFill>
            <a:srgbClr val="E6FB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55080" y="3986784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9E75"/>
                </a:solidFill>
              </a:rPr>
              <a:t>✓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274320" y="4636008"/>
            <a:ext cx="8595360" cy="384048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4320" y="46360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896"/>
                </a:solidFill>
              </a:rPr>
              <a:t>Notre avantage clé : une solution 100% locale, pensée pour les réalités africaines.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A623"/>
                </a:solidFill>
              </a:rPr>
              <a:t>TRACTION &amp;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Où nous en sommes — et où nous allons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2514600"/>
            <a:ext cx="8412480" cy="54864"/>
          </a:xfrm>
          <a:prstGeom prst="rect">
            <a:avLst/>
          </a:prstGeom>
          <a:solidFill>
            <a:srgbClr val="1E3050"/>
          </a:solidFill>
          <a:ln w="12700">
            <a:solidFill>
              <a:srgbClr val="1E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329184" cy="329184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188720"/>
            <a:ext cx="1993392" cy="1115568"/>
          </a:xfrm>
          <a:prstGeom prst="rect">
            <a:avLst/>
          </a:prstGeom>
          <a:solidFill>
            <a:srgbClr val="132038"/>
          </a:solidFill>
          <a:ln w="190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188720"/>
            <a:ext cx="1993392" cy="3474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88720"/>
            <a:ext cx="118872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54480" y="1188720"/>
            <a:ext cx="804672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A1628"/>
                </a:solidFill>
              </a:rPr>
              <a:t>Démarrage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5727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Plateforme développée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182880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Interface testée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208483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2 commerçants pilotes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834640"/>
            <a:ext cx="1993392" cy="73152"/>
          </a:xfrm>
          <a:prstGeom prst="rect">
            <a:avLst/>
          </a:prstGeom>
          <a:solidFill>
            <a:srgbClr val="00C896">
              <a:alpha val="40000"/>
            </a:srgbClr>
          </a:solidFill>
          <a:ln w="12700">
            <a:solidFill>
              <a:srgbClr val="00C896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27832" y="2377440"/>
            <a:ext cx="329184" cy="329184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96312" y="1188720"/>
            <a:ext cx="1993392" cy="1115568"/>
          </a:xfrm>
          <a:prstGeom prst="rect">
            <a:avLst/>
          </a:prstGeom>
          <a:solidFill>
            <a:srgbClr val="132038"/>
          </a:solidFill>
          <a:ln w="190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96312" y="1188720"/>
            <a:ext cx="1993392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1188720"/>
            <a:ext cx="118872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1628"/>
                </a:solidFill>
              </a:rPr>
              <a:t>Phase 2 →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85032" y="1188720"/>
            <a:ext cx="804672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A1628"/>
                </a:solidFill>
              </a:rPr>
              <a:t>M1 – M6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87752" y="15727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Lancement officiel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87752" y="182880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50 abonnés cible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87752" y="208483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Présence salons PME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96312" y="2834640"/>
            <a:ext cx="1993392" cy="73152"/>
          </a:xfrm>
          <a:prstGeom prst="rect">
            <a:avLst/>
          </a:prstGeom>
          <a:solidFill>
            <a:srgbClr val="F5A623">
              <a:alpha val="40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58384" y="2377440"/>
            <a:ext cx="329184" cy="329184"/>
          </a:xfrm>
          <a:prstGeom prst="ellipse">
            <a:avLst/>
          </a:prstGeom>
          <a:solidFill>
            <a:srgbClr val="8A9BBF"/>
          </a:solidFill>
          <a:ln w="12700">
            <a:solidFill>
              <a:srgbClr val="8A9B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26864" y="1188720"/>
            <a:ext cx="1993392" cy="1115568"/>
          </a:xfrm>
          <a:prstGeom prst="rect">
            <a:avLst/>
          </a:prstGeom>
          <a:solidFill>
            <a:srgbClr val="132038"/>
          </a:solidFill>
          <a:ln w="19050">
            <a:solidFill>
              <a:srgbClr val="8A9BB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26864" y="1188720"/>
            <a:ext cx="1993392" cy="347472"/>
          </a:xfrm>
          <a:prstGeom prst="rect">
            <a:avLst/>
          </a:prstGeom>
          <a:solidFill>
            <a:srgbClr val="8A9BBF"/>
          </a:solidFill>
          <a:ln w="12700">
            <a:solidFill>
              <a:srgbClr val="8A9B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26864" y="1188720"/>
            <a:ext cx="118872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15584" y="1188720"/>
            <a:ext cx="804672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BD5E8"/>
                </a:solidFill>
              </a:rPr>
              <a:t>M7 – M12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18304" y="15727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200 abonnés actifs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18304" y="182880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Partenariats bancaires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718304" y="208483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Module analytics avancé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26864" y="2834640"/>
            <a:ext cx="1993392" cy="73152"/>
          </a:xfrm>
          <a:prstGeom prst="rect">
            <a:avLst/>
          </a:prstGeom>
          <a:solidFill>
            <a:srgbClr val="8A9BBF">
              <a:alpha val="40000"/>
            </a:srgbClr>
          </a:solidFill>
          <a:ln w="12700">
            <a:solidFill>
              <a:srgbClr val="8A9BBF">
                <a:alpha val="4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88936" y="2377440"/>
            <a:ext cx="329184" cy="329184"/>
          </a:xfrm>
          <a:prstGeom prst="ellipse">
            <a:avLst/>
          </a:prstGeom>
          <a:solidFill>
            <a:srgbClr val="8A9BBF"/>
          </a:solidFill>
          <a:ln w="12700">
            <a:solidFill>
              <a:srgbClr val="8A9B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57416" y="1188720"/>
            <a:ext cx="1993392" cy="1115568"/>
          </a:xfrm>
          <a:prstGeom prst="rect">
            <a:avLst/>
          </a:prstGeom>
          <a:solidFill>
            <a:srgbClr val="132038"/>
          </a:solidFill>
          <a:ln w="19050">
            <a:solidFill>
              <a:srgbClr val="8A9BB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757416" y="1188720"/>
            <a:ext cx="1993392" cy="347472"/>
          </a:xfrm>
          <a:prstGeom prst="rect">
            <a:avLst/>
          </a:prstGeom>
          <a:solidFill>
            <a:srgbClr val="8A9BBF"/>
          </a:solidFill>
          <a:ln w="12700">
            <a:solidFill>
              <a:srgbClr val="8A9BB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57416" y="1188720"/>
            <a:ext cx="118872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Phase 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946136" y="1188720"/>
            <a:ext cx="804672" cy="34747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BD5E8"/>
                </a:solidFill>
              </a:rPr>
              <a:t>An 2 – An 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848856" y="15727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600+ abonnés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48856" y="182880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Expansion régionale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48856" y="208483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8"/>
                </a:solidFill>
              </a:rPr>
              <a:t>• Levée de fonds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57416" y="2834640"/>
            <a:ext cx="1993392" cy="73152"/>
          </a:xfrm>
          <a:prstGeom prst="rect">
            <a:avLst/>
          </a:prstGeom>
          <a:solidFill>
            <a:srgbClr val="8A9BBF">
              <a:alpha val="40000"/>
            </a:srgbClr>
          </a:solidFill>
          <a:ln w="12700">
            <a:solidFill>
              <a:srgbClr val="8A9BBF">
                <a:alpha val="4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4320" y="3108960"/>
            <a:ext cx="8595360" cy="1737360"/>
          </a:xfrm>
          <a:prstGeom prst="rect">
            <a:avLst/>
          </a:prstGeom>
          <a:solidFill>
            <a:srgbClr val="132038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02920" y="3200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896"/>
                </a:solidFill>
              </a:rPr>
              <a:t>Prochains jalons prioritaires</a:t>
            </a:r>
            <a:endParaRPr lang="en-US" sz="1300" dirty="0"/>
          </a:p>
        </p:txBody>
      </p:sp>
      <p:pic>
        <p:nvPicPr>
          <p:cNvPr id="4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39312"/>
            <a:ext cx="182880" cy="182880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749808" y="3611880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8"/>
                </a:solidFill>
              </a:rPr>
              <a:t>Atteindre 5 commerçants pilotes supplémentaires d'ici 60 jours</a:t>
            </a:r>
            <a:endParaRPr lang="en-US" sz="1050" dirty="0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931920"/>
            <a:ext cx="182880" cy="182880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749808" y="390448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8"/>
                </a:solidFill>
              </a:rPr>
              <a:t>Signer un 1er partenariat avec une association PME camerounaise</a:t>
            </a:r>
            <a:endParaRPr lang="en-US" sz="1050" dirty="0"/>
          </a:p>
        </p:txBody>
      </p:sp>
      <p:pic>
        <p:nvPicPr>
          <p:cNvPr id="4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224528"/>
            <a:ext cx="182880" cy="182880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749808" y="4197096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8"/>
                </a:solidFill>
              </a:rPr>
              <a:t>Participer à 2 salons entrepreneurs avant fin 2025</a:t>
            </a:r>
            <a:endParaRPr lang="en-US" sz="1050" dirty="0"/>
          </a:p>
        </p:txBody>
      </p:sp>
      <p:pic>
        <p:nvPicPr>
          <p:cNvPr id="5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17136"/>
            <a:ext cx="182880" cy="182880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749808" y="4489704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8"/>
                </a:solidFill>
              </a:rPr>
              <a:t>Préparer un dossier d'investissement pour une levée de fonds amorçage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0C896"/>
                </a:solidFill>
              </a:rPr>
              <a:t>NOTRE ÉQUIPE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137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Jeunes, déterminés, ancrés dans la réalité camerounaise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1242" y="1124712"/>
            <a:ext cx="397764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170432"/>
            <a:ext cx="397764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74520" y="1325880"/>
            <a:ext cx="1051560" cy="1051560"/>
          </a:xfrm>
          <a:prstGeom prst="ellipse">
            <a:avLst/>
          </a:prstGeom>
          <a:solidFill>
            <a:srgbClr val="0A1628"/>
          </a:solidFill>
          <a:ln w="3175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13258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24871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B4A"/>
                </a:solidFill>
              </a:rPr>
              <a:t>AWALOU SADOU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234440" y="2871216"/>
            <a:ext cx="2331720" cy="2743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28712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</a:rPr>
              <a:t>Fondateur &amp; CEO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3182112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BBF"/>
                </a:solidFill>
              </a:rPr>
              <a:t>Licence </a:t>
            </a:r>
            <a:r>
              <a:rPr lang="en-US" sz="1000" i="1" dirty="0" err="1">
                <a:solidFill>
                  <a:srgbClr val="8A9BBF"/>
                </a:solidFill>
              </a:rPr>
              <a:t>en</a:t>
            </a:r>
            <a:r>
              <a:rPr lang="en-US" sz="1000" i="1" dirty="0">
                <a:solidFill>
                  <a:srgbClr val="8A9BBF"/>
                </a:solidFill>
              </a:rPr>
              <a:t> Physique </a:t>
            </a:r>
          </a:p>
          <a:p>
            <a:pPr algn="ctr"/>
            <a:r>
              <a:rPr lang="en-US" sz="1000" i="1" dirty="0">
                <a:solidFill>
                  <a:srgbClr val="8A9BBF"/>
                </a:solidFill>
              </a:rPr>
              <a:t>`BAC+2 </a:t>
            </a:r>
            <a:r>
              <a:rPr lang="en-US" sz="1000" i="1" dirty="0" err="1">
                <a:solidFill>
                  <a:srgbClr val="8A9BBF"/>
                </a:solidFill>
              </a:rPr>
              <a:t>Ingénieur</a:t>
            </a:r>
            <a:r>
              <a:rPr lang="en-US" sz="1000" i="1" dirty="0">
                <a:solidFill>
                  <a:srgbClr val="8A9BBF"/>
                </a:solidFill>
              </a:rPr>
              <a:t> des Travaux des </a:t>
            </a:r>
            <a:r>
              <a:rPr lang="en-US" sz="1000" i="1" dirty="0" err="1">
                <a:solidFill>
                  <a:srgbClr val="8A9BBF"/>
                </a:solidFill>
              </a:rPr>
              <a:t>Télécommunications</a:t>
            </a:r>
            <a:endParaRPr lang="en-US" sz="1000" dirty="0"/>
          </a:p>
          <a:p>
            <a:pPr marL="0" indent="0" algn="ctr">
              <a:buNone/>
            </a:pPr>
            <a:endParaRPr lang="en-US" sz="100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547872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1440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466"/>
                </a:solidFill>
              </a:rPr>
              <a:t>Vision produit &amp; stratégie</a:t>
            </a:r>
            <a:endParaRPr lang="en-US" sz="105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895344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1440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466"/>
                </a:solidFill>
              </a:rPr>
              <a:t>Management et business development</a:t>
            </a:r>
            <a:endParaRPr lang="en-US" sz="105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242816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14400" y="42153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466"/>
                </a:solidFill>
              </a:rPr>
              <a:t>Connaissance du marché local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846320" y="1170432"/>
            <a:ext cx="3977640" cy="37490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846320" y="1170432"/>
            <a:ext cx="39776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309360" y="1325880"/>
            <a:ext cx="1051560" cy="1051560"/>
          </a:xfrm>
          <a:prstGeom prst="ellipse">
            <a:avLst/>
          </a:prstGeom>
          <a:solidFill>
            <a:srgbClr val="0A1628"/>
          </a:solidFill>
          <a:ln w="31750">
            <a:solidFill>
              <a:srgbClr val="F5A6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309360" y="132588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A623"/>
                </a:solidFill>
              </a:rPr>
              <a:t>ED</a:t>
            </a:r>
            <a:endParaRPr lang="en-US" sz="2600" dirty="0"/>
          </a:p>
        </p:txBody>
      </p:sp>
      <p:sp>
        <p:nvSpPr>
          <p:cNvPr id="24" name="Text 19"/>
          <p:cNvSpPr/>
          <p:nvPr/>
        </p:nvSpPr>
        <p:spPr>
          <a:xfrm>
            <a:off x="4983480" y="248716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B4A"/>
                </a:solidFill>
              </a:rPr>
              <a:t>EBANA DTATO OTHNIEL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5669280" y="2871216"/>
            <a:ext cx="233172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669280" y="287121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</a:rPr>
              <a:t>Directeur Technique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3200400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BBF"/>
                </a:solidFill>
              </a:rPr>
              <a:t>BAC+2 </a:t>
            </a:r>
            <a:r>
              <a:rPr lang="en-US" sz="1000" i="1" dirty="0" err="1">
                <a:solidFill>
                  <a:srgbClr val="8A9BBF"/>
                </a:solidFill>
              </a:rPr>
              <a:t>Ingénieur</a:t>
            </a:r>
            <a:r>
              <a:rPr lang="en-US" sz="1000" i="1" dirty="0">
                <a:solidFill>
                  <a:srgbClr val="8A9BBF"/>
                </a:solidFill>
              </a:rPr>
              <a:t> des Travaux des </a:t>
            </a:r>
            <a:r>
              <a:rPr lang="en-US" sz="1000" i="1" dirty="0" err="1">
                <a:solidFill>
                  <a:srgbClr val="8A9BBF"/>
                </a:solidFill>
              </a:rPr>
              <a:t>Télécommunications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3547872"/>
            <a:ext cx="182880" cy="1828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349240" y="3520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466"/>
                </a:solidFill>
              </a:rPr>
              <a:t>Architecture plateforme</a:t>
            </a:r>
            <a:endParaRPr lang="en-US" sz="10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3895344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34924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466"/>
                </a:solidFill>
              </a:rPr>
              <a:t>Développement &amp; intégrations</a:t>
            </a:r>
            <a:endParaRPr lang="en-US" sz="105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4242816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349240" y="42153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466"/>
                </a:solidFill>
              </a:rPr>
              <a:t>Systèmes GPS et Mobile Money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solidFill>
            <a:srgbClr val="FEF9E7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411480" y="47548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D5A00"/>
                </a:solidFill>
              </a:rPr>
              <a:t>🚀  Nous cherchons un(e) commercial(e) terrain et un(e) développeur(se) mobile pour rejoindre l'aventure !</a:t>
            </a:r>
            <a:endParaRPr lang="en-US" sz="950" dirty="0"/>
          </a:p>
        </p:txBody>
      </p:sp>
      <p:pic>
        <p:nvPicPr>
          <p:cNvPr id="37" name="Image 36">
            <a:extLst>
              <a:ext uri="{FF2B5EF4-FFF2-40B4-BE49-F238E27FC236}">
                <a16:creationId xmlns:a16="http://schemas.microsoft.com/office/drawing/2014/main" id="{86CEEDF6-D983-4FC1-B650-4E56BE5414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720" y="1297861"/>
            <a:ext cx="1170114" cy="1080167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B56E032F-8942-2A1C-E61D-4070C963F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040" y="1286392"/>
            <a:ext cx="1092200" cy="10978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C896">
              <a:alpha val="8000"/>
            </a:srgbClr>
          </a:solidFill>
          <a:ln w="12700">
            <a:solidFill>
              <a:srgbClr val="00C89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286000"/>
            <a:ext cx="3657600" cy="3657600"/>
          </a:xfrm>
          <a:prstGeom prst="ellipse">
            <a:avLst/>
          </a:prstGeom>
          <a:solidFill>
            <a:srgbClr val="F5A623">
              <a:alpha val="8000"/>
            </a:srgbClr>
          </a:solidFill>
          <a:ln w="12700">
            <a:solidFill>
              <a:srgbClr val="F5A623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91840" y="320040"/>
            <a:ext cx="2560320" cy="34747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91840" y="3200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A1628"/>
                </a:solidFill>
              </a:rPr>
              <a:t>PASSEZ À L'ACTION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841248"/>
            <a:ext cx="8138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Rejoignez la révolution</a:t>
            </a:r>
            <a:endParaRPr lang="en-US" sz="3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</a:rPr>
              <a:t>du commerce camerounais.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02920" y="2468880"/>
            <a:ext cx="2542032" cy="1078992"/>
          </a:xfrm>
          <a:prstGeom prst="rect">
            <a:avLst/>
          </a:prstGeom>
          <a:solidFill>
            <a:srgbClr val="132038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336" y="2578608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30632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Cible claire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333756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BBF"/>
                </a:solidFill>
              </a:rPr>
              <a:t>77% de l'éco. camerounaise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73552" y="2468880"/>
            <a:ext cx="2542032" cy="1078992"/>
          </a:xfrm>
          <a:prstGeom prst="rect">
            <a:avLst/>
          </a:prstGeom>
          <a:solidFill>
            <a:srgbClr val="132038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2578608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73552" y="30632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Solution unique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273552" y="333756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BBF"/>
                </a:solidFill>
              </a:rPr>
              <a:t>Catalogue, paiements, GPS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44184" y="2468880"/>
            <a:ext cx="2542032" cy="1078992"/>
          </a:xfrm>
          <a:prstGeom prst="rect">
            <a:avLst/>
          </a:prstGeom>
          <a:solidFill>
            <a:srgbClr val="132038"/>
          </a:solidFill>
          <a:ln w="12700">
            <a:solidFill>
              <a:srgbClr val="00C89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578608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044184" y="30632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Modèle rentable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044184" y="333756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A9BBF"/>
                </a:solidFill>
              </a:rPr>
              <a:t>Dès 5 000 FCFA/mois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02920" y="3730752"/>
            <a:ext cx="8138160" cy="530352"/>
          </a:xfrm>
          <a:prstGeom prst="rect">
            <a:avLst/>
          </a:prstGeom>
          <a:solidFill>
            <a:srgbClr val="00C896">
              <a:alpha val="85000"/>
            </a:srgbClr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02920" y="3730752"/>
            <a:ext cx="8138160" cy="53035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FFFFF"/>
                </a:solidFill>
              </a:rPr>
              <a:t>De la visibilité dispersée à une gestion professionnelle et performante — c'est notre mission.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440740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dirty="0">
                <a:solidFill>
                  <a:srgbClr val="CBD5E8"/>
                </a:solidFill>
              </a:rPr>
              <a:t>📧  deltasaas2026@gmail.com     📱  +237 673003112     🌐  </a:t>
            </a:r>
            <a:r>
              <a:rPr lang="fr-CM" sz="1100" dirty="0">
                <a:solidFill>
                  <a:schemeClr val="bg1"/>
                </a:solidFill>
                <a:hlinkClick r:id="rId6"/>
              </a:rPr>
              <a:t>www.linkedin.com/in/sadou-awalou-9232ab40a</a:t>
            </a:r>
            <a:endParaRPr lang="fr-CM" sz="1100" dirty="0">
              <a:solidFill>
                <a:schemeClr val="bg1"/>
              </a:solidFill>
            </a:endParaRPr>
          </a:p>
          <a:p>
            <a:pPr algn="ctr"/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946</Words>
  <Application>Microsoft Office PowerPoint</Application>
  <PresentationFormat>Affichage à l'écran (16:9)</PresentationFormat>
  <Paragraphs>213</Paragraphs>
  <Slides>14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2" baseType="lpstr">
      <vt:lpstr>Arial</vt:lpstr>
      <vt:lpstr>Arial Black</vt:lpstr>
      <vt:lpstr>Bahnschrift</vt:lpstr>
      <vt:lpstr>Berlin Sans FB</vt:lpstr>
      <vt:lpstr>Calibri</vt:lpstr>
      <vt:lpstr>Calisto MT</vt:lpstr>
      <vt:lpstr>Gabriola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 la Visibilité à la Performance – Delta SaaS</dc:title>
  <dc:subject>PptxGenJS Presentation</dc:subject>
  <dc:creator>Delta SaaS</dc:creator>
  <cp:lastModifiedBy>AWALOU SADOU</cp:lastModifiedBy>
  <cp:revision>24</cp:revision>
  <dcterms:created xsi:type="dcterms:W3CDTF">2026-05-16T14:13:17Z</dcterms:created>
  <dcterms:modified xsi:type="dcterms:W3CDTF">2026-05-16T16:22:39Z</dcterms:modified>
</cp:coreProperties>
</file>