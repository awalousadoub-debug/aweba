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8" r:id="rId4"/>
  </p:sldMasterIdLst>
  <p:notesMasterIdLst>
    <p:notesMasterId r:id="rId18"/>
  </p:notesMasterIdLst>
  <p:sldIdLst>
    <p:sldId id="459" r:id="rId5"/>
    <p:sldId id="475" r:id="rId6"/>
    <p:sldId id="476" r:id="rId7"/>
    <p:sldId id="462" r:id="rId8"/>
    <p:sldId id="463" r:id="rId9"/>
    <p:sldId id="464" r:id="rId10"/>
    <p:sldId id="466" r:id="rId11"/>
    <p:sldId id="465" r:id="rId12"/>
    <p:sldId id="467" r:id="rId13"/>
    <p:sldId id="468" r:id="rId14"/>
    <p:sldId id="469" r:id="rId15"/>
    <p:sldId id="474" r:id="rId16"/>
    <p:sldId id="477" r:id="rId17"/>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ossier candidature Orange Fab" id="{A3134A67-E28C-444C-B76D-8D440F66C659}">
          <p14:sldIdLst>
            <p14:sldId id="459"/>
            <p14:sldId id="475"/>
            <p14:sldId id="476"/>
            <p14:sldId id="462"/>
            <p14:sldId id="463"/>
            <p14:sldId id="464"/>
            <p14:sldId id="466"/>
            <p14:sldId id="465"/>
            <p14:sldId id="467"/>
            <p14:sldId id="468"/>
            <p14:sldId id="469"/>
            <p14:sldId id="474"/>
            <p14:sldId id="477"/>
          </p14:sldIdLst>
        </p14:section>
      </p14:sectionLst>
    </p:ext>
    <p:ext uri="{EFAFB233-063F-42B5-8137-9DF3F51BA10A}">
      <p15:sldGuideLst xmlns:p15="http://schemas.microsoft.com/office/powerpoint/2012/main">
        <p15:guide id="9" orient="horz" pos="169">
          <p15:clr>
            <a:srgbClr val="A4A3A4"/>
          </p15:clr>
        </p15:guide>
        <p15:guide id="10" pos="2880">
          <p15:clr>
            <a:srgbClr val="A4A3A4"/>
          </p15:clr>
        </p15:guide>
        <p15:guide id="11" orient="horz" pos="636" userDrawn="1">
          <p15:clr>
            <a:srgbClr val="A4A3A4"/>
          </p15:clr>
        </p15:guide>
        <p15:guide id="12" orient="horz" pos="744" userDrawn="1">
          <p15:clr>
            <a:srgbClr val="A4A3A4"/>
          </p15:clr>
        </p15:guide>
        <p15:guide id="13" orient="horz" pos="1621" userDrawn="1">
          <p15:clr>
            <a:srgbClr val="A4A3A4"/>
          </p15:clr>
        </p15:guide>
        <p15:guide id="14" orient="horz" pos="2867" userDrawn="1">
          <p15:clr>
            <a:srgbClr val="A4A3A4"/>
          </p15:clr>
        </p15:guide>
        <p15:guide id="15" pos="198" userDrawn="1">
          <p15:clr>
            <a:srgbClr val="A4A3A4"/>
          </p15:clr>
        </p15:guide>
        <p15:guide id="16" pos="5562" userDrawn="1">
          <p15:clr>
            <a:srgbClr val="A4A3A4"/>
          </p15:clr>
        </p15:guide>
        <p15:guide id="17" orient="horz" pos="162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7900"/>
    <a:srgbClr val="595959"/>
    <a:srgbClr val="D6D6D6"/>
    <a:srgbClr val="B5E8F7"/>
    <a:srgbClr val="0A6E31"/>
    <a:srgbClr val="FFB400"/>
    <a:srgbClr val="714E46"/>
    <a:srgbClr val="482E26"/>
    <a:srgbClr val="C19372"/>
    <a:srgbClr val="FFF6B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10675" autoAdjust="0"/>
    <p:restoredTop sz="97331" autoAdjust="0"/>
  </p:normalViewPr>
  <p:slideViewPr>
    <p:cSldViewPr showGuides="1">
      <p:cViewPr varScale="1">
        <p:scale>
          <a:sx n="84" d="100"/>
          <a:sy n="84" d="100"/>
        </p:scale>
        <p:origin x="76" y="288"/>
      </p:cViewPr>
      <p:guideLst>
        <p:guide orient="horz" pos="169"/>
        <p:guide pos="2880"/>
        <p:guide orient="horz" pos="636"/>
        <p:guide orient="horz" pos="744"/>
        <p:guide orient="horz" pos="1621"/>
        <p:guide orient="horz" pos="2867"/>
        <p:guide pos="198"/>
        <p:guide pos="5562"/>
        <p:guide orient="horz" pos="1620"/>
      </p:guideLst>
    </p:cSldViewPr>
  </p:slideViewPr>
  <p:outlineViewPr>
    <p:cViewPr>
      <p:scale>
        <a:sx n="33" d="100"/>
        <a:sy n="33" d="100"/>
      </p:scale>
      <p:origin x="0" y="0"/>
    </p:cViewPr>
  </p:outlineViewPr>
  <p:notesTextViewPr>
    <p:cViewPr>
      <p:scale>
        <a:sx n="1" d="1"/>
        <a:sy n="1" d="1"/>
      </p:scale>
      <p:origin x="0" y="0"/>
    </p:cViewPr>
  </p:notesTextViewPr>
  <p:sorterViewPr>
    <p:cViewPr>
      <p:scale>
        <a:sx n="74" d="100"/>
        <a:sy n="74" d="100"/>
      </p:scale>
      <p:origin x="0" y="6114"/>
    </p:cViewPr>
  </p:sorterViewPr>
  <p:notesViewPr>
    <p:cSldViewPr showGuides="1">
      <p:cViewPr varScale="1">
        <p:scale>
          <a:sx n="83" d="100"/>
          <a:sy n="83" d="100"/>
        </p:scale>
        <p:origin x="3852"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GB"/>
          </a:p>
        </p:txBody>
      </p:sp>
      <p:sp>
        <p:nvSpPr>
          <p:cNvPr id="8"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Helvetica 55 Roman" panose="020B0604020202020204" pitchFamily="34" charset="0"/>
              </a:defRPr>
            </a:lvl1pPr>
          </a:lstStyle>
          <a:p>
            <a:endParaRPr lang="en-GB" dirty="0"/>
          </a:p>
        </p:txBody>
      </p:sp>
      <p:sp>
        <p:nvSpPr>
          <p:cNvPr id="9"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Helvetica 55 Roman" panose="020B0604020202020204" pitchFamily="34" charset="0"/>
              </a:defRPr>
            </a:lvl1pPr>
          </a:lstStyle>
          <a:p>
            <a:fld id="{14F63557-65CD-470F-8999-4C3C411BE899}" type="datetimeFigureOut">
              <a:rPr lang="en-GB" smtClean="0"/>
              <a:pPr/>
              <a:t>14/04/2026</a:t>
            </a:fld>
            <a:endParaRPr lang="en-GB"/>
          </a:p>
        </p:txBody>
      </p:sp>
      <p:sp>
        <p:nvSpPr>
          <p:cNvPr id="10" name="Notes Placeholder 4"/>
          <p:cNvSpPr>
            <a:spLocks noGrp="1"/>
          </p:cNvSpPr>
          <p:nvPr>
            <p:ph type="body" sz="quarter" idx="3"/>
          </p:nvPr>
        </p:nvSpPr>
        <p:spPr>
          <a:xfrm>
            <a:off x="381000" y="4343400"/>
            <a:ext cx="6096000" cy="4114800"/>
          </a:xfrm>
          <a:prstGeom prst="rect">
            <a:avLst/>
          </a:prstGeom>
        </p:spPr>
        <p:txBody>
          <a:bodyPr vert="horz" lIns="91440" tIns="45720" rIns="180000" bIns="45720" rtlCol="0"/>
          <a:lstStyle/>
          <a:p>
            <a:pPr marL="92075"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Helvetica 75 Bold" panose="020B0804020202020204" pitchFamily="34" charset="0"/>
                <a:ea typeface="+mn-ea"/>
                <a:cs typeface="+mn-cs"/>
              </a:rPr>
              <a:t>Click to edit Master text styles</a:t>
            </a:r>
          </a:p>
          <a:p>
            <a:pPr marL="230188" marR="0" lvl="1" indent="-138113"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000" b="0" i="0" u="none" strike="noStrike" kern="1200" cap="none" spc="0" normalizeH="0" baseline="0" noProof="0" dirty="0">
                <a:ln>
                  <a:noFill/>
                </a:ln>
                <a:solidFill>
                  <a:prstClr val="black"/>
                </a:solidFill>
                <a:effectLst/>
                <a:uLnTx/>
                <a:uFillTx/>
                <a:latin typeface="Helvetica 75 Bold" panose="020B0804020202020204" pitchFamily="34" charset="0"/>
                <a:ea typeface="+mn-ea"/>
                <a:cs typeface="+mn-cs"/>
              </a:rPr>
              <a:t>Second level</a:t>
            </a:r>
          </a:p>
          <a:p>
            <a:pPr marL="360363" marR="0" lvl="2" indent="-147638" algn="l" defTabSz="914400" rtl="0" eaLnBrk="1" fontAlgn="auto" latinLnBrk="0" hangingPunct="1">
              <a:lnSpc>
                <a:spcPct val="100000"/>
              </a:lnSpc>
              <a:spcBef>
                <a:spcPts val="0"/>
              </a:spcBef>
              <a:spcAft>
                <a:spcPts val="0"/>
              </a:spcAft>
              <a:buClrTx/>
              <a:buSzTx/>
              <a:buFont typeface="Helvetica 55 Roman"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Helvetica 55 Roman" panose="020B0604020202020204" pitchFamily="34" charset="0"/>
                <a:ea typeface="+mn-ea"/>
                <a:cs typeface="+mn-cs"/>
              </a:rPr>
              <a:t>Third level</a:t>
            </a:r>
          </a:p>
          <a:p>
            <a:pPr marL="522288" marR="0" lvl="3" indent="-138113" algn="l" defTabSz="914400" rtl="0" eaLnBrk="1" fontAlgn="auto" latinLnBrk="0" hangingPunct="1">
              <a:lnSpc>
                <a:spcPct val="100000"/>
              </a:lnSpc>
              <a:spcBef>
                <a:spcPts val="0"/>
              </a:spcBef>
              <a:spcAft>
                <a:spcPts val="0"/>
              </a:spcAft>
              <a:buClrTx/>
              <a:buSzTx/>
              <a:buFont typeface="Helvetica 55 Roman"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Helvetica 55 Roman" panose="020B0604020202020204" pitchFamily="34" charset="0"/>
                <a:ea typeface="+mn-ea"/>
                <a:cs typeface="+mn-cs"/>
              </a:rPr>
              <a:t>Fourth level</a:t>
            </a:r>
          </a:p>
          <a:p>
            <a:pPr marL="668338" marR="0" lvl="4" indent="-146050" algn="l" defTabSz="914400" rtl="0" eaLnBrk="1" fontAlgn="auto" latinLnBrk="0" hangingPunct="1">
              <a:lnSpc>
                <a:spcPct val="100000"/>
              </a:lnSpc>
              <a:spcBef>
                <a:spcPts val="0"/>
              </a:spcBef>
              <a:spcAft>
                <a:spcPts val="0"/>
              </a:spcAft>
              <a:buClrTx/>
              <a:buSzTx/>
              <a:buFont typeface="Helvetica 55 Roman"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Helvetica 55 Roman" panose="020B0604020202020204" pitchFamily="34" charset="0"/>
                <a:ea typeface="+mn-ea"/>
                <a:cs typeface="+mn-cs"/>
              </a:rPr>
              <a:t>Fifth level</a:t>
            </a:r>
            <a:endParaRPr kumimoji="0" lang="en-GB" sz="1000" b="0" i="0" u="none" strike="noStrike" kern="1200" cap="none" spc="0" normalizeH="0" baseline="0" noProof="0" dirty="0">
              <a:ln>
                <a:noFill/>
              </a:ln>
              <a:solidFill>
                <a:prstClr val="black"/>
              </a:solidFill>
              <a:effectLst/>
              <a:uLnTx/>
              <a:uFillTx/>
              <a:latin typeface="Helvetica 55 Roman" panose="020B0604020202020204" pitchFamily="34" charset="0"/>
              <a:ea typeface="+mn-ea"/>
              <a:cs typeface="+mn-cs"/>
            </a:endParaRPr>
          </a:p>
        </p:txBody>
      </p:sp>
      <p:sp>
        <p:nvSpPr>
          <p:cNvPr id="11"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Helvetica 55 Roman" panose="020B0604020202020204" pitchFamily="34" charset="0"/>
              </a:defRPr>
            </a:lvl1pPr>
          </a:lstStyle>
          <a:p>
            <a:endParaRPr lang="en-GB"/>
          </a:p>
        </p:txBody>
      </p:sp>
      <p:sp>
        <p:nvSpPr>
          <p:cNvPr id="12"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Helvetica 55 Roman" panose="020B0604020202020204" pitchFamily="34" charset="0"/>
              </a:defRPr>
            </a:lvl1pPr>
          </a:lstStyle>
          <a:p>
            <a:fld id="{885932DF-9606-4758-A2B5-AF1153FB1ABB}" type="slidenum">
              <a:rPr lang="en-GB" smtClean="0"/>
              <a:pPr/>
              <a:t>‹N°›</a:t>
            </a:fld>
            <a:endParaRPr lang="en-GB"/>
          </a:p>
        </p:txBody>
      </p:sp>
    </p:spTree>
    <p:extLst>
      <p:ext uri="{BB962C8B-B14F-4D97-AF65-F5344CB8AC3E}">
        <p14:creationId xmlns:p14="http://schemas.microsoft.com/office/powerpoint/2010/main" val="1938228746"/>
      </p:ext>
    </p:extLst>
  </p:cSld>
  <p:clrMap bg1="lt1" tx1="dk1" bg2="lt2" tx2="dk2" accent1="accent1" accent2="accent2" accent3="accent3" accent4="accent4" accent5="accent5" accent6="accent6" hlink="hlink" folHlink="folHlink"/>
  <p:notesStyle>
    <a:lvl1pPr marL="92075" marR="0" indent="0" algn="l" defTabSz="914400" rtl="0" eaLnBrk="1" fontAlgn="auto" latinLnBrk="0" hangingPunct="1">
      <a:lnSpc>
        <a:spcPct val="100000"/>
      </a:lnSpc>
      <a:spcBef>
        <a:spcPts val="0"/>
      </a:spcBef>
      <a:spcAft>
        <a:spcPts val="0"/>
      </a:spcAft>
      <a:buClrTx/>
      <a:buSzTx/>
      <a:buFontTx/>
      <a:buNone/>
      <a:tabLst/>
      <a:defRPr sz="1000" kern="1200">
        <a:solidFill>
          <a:schemeClr val="tx1"/>
        </a:solidFill>
        <a:latin typeface="Helvetica 75 Bold" panose="020B0804020202020204" pitchFamily="34" charset="0"/>
        <a:ea typeface="+mn-ea"/>
        <a:cs typeface="+mn-cs"/>
      </a:defRPr>
    </a:lvl1pPr>
    <a:lvl2pPr marL="230188" marR="0" indent="-138113"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sz="1000" kern="1200">
        <a:solidFill>
          <a:schemeClr val="tx1"/>
        </a:solidFill>
        <a:latin typeface="Helvetica 75 Bold" panose="020B0804020202020204" pitchFamily="34" charset="0"/>
        <a:ea typeface="+mn-ea"/>
        <a:cs typeface="+mn-cs"/>
      </a:defRPr>
    </a:lvl2pPr>
    <a:lvl3pPr marL="360363" marR="0" indent="-147638" algn="l" defTabSz="914400" rtl="0" eaLnBrk="1" fontAlgn="auto" latinLnBrk="0" hangingPunct="1">
      <a:lnSpc>
        <a:spcPct val="100000"/>
      </a:lnSpc>
      <a:spcBef>
        <a:spcPts val="0"/>
      </a:spcBef>
      <a:spcAft>
        <a:spcPts val="0"/>
      </a:spcAft>
      <a:buClrTx/>
      <a:buSzTx/>
      <a:buFont typeface="Helvetica 55 Roman" panose="020B0604020202020204" pitchFamily="34" charset="0"/>
      <a:buChar char="–"/>
      <a:tabLst/>
      <a:defRPr sz="1000" kern="1200">
        <a:solidFill>
          <a:schemeClr val="tx1"/>
        </a:solidFill>
        <a:latin typeface="Helvetica 75 Bold" panose="020B0804020202020204" pitchFamily="34" charset="0"/>
        <a:ea typeface="+mn-ea"/>
        <a:cs typeface="+mn-cs"/>
      </a:defRPr>
    </a:lvl3pPr>
    <a:lvl4pPr marL="522288" marR="0" indent="-138113" algn="l" defTabSz="914400" rtl="0" eaLnBrk="1" fontAlgn="auto" latinLnBrk="0" hangingPunct="1">
      <a:lnSpc>
        <a:spcPct val="100000"/>
      </a:lnSpc>
      <a:spcBef>
        <a:spcPts val="0"/>
      </a:spcBef>
      <a:spcAft>
        <a:spcPts val="0"/>
      </a:spcAft>
      <a:buClrTx/>
      <a:buSzTx/>
      <a:buFont typeface="Helvetica 55 Roman" panose="020B0604020202020204" pitchFamily="34" charset="0"/>
      <a:buChar char="–"/>
      <a:tabLst/>
      <a:defRPr sz="1000" kern="1200">
        <a:solidFill>
          <a:schemeClr val="tx1"/>
        </a:solidFill>
        <a:latin typeface="Helvetica 75 Bold" panose="020B0804020202020204" pitchFamily="34" charset="0"/>
        <a:ea typeface="+mn-ea"/>
        <a:cs typeface="+mn-cs"/>
      </a:defRPr>
    </a:lvl4pPr>
    <a:lvl5pPr marL="668338" marR="0" indent="-146050" algn="l" defTabSz="914400" rtl="0" eaLnBrk="1" fontAlgn="auto" latinLnBrk="0" hangingPunct="1">
      <a:lnSpc>
        <a:spcPct val="100000"/>
      </a:lnSpc>
      <a:spcBef>
        <a:spcPts val="0"/>
      </a:spcBef>
      <a:spcAft>
        <a:spcPts val="0"/>
      </a:spcAft>
      <a:buClrTx/>
      <a:buSzTx/>
      <a:buFont typeface="Helvetica 55 Roman" panose="020B0604020202020204" pitchFamily="34" charset="0"/>
      <a:buChar char="–"/>
      <a:tabLst/>
      <a:defRPr sz="1000" kern="1200">
        <a:solidFill>
          <a:schemeClr val="tx1"/>
        </a:solidFill>
        <a:latin typeface="Helvetica 75 Bold" panose="020B08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M"/>
          </a:p>
        </p:txBody>
      </p:sp>
      <p:sp>
        <p:nvSpPr>
          <p:cNvPr id="4" name="Espace réservé du numéro de diapositive 3"/>
          <p:cNvSpPr>
            <a:spLocks noGrp="1"/>
          </p:cNvSpPr>
          <p:nvPr>
            <p:ph type="sldNum" sz="quarter" idx="5"/>
          </p:nvPr>
        </p:nvSpPr>
        <p:spPr/>
        <p:txBody>
          <a:bodyPr/>
          <a:lstStyle/>
          <a:p>
            <a:fld id="{885932DF-9606-4758-A2B5-AF1153FB1ABB}" type="slidenum">
              <a:rPr lang="en-GB" smtClean="0"/>
              <a:pPr/>
              <a:t>1</a:t>
            </a:fld>
            <a:endParaRPr lang="en-GB"/>
          </a:p>
        </p:txBody>
      </p:sp>
    </p:spTree>
    <p:extLst>
      <p:ext uri="{BB962C8B-B14F-4D97-AF65-F5344CB8AC3E}">
        <p14:creationId xmlns:p14="http://schemas.microsoft.com/office/powerpoint/2010/main" val="10382311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14326" y="1181101"/>
            <a:ext cx="8515350" cy="3370262"/>
          </a:xfrm>
        </p:spPr>
        <p:txBody>
          <a:bodyPr/>
          <a:lstStyle>
            <a:lvl1pPr>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lvl6pPr>
          </a:lstStyle>
          <a:p>
            <a:pPr lvl="0"/>
            <a:r>
              <a:rPr lang="fr-FR" noProof="0" dirty="0"/>
              <a:t>Cliquez pour modifier le texte</a:t>
            </a:r>
          </a:p>
          <a:p>
            <a:pPr lvl="1"/>
            <a:r>
              <a:rPr lang="fr-FR" noProof="0" dirty="0"/>
              <a:t>Deuxième niveau</a:t>
            </a:r>
          </a:p>
          <a:p>
            <a:pPr lvl="2"/>
            <a:r>
              <a:rPr lang="fr-FR" noProof="0" dirty="0"/>
              <a:t>Troisième niveau</a:t>
            </a:r>
          </a:p>
          <a:p>
            <a:pPr lvl="3"/>
            <a:r>
              <a:rPr lang="fr-FR" noProof="0" dirty="0"/>
              <a:t>Quatrième niveau</a:t>
            </a:r>
          </a:p>
          <a:p>
            <a:pPr lvl="4"/>
            <a:r>
              <a:rPr lang="fr-FR" noProof="0" dirty="0"/>
              <a:t>Cinquième niveau</a:t>
            </a:r>
          </a:p>
          <a:p>
            <a:pPr lvl="5"/>
            <a:r>
              <a:rPr lang="fr-FR" noProof="0" dirty="0"/>
              <a:t>Sixième niveau</a:t>
            </a:r>
          </a:p>
        </p:txBody>
      </p:sp>
      <p:sp>
        <p:nvSpPr>
          <p:cNvPr id="2" name="Title 1"/>
          <p:cNvSpPr>
            <a:spLocks noGrp="1"/>
          </p:cNvSpPr>
          <p:nvPr>
            <p:ph type="title" hasCustomPrompt="1"/>
          </p:nvPr>
        </p:nvSpPr>
        <p:spPr/>
        <p:txBody>
          <a:bodyPr/>
          <a:lstStyle>
            <a:lvl1pPr>
              <a:defRPr/>
            </a:lvl1pPr>
          </a:lstStyle>
          <a:p>
            <a:r>
              <a:rPr lang="fr-FR" noProof="0" dirty="0"/>
              <a:t>Cliquez pour modifier le titre</a:t>
            </a:r>
          </a:p>
        </p:txBody>
      </p:sp>
    </p:spTree>
    <p:extLst>
      <p:ext uri="{BB962C8B-B14F-4D97-AF65-F5344CB8AC3E}">
        <p14:creationId xmlns:p14="http://schemas.microsoft.com/office/powerpoint/2010/main" val="20353004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13535" y="267618"/>
            <a:ext cx="4829289" cy="2304131"/>
          </a:xfrm>
        </p:spPr>
        <p:txBody>
          <a:bodyPr>
            <a:noAutofit/>
          </a:bodyPr>
          <a:lstStyle>
            <a:lvl1pPr algn="l">
              <a:lnSpc>
                <a:spcPct val="85000"/>
              </a:lnSpc>
              <a:defRPr sz="5500" baseline="0">
                <a:solidFill>
                  <a:schemeClr val="tx1"/>
                </a:solidFill>
              </a:defRPr>
            </a:lvl1pPr>
          </a:lstStyle>
          <a:p>
            <a:r>
              <a:rPr lang="fr-FR" noProof="0" dirty="0"/>
              <a:t>Cliquez pour modifier le titre</a:t>
            </a:r>
          </a:p>
        </p:txBody>
      </p:sp>
      <p:sp>
        <p:nvSpPr>
          <p:cNvPr id="17" name="Text Placeholder 17"/>
          <p:cNvSpPr>
            <a:spLocks noGrp="1"/>
          </p:cNvSpPr>
          <p:nvPr>
            <p:ph type="body" sz="quarter" idx="16" hasCustomPrompt="1"/>
          </p:nvPr>
        </p:nvSpPr>
        <p:spPr>
          <a:xfrm>
            <a:off x="5800726" y="266701"/>
            <a:ext cx="3028950" cy="3403600"/>
          </a:xfrm>
        </p:spPr>
        <p:txBody>
          <a:bodyPr/>
          <a:lstStyle>
            <a:lvl1pPr>
              <a:defRPr/>
            </a:lvl1pPr>
          </a:lstStyle>
          <a:p>
            <a:pPr lvl="0"/>
            <a:r>
              <a:rPr lang="fr-FR" noProof="0" dirty="0"/>
              <a:t>Cliquez pour modifier le texte</a:t>
            </a:r>
          </a:p>
          <a:p>
            <a:pPr lvl="1"/>
            <a:r>
              <a:rPr lang="fr-FR" noProof="0" dirty="0"/>
              <a:t>Deuxième niveau</a:t>
            </a:r>
          </a:p>
        </p:txBody>
      </p:sp>
      <p:sp>
        <p:nvSpPr>
          <p:cNvPr id="16" name="Subtitle 2"/>
          <p:cNvSpPr>
            <a:spLocks noGrp="1"/>
          </p:cNvSpPr>
          <p:nvPr>
            <p:ph type="subTitle" idx="1" hasCustomPrompt="1"/>
          </p:nvPr>
        </p:nvSpPr>
        <p:spPr>
          <a:xfrm>
            <a:off x="314325" y="2704144"/>
            <a:ext cx="4827547" cy="966156"/>
          </a:xfrm>
        </p:spPr>
        <p:txBody>
          <a:bodyPr/>
          <a:lstStyle>
            <a:lvl1pPr marL="0" indent="0" algn="l">
              <a:buNone/>
              <a:defRPr baseline="0">
                <a:solidFill>
                  <a:schemeClr val="tx1"/>
                </a:solidFill>
              </a:defRPr>
            </a:lvl1pPr>
            <a:lvl2pPr marL="180975" indent="-180975" algn="l">
              <a:buClr>
                <a:schemeClr val="bg2"/>
              </a:buClr>
              <a:buSzPct val="100000"/>
              <a:buFont typeface="Wingdings" panose="05000000000000000000" pitchFamily="2" charset="2"/>
              <a:buChar char="§"/>
              <a:defRPr>
                <a:solidFill>
                  <a:schemeClr val="tx1"/>
                </a:solidFill>
              </a:defRPr>
            </a:lvl2pPr>
            <a:lvl3pPr marL="406800" indent="-190800" algn="l">
              <a:spcBef>
                <a:spcPts val="336"/>
              </a:spcBef>
              <a:buClrTx/>
              <a:buFont typeface="Helvetica 55 Roman" panose="020B0604020202020204" pitchFamily="34" charset="0"/>
              <a:buChar char="–"/>
              <a:defRPr>
                <a:solidFill>
                  <a:schemeClr val="tx1"/>
                </a:solidFill>
                <a:latin typeface="Helvetica 55 Roman" panose="020B0604020202020204" pitchFamily="34" charset="0"/>
              </a:defRPr>
            </a:lvl3pPr>
            <a:lvl4pPr marL="594000" indent="-172800" algn="l">
              <a:spcBef>
                <a:spcPts val="24"/>
              </a:spcBef>
              <a:buFont typeface="Helvetica 55 Roman" panose="020B0604020202020204" pitchFamily="34" charset="0"/>
              <a:buChar char="–"/>
              <a:defRPr>
                <a:solidFill>
                  <a:schemeClr val="tx1"/>
                </a:solidFill>
              </a:defRPr>
            </a:lvl4pPr>
            <a:lvl5pPr marL="799200" indent="-190800" algn="l">
              <a:buFont typeface="Helvetica 55 Roman" panose="020B0604020202020204" pitchFamily="34" charset="0"/>
              <a:buChar char="–"/>
              <a:defRPr>
                <a:solidFill>
                  <a:schemeClr val="tx1"/>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noProof="0" dirty="0"/>
              <a:t>Cliquez pour modifier le nom du présentateur</a:t>
            </a:r>
          </a:p>
        </p:txBody>
      </p:sp>
      <p:pic>
        <p:nvPicPr>
          <p:cNvPr id="15" name="Picture 2" descr="C:\Users\mcf_vie\Desktop\Communication\Logo Orange Fab Madagascar\O fab-02.png"/>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l="5143" t="12799" r="-2881" b="14512"/>
          <a:stretch/>
        </p:blipFill>
        <p:spPr bwMode="auto">
          <a:xfrm>
            <a:off x="133350" y="4057650"/>
            <a:ext cx="2533650" cy="942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7094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ommaire">
    <p:spTree>
      <p:nvGrpSpPr>
        <p:cNvPr id="1" name=""/>
        <p:cNvGrpSpPr/>
        <p:nvPr/>
      </p:nvGrpSpPr>
      <p:grpSpPr>
        <a:xfrm>
          <a:off x="0" y="0"/>
          <a:ext cx="0" cy="0"/>
          <a:chOff x="0" y="0"/>
          <a:chExt cx="0" cy="0"/>
        </a:xfrm>
      </p:grpSpPr>
      <p:sp>
        <p:nvSpPr>
          <p:cNvPr id="5" name="Content Placeholder 2"/>
          <p:cNvSpPr>
            <a:spLocks noGrp="1"/>
          </p:cNvSpPr>
          <p:nvPr>
            <p:ph idx="1" hasCustomPrompt="1"/>
          </p:nvPr>
        </p:nvSpPr>
        <p:spPr>
          <a:xfrm>
            <a:off x="314325" y="267494"/>
            <a:ext cx="8515349" cy="4283869"/>
          </a:xfrm>
        </p:spPr>
        <p:txBody>
          <a:bodyPr/>
          <a:lstStyle>
            <a:lvl1pPr>
              <a:spcBef>
                <a:spcPts val="0"/>
              </a:spcBef>
              <a:defRPr sz="3000"/>
            </a:lvl1pPr>
            <a:lvl2pPr marL="361950" indent="-361950">
              <a:spcBef>
                <a:spcPts val="0"/>
              </a:spcBef>
              <a:buClrTx/>
              <a:buSzPct val="100000"/>
              <a:buFont typeface="+mj-lt"/>
              <a:buAutoNum type="arabicPeriod"/>
              <a:defRPr sz="3000"/>
            </a:lvl2pPr>
            <a:lvl3pPr>
              <a:defRPr sz="1800"/>
            </a:lvl3pPr>
            <a:lvl4pPr>
              <a:defRPr sz="1800"/>
            </a:lvl4pPr>
            <a:lvl5pPr>
              <a:defRPr sz="1800"/>
            </a:lvl5pPr>
          </a:lstStyle>
          <a:p>
            <a:pPr lvl="0"/>
            <a:r>
              <a:rPr lang="fr-FR" noProof="0" dirty="0"/>
              <a:t>Cliquez pour modifier le contenu</a:t>
            </a:r>
          </a:p>
          <a:p>
            <a:pPr lvl="1"/>
            <a:r>
              <a:rPr lang="fr-FR" noProof="0" dirty="0"/>
              <a:t>Deuxième niveau</a:t>
            </a:r>
          </a:p>
        </p:txBody>
      </p:sp>
    </p:spTree>
    <p:extLst>
      <p:ext uri="{BB962C8B-B14F-4D97-AF65-F5344CB8AC3E}">
        <p14:creationId xmlns:p14="http://schemas.microsoft.com/office/powerpoint/2010/main" val="2127742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re de section">
    <p:spTree>
      <p:nvGrpSpPr>
        <p:cNvPr id="1" name=""/>
        <p:cNvGrpSpPr/>
        <p:nvPr/>
      </p:nvGrpSpPr>
      <p:grpSpPr>
        <a:xfrm>
          <a:off x="0" y="0"/>
          <a:ext cx="0" cy="0"/>
          <a:chOff x="0" y="0"/>
          <a:chExt cx="0" cy="0"/>
        </a:xfrm>
      </p:grpSpPr>
      <p:sp>
        <p:nvSpPr>
          <p:cNvPr id="8" name="Text Placeholder 7"/>
          <p:cNvSpPr>
            <a:spLocks noGrp="1"/>
          </p:cNvSpPr>
          <p:nvPr>
            <p:ph type="body" sz="quarter" idx="12" hasCustomPrompt="1"/>
          </p:nvPr>
        </p:nvSpPr>
        <p:spPr>
          <a:xfrm>
            <a:off x="313769" y="268288"/>
            <a:ext cx="6096839" cy="4283075"/>
          </a:xfrm>
        </p:spPr>
        <p:txBody>
          <a:bodyPr>
            <a:normAutofit/>
          </a:bodyPr>
          <a:lstStyle>
            <a:lvl1pPr>
              <a:lnSpc>
                <a:spcPct val="85000"/>
              </a:lnSpc>
              <a:spcBef>
                <a:spcPts val="0"/>
              </a:spcBef>
              <a:buNone/>
              <a:defRPr sz="5500" baseline="0"/>
            </a:lvl1pPr>
            <a:lvl2pPr>
              <a:lnSpc>
                <a:spcPct val="85000"/>
              </a:lnSpc>
              <a:spcBef>
                <a:spcPts val="0"/>
              </a:spcBef>
              <a:defRPr sz="5500"/>
            </a:lvl2pPr>
            <a:lvl3pPr>
              <a:defRPr sz="5500"/>
            </a:lvl3pPr>
            <a:lvl4pPr>
              <a:defRPr sz="5500"/>
            </a:lvl4pPr>
            <a:lvl5pPr>
              <a:defRPr sz="5500"/>
            </a:lvl5pPr>
          </a:lstStyle>
          <a:p>
            <a:pPr lvl="0"/>
            <a:r>
              <a:rPr lang="fr-FR" noProof="0" dirty="0"/>
              <a:t>Cliquez pour modifier le nom de la section </a:t>
            </a:r>
          </a:p>
          <a:p>
            <a:pPr lvl="1"/>
            <a:r>
              <a:rPr lang="fr-FR" noProof="0" dirty="0"/>
              <a:t>Deuxième niveau</a:t>
            </a:r>
          </a:p>
        </p:txBody>
      </p:sp>
    </p:spTree>
    <p:extLst>
      <p:ext uri="{BB962C8B-B14F-4D97-AF65-F5344CB8AC3E}">
        <p14:creationId xmlns:p14="http://schemas.microsoft.com/office/powerpoint/2010/main" val="624808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eux contenus">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313200" y="1181100"/>
            <a:ext cx="3968055" cy="3370262"/>
          </a:xfrm>
        </p:spPr>
        <p:txBody>
          <a:bodyPr>
            <a:normAutofit/>
          </a:bodyPr>
          <a:lstStyle>
            <a:lvl1pPr>
              <a:defRPr sz="1400" baseline="0"/>
            </a:lvl1pPr>
            <a:lvl2pPr>
              <a:defRPr sz="1400" baseline="0">
                <a:solidFill>
                  <a:schemeClr val="tx1"/>
                </a:solidFill>
              </a:defRPr>
            </a:lvl2pPr>
            <a:lvl3pPr>
              <a:defRPr sz="1400" baseline="0">
                <a:solidFill>
                  <a:schemeClr val="tx1"/>
                </a:solidFill>
              </a:defRPr>
            </a:lvl3pPr>
            <a:lvl4pPr>
              <a:defRPr sz="1400" baseline="0">
                <a:solidFill>
                  <a:schemeClr val="tx1"/>
                </a:solidFill>
              </a:defRPr>
            </a:lvl4pPr>
            <a:lvl5pPr>
              <a:defRPr sz="1400" baseline="0">
                <a:solidFill>
                  <a:schemeClr val="tx1"/>
                </a:solidFill>
              </a:defRPr>
            </a:lvl5pPr>
            <a:lvl6pPr>
              <a:defRPr sz="1400"/>
            </a:lvl6pPr>
            <a:lvl7pPr>
              <a:defRPr sz="1800"/>
            </a:lvl7pPr>
            <a:lvl8pPr>
              <a:defRPr sz="1800"/>
            </a:lvl8pPr>
            <a:lvl9pPr>
              <a:defRPr sz="1800"/>
            </a:lvl9pPr>
          </a:lstStyle>
          <a:p>
            <a:pPr lvl="0"/>
            <a:r>
              <a:rPr lang="fr-FR" noProof="0" dirty="0"/>
              <a:t>Cliquez pour modifier le texte</a:t>
            </a:r>
          </a:p>
          <a:p>
            <a:pPr lvl="1"/>
            <a:r>
              <a:rPr lang="fr-FR" noProof="0" dirty="0"/>
              <a:t>Deuxième niveau</a:t>
            </a:r>
          </a:p>
          <a:p>
            <a:pPr lvl="2"/>
            <a:r>
              <a:rPr lang="fr-FR" noProof="0" dirty="0"/>
              <a:t>Troisième niveau</a:t>
            </a:r>
          </a:p>
          <a:p>
            <a:pPr lvl="3"/>
            <a:r>
              <a:rPr lang="fr-FR" noProof="0" dirty="0"/>
              <a:t>Quatrième niveau</a:t>
            </a:r>
          </a:p>
          <a:p>
            <a:pPr lvl="4"/>
            <a:r>
              <a:rPr lang="fr-FR" noProof="0" dirty="0"/>
              <a:t>Cinquième niveau</a:t>
            </a:r>
          </a:p>
          <a:p>
            <a:pPr lvl="5"/>
            <a:r>
              <a:rPr lang="fr-FR" noProof="0" dirty="0"/>
              <a:t>Sixième niveau</a:t>
            </a:r>
          </a:p>
        </p:txBody>
      </p:sp>
      <p:sp>
        <p:nvSpPr>
          <p:cNvPr id="4" name="Content Placeholder 3"/>
          <p:cNvSpPr>
            <a:spLocks noGrp="1"/>
          </p:cNvSpPr>
          <p:nvPr>
            <p:ph sz="half" idx="2" hasCustomPrompt="1"/>
          </p:nvPr>
        </p:nvSpPr>
        <p:spPr>
          <a:xfrm>
            <a:off x="4864795" y="1181100"/>
            <a:ext cx="3964880" cy="3370262"/>
          </a:xfrm>
        </p:spPr>
        <p:txBody>
          <a:bodyPr>
            <a:normAutofit/>
          </a:bodyPr>
          <a:lstStyle>
            <a:lvl1pPr>
              <a:defRPr sz="1400"/>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vl6pPr>
              <a:defRPr sz="1400"/>
            </a:lvl6pPr>
            <a:lvl7pPr>
              <a:defRPr sz="1800"/>
            </a:lvl7pPr>
            <a:lvl8pPr>
              <a:defRPr sz="1800"/>
            </a:lvl8pPr>
            <a:lvl9pPr>
              <a:defRPr sz="1800"/>
            </a:lvl9pPr>
          </a:lstStyle>
          <a:p>
            <a:pPr lvl="0"/>
            <a:r>
              <a:rPr lang="fr-FR" noProof="0" dirty="0"/>
              <a:t>Cliquez pour modifier le texte</a:t>
            </a:r>
          </a:p>
          <a:p>
            <a:pPr lvl="1"/>
            <a:r>
              <a:rPr lang="fr-FR" noProof="0" dirty="0"/>
              <a:t>Deuxième niveau</a:t>
            </a:r>
          </a:p>
          <a:p>
            <a:pPr lvl="2"/>
            <a:r>
              <a:rPr lang="fr-FR" noProof="0" dirty="0"/>
              <a:t>Troisième niveau</a:t>
            </a:r>
          </a:p>
          <a:p>
            <a:pPr lvl="3"/>
            <a:r>
              <a:rPr lang="fr-FR" noProof="0" dirty="0"/>
              <a:t>Quatrième niveau</a:t>
            </a:r>
          </a:p>
          <a:p>
            <a:pPr lvl="4"/>
            <a:r>
              <a:rPr lang="fr-FR" noProof="0" dirty="0"/>
              <a:t>Cinquième niveau</a:t>
            </a:r>
          </a:p>
          <a:p>
            <a:pPr lvl="5"/>
            <a:r>
              <a:rPr lang="fr-FR" noProof="0" dirty="0"/>
              <a:t>Sixième niveau</a:t>
            </a:r>
          </a:p>
        </p:txBody>
      </p:sp>
      <p:sp>
        <p:nvSpPr>
          <p:cNvPr id="7" name="Title 6"/>
          <p:cNvSpPr>
            <a:spLocks noGrp="1"/>
          </p:cNvSpPr>
          <p:nvPr>
            <p:ph type="title" hasCustomPrompt="1"/>
          </p:nvPr>
        </p:nvSpPr>
        <p:spPr>
          <a:xfrm>
            <a:off x="313199" y="268288"/>
            <a:ext cx="8516475" cy="741362"/>
          </a:xfrm>
        </p:spPr>
        <p:txBody>
          <a:bodyPr/>
          <a:lstStyle>
            <a:lvl1pPr>
              <a:defRPr/>
            </a:lvl1pPr>
          </a:lstStyle>
          <a:p>
            <a:r>
              <a:rPr lang="fr-FR" noProof="0" dirty="0"/>
              <a:t>Cliquez pour modifier le titre</a:t>
            </a:r>
          </a:p>
        </p:txBody>
      </p:sp>
    </p:spTree>
    <p:extLst>
      <p:ext uri="{BB962C8B-B14F-4D97-AF65-F5344CB8AC3E}">
        <p14:creationId xmlns:p14="http://schemas.microsoft.com/office/powerpoint/2010/main" val="36686543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sp>
        <p:nvSpPr>
          <p:cNvPr id="3" name="Title 2"/>
          <p:cNvSpPr>
            <a:spLocks noGrp="1"/>
          </p:cNvSpPr>
          <p:nvPr>
            <p:ph type="title" hasCustomPrompt="1"/>
          </p:nvPr>
        </p:nvSpPr>
        <p:spPr/>
        <p:txBody>
          <a:bodyPr/>
          <a:lstStyle>
            <a:lvl1pPr>
              <a:defRPr/>
            </a:lvl1pPr>
          </a:lstStyle>
          <a:p>
            <a:r>
              <a:rPr lang="fr-FR" noProof="0" dirty="0"/>
              <a:t>Cliquez pour modifier le titre</a:t>
            </a:r>
          </a:p>
        </p:txBody>
      </p:sp>
    </p:spTree>
    <p:extLst>
      <p:ext uri="{BB962C8B-B14F-4D97-AF65-F5344CB8AC3E}">
        <p14:creationId xmlns:p14="http://schemas.microsoft.com/office/powerpoint/2010/main" val="4199284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Image pleine page">
    <p:bg>
      <p:bgPr>
        <a:solidFill>
          <a:schemeClr val="tx2"/>
        </a:solidFill>
        <a:effectLst/>
      </p:bgPr>
    </p:bg>
    <p:spTree>
      <p:nvGrpSpPr>
        <p:cNvPr id="1" name=""/>
        <p:cNvGrpSpPr/>
        <p:nvPr/>
      </p:nvGrpSpPr>
      <p:grpSpPr>
        <a:xfrm>
          <a:off x="0" y="0"/>
          <a:ext cx="0" cy="0"/>
          <a:chOff x="0" y="0"/>
          <a:chExt cx="0" cy="0"/>
        </a:xfrm>
      </p:grpSpPr>
      <p:sp>
        <p:nvSpPr>
          <p:cNvPr id="4" name="Picture Placeholder 3"/>
          <p:cNvSpPr>
            <a:spLocks noGrp="1"/>
          </p:cNvSpPr>
          <p:nvPr>
            <p:ph type="pic" sz="quarter" idx="12" hasCustomPrompt="1"/>
          </p:nvPr>
        </p:nvSpPr>
        <p:spPr>
          <a:xfrm>
            <a:off x="0" y="0"/>
            <a:ext cx="9144000" cy="5143500"/>
          </a:xfrm>
        </p:spPr>
        <p:txBody>
          <a:bodyPr/>
          <a:lstStyle/>
          <a:p>
            <a:r>
              <a:rPr lang="fr-FR" noProof="0" dirty="0"/>
              <a:t>Cliquez sur l'icône pour ajouter une photo</a:t>
            </a:r>
          </a:p>
        </p:txBody>
      </p:sp>
      <p:sp>
        <p:nvSpPr>
          <p:cNvPr id="2" name="Title 1"/>
          <p:cNvSpPr>
            <a:spLocks noGrp="1"/>
          </p:cNvSpPr>
          <p:nvPr>
            <p:ph type="title" hasCustomPrompt="1"/>
          </p:nvPr>
        </p:nvSpPr>
        <p:spPr/>
        <p:txBody>
          <a:bodyPr/>
          <a:lstStyle>
            <a:lvl1pPr>
              <a:defRPr baseline="0">
                <a:solidFill>
                  <a:srgbClr val="000000"/>
                </a:solidFill>
              </a:defRPr>
            </a:lvl1pPr>
          </a:lstStyle>
          <a:p>
            <a:r>
              <a:rPr lang="fr-FR" dirty="0"/>
              <a:t>Cliquez pour modifier le titre</a:t>
            </a:r>
            <a:endParaRPr lang="fr-FR" noProof="0" dirty="0"/>
          </a:p>
        </p:txBody>
      </p:sp>
    </p:spTree>
    <p:extLst>
      <p:ext uri="{BB962C8B-B14F-4D97-AF65-F5344CB8AC3E}">
        <p14:creationId xmlns:p14="http://schemas.microsoft.com/office/powerpoint/2010/main" val="1818810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630026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13200" y="268288"/>
            <a:ext cx="8516475" cy="741362"/>
          </a:xfrm>
          <a:prstGeom prst="rect">
            <a:avLst/>
          </a:prstGeom>
        </p:spPr>
        <p:txBody>
          <a:bodyPr vert="horz" lIns="0" tIns="0" rIns="0" bIns="0" rtlCol="0" anchor="t" anchorCtr="0">
            <a:noAutofit/>
          </a:bodyPr>
          <a:lstStyle/>
          <a:p>
            <a:r>
              <a:rPr lang="fr-FR" noProof="0" dirty="0"/>
              <a:t>Cliquez pour modifier le titre</a:t>
            </a:r>
          </a:p>
        </p:txBody>
      </p:sp>
      <p:sp>
        <p:nvSpPr>
          <p:cNvPr id="3" name="Text Placeholder 2"/>
          <p:cNvSpPr>
            <a:spLocks noGrp="1"/>
          </p:cNvSpPr>
          <p:nvPr>
            <p:ph type="body" idx="1"/>
          </p:nvPr>
        </p:nvSpPr>
        <p:spPr>
          <a:xfrm>
            <a:off x="313200" y="1181100"/>
            <a:ext cx="8516475" cy="3370263"/>
          </a:xfrm>
          <a:prstGeom prst="rect">
            <a:avLst/>
          </a:prstGeom>
        </p:spPr>
        <p:txBody>
          <a:bodyPr vert="horz" lIns="0" tIns="0" rIns="0" bIns="0" rtlCol="0">
            <a:noAutofit/>
          </a:bodyPr>
          <a:lstStyle/>
          <a:p>
            <a:pPr lvl="0"/>
            <a:r>
              <a:rPr lang="fr-FR" noProof="0" dirty="0"/>
              <a:t>Cliquez pour modifier le texte</a:t>
            </a:r>
          </a:p>
          <a:p>
            <a:pPr lvl="1"/>
            <a:r>
              <a:rPr lang="fr-FR" noProof="0" dirty="0"/>
              <a:t>Deuxième niveau</a:t>
            </a:r>
          </a:p>
          <a:p>
            <a:pPr lvl="2"/>
            <a:r>
              <a:rPr lang="fr-FR" noProof="0" dirty="0"/>
              <a:t>Troisième niveau</a:t>
            </a:r>
          </a:p>
          <a:p>
            <a:pPr lvl="3"/>
            <a:r>
              <a:rPr lang="fr-FR" noProof="0" dirty="0"/>
              <a:t>Quatrième niveau</a:t>
            </a:r>
          </a:p>
          <a:p>
            <a:pPr lvl="4"/>
            <a:r>
              <a:rPr lang="fr-FR" noProof="0" dirty="0"/>
              <a:t>Cinquième niveau</a:t>
            </a:r>
          </a:p>
          <a:p>
            <a:pPr lvl="5"/>
            <a:r>
              <a:rPr lang="fr-FR" noProof="0" dirty="0"/>
              <a:t>Sixième niveau</a:t>
            </a:r>
          </a:p>
        </p:txBody>
      </p:sp>
      <p:sp>
        <p:nvSpPr>
          <p:cNvPr id="9" name="Text Placeholder 10"/>
          <p:cNvSpPr txBox="1">
            <a:spLocks/>
          </p:cNvSpPr>
          <p:nvPr/>
        </p:nvSpPr>
        <p:spPr>
          <a:xfrm>
            <a:off x="314325" y="4535485"/>
            <a:ext cx="275010" cy="334961"/>
          </a:xfrm>
          <a:prstGeom prst="rect">
            <a:avLst/>
          </a:prstGeom>
        </p:spPr>
        <p:txBody>
          <a:bodyPr wrap="square" lIns="7200" tIns="0" rIns="0" bIns="0" anchor="b">
            <a:normAutofit/>
          </a:bodyPr>
          <a:lstStyle>
            <a:lvl1pPr marL="0" marR="0" indent="0" algn="l" defTabSz="914400" rtl="0" eaLnBrk="1" fontAlgn="base" latinLnBrk="0" hangingPunct="1">
              <a:lnSpc>
                <a:spcPct val="100000"/>
              </a:lnSpc>
              <a:spcBef>
                <a:spcPct val="0"/>
              </a:spcBef>
              <a:spcAft>
                <a:spcPts val="0"/>
              </a:spcAft>
              <a:buClr>
                <a:schemeClr val="tx1"/>
              </a:buClr>
              <a:buSzTx/>
              <a:buFont typeface="Helvetica 75" panose="020B0804020202020204" pitchFamily="34" charset="0"/>
              <a:buNone/>
              <a:tabLst/>
              <a:defRPr lang="fr-FR" sz="1200" kern="1200" baseline="0" dirty="0" smtClean="0">
                <a:solidFill>
                  <a:schemeClr val="tx1">
                    <a:lumMod val="50000"/>
                  </a:schemeClr>
                </a:solidFill>
                <a:latin typeface="Helvetica 75" panose="020B0804020202020204" pitchFamily="34" charset="0"/>
                <a:ea typeface="+mn-ea"/>
                <a:cs typeface="+mn-cs"/>
              </a:defRPr>
            </a:lvl1pPr>
            <a:lvl2pPr marL="688975" indent="-231775"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2pPr>
            <a:lvl3pPr marL="1244600" indent="-285750"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3pPr>
            <a:lvl4pPr marL="1663700" indent="-285750" algn="l" defTabSz="914400" rtl="0" eaLnBrk="1" fontAlgn="base" latinLnBrk="0" hangingPunct="1">
              <a:spcBef>
                <a:spcPct val="0"/>
              </a:spcBef>
              <a:spcAft>
                <a:spcPts val="600"/>
              </a:spcAft>
              <a:buFont typeface="Helvetica 45 Light" pitchFamily="34" charset="0"/>
              <a:buChar char="–"/>
              <a:defRPr lang="fr-FR" sz="2000" kern="1200" dirty="0" smtClean="0">
                <a:solidFill>
                  <a:schemeClr val="tx1"/>
                </a:solidFill>
                <a:latin typeface="Helvetica 75" panose="020B0804020202020204" pitchFamily="34" charset="0"/>
                <a:ea typeface="+mn-ea"/>
                <a:cs typeface="+mn-cs"/>
              </a:defRPr>
            </a:lvl4pPr>
            <a:lvl5pPr marL="2251075" indent="-596900" algn="l" defTabSz="914400" rtl="0" eaLnBrk="1" fontAlgn="base" latinLnBrk="0" hangingPunct="1">
              <a:spcBef>
                <a:spcPct val="0"/>
              </a:spcBef>
              <a:spcAft>
                <a:spcPts val="600"/>
              </a:spcAft>
              <a:buFont typeface="Helvetica 45 Light" pitchFamily="34" charset="0"/>
              <a:buChar char="–"/>
              <a:defRPr lang="fr-FR" sz="2000" kern="1200" dirty="0">
                <a:solidFill>
                  <a:schemeClr val="tx1"/>
                </a:solidFill>
                <a:latin typeface="Helvetica 75" panose="020B080402020202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fld id="{8702007A-2642-4DC4-A457-FD791426C840}" type="slidenum">
              <a:rPr kumimoji="0" lang="fr-FR" sz="800" b="0" i="0" u="none" strike="noStrike" kern="1200" cap="none" spc="0" normalizeH="0" baseline="0" noProof="0" smtClean="0">
                <a:ln>
                  <a:noFill/>
                </a:ln>
                <a:solidFill>
                  <a:schemeClr val="tx1"/>
                </a:solidFill>
                <a:effectLst/>
                <a:uLnTx/>
                <a:uFillTx/>
                <a:latin typeface="Helvetica 75 Bold" panose="020B0804020202020204" pitchFamily="34" charset="0"/>
                <a:ea typeface="+mn-ea"/>
                <a:cs typeface="+mn-cs"/>
              </a:rPr>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t>‹N°›</a:t>
            </a:fld>
            <a:endParaRPr kumimoji="0" lang="fr-FR" sz="800" b="0" i="0" u="none" strike="noStrike" kern="1200" cap="none" spc="0" normalizeH="0" baseline="0" noProof="0" dirty="0">
              <a:ln>
                <a:noFill/>
              </a:ln>
              <a:solidFill>
                <a:schemeClr val="tx1"/>
              </a:solidFill>
              <a:effectLst/>
              <a:uLnTx/>
              <a:uFillTx/>
              <a:latin typeface="Helvetica 75 Bold" panose="020B0804020202020204" pitchFamily="34" charset="0"/>
              <a:ea typeface="+mn-ea"/>
              <a:cs typeface="+mn-cs"/>
            </a:endParaRPr>
          </a:p>
        </p:txBody>
      </p:sp>
    </p:spTree>
    <p:extLst>
      <p:ext uri="{BB962C8B-B14F-4D97-AF65-F5344CB8AC3E}">
        <p14:creationId xmlns:p14="http://schemas.microsoft.com/office/powerpoint/2010/main" val="1507071699"/>
      </p:ext>
    </p:extLst>
  </p:cSld>
  <p:clrMap bg1="lt1" tx1="dk1" bg2="lt2" tx2="dk2" accent1="accent1" accent2="accent2" accent3="accent3" accent4="accent4" accent5="accent5" accent6="accent6" hlink="hlink" folHlink="folHlink"/>
  <p:sldLayoutIdLst>
    <p:sldLayoutId id="2147483660" r:id="rId1"/>
    <p:sldLayoutId id="2147483659" r:id="rId2"/>
    <p:sldLayoutId id="2147483665" r:id="rId3"/>
    <p:sldLayoutId id="2147483664" r:id="rId4"/>
    <p:sldLayoutId id="2147483661" r:id="rId5"/>
    <p:sldLayoutId id="2147483662" r:id="rId6"/>
    <p:sldLayoutId id="2147483663" r:id="rId7"/>
    <p:sldLayoutId id="2147483666" r:id="rId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txStyles>
    <p:titleStyle>
      <a:lvl1pPr marL="0" indent="0" algn="l" defTabSz="914400" rtl="0" eaLnBrk="1" latinLnBrk="0" hangingPunct="1">
        <a:lnSpc>
          <a:spcPct val="90000"/>
        </a:lnSpc>
        <a:spcBef>
          <a:spcPct val="0"/>
        </a:spcBef>
        <a:buNone/>
        <a:defRPr sz="2000" kern="1200" spc="-20" baseline="0">
          <a:solidFill>
            <a:schemeClr val="bg2"/>
          </a:solidFill>
          <a:latin typeface="Helvetica 75 Bold" panose="020B0804020202020204" pitchFamily="34" charset="0"/>
          <a:ea typeface="+mj-ea"/>
          <a:cs typeface="+mj-cs"/>
        </a:defRPr>
      </a:lvl1pPr>
    </p:titleStyle>
    <p:bodyStyle>
      <a:lvl1pPr marL="0" indent="0" algn="l" defTabSz="914400" rtl="0" eaLnBrk="1" latinLnBrk="0" hangingPunct="1">
        <a:lnSpc>
          <a:spcPct val="90000"/>
        </a:lnSpc>
        <a:spcBef>
          <a:spcPts val="600"/>
        </a:spcBef>
        <a:buClr>
          <a:schemeClr val="bg1"/>
        </a:buClr>
        <a:buSzPct val="25000"/>
        <a:buFont typeface="Calibri" panose="020F0502020204030204" pitchFamily="34" charset="0"/>
        <a:buNone/>
        <a:tabLst/>
        <a:defRPr sz="1400" kern="1200" spc="-20" baseline="0">
          <a:solidFill>
            <a:schemeClr val="bg2"/>
          </a:solidFill>
          <a:latin typeface="Helvetica 75 Bold" panose="020B0804020202020204" pitchFamily="34" charset="0"/>
          <a:ea typeface="+mn-ea"/>
          <a:cs typeface="+mn-cs"/>
        </a:defRPr>
      </a:lvl1pPr>
      <a:lvl2pPr marL="0" indent="0" algn="l" defTabSz="914400" rtl="0" eaLnBrk="1" latinLnBrk="0" hangingPunct="1">
        <a:lnSpc>
          <a:spcPct val="90000"/>
        </a:lnSpc>
        <a:spcBef>
          <a:spcPts val="600"/>
        </a:spcBef>
        <a:buClr>
          <a:schemeClr val="bg1"/>
        </a:buClr>
        <a:buSzPct val="25000"/>
        <a:buFont typeface="Calibri" panose="020F0502020204030204" pitchFamily="34" charset="0"/>
        <a:buNone/>
        <a:defRPr sz="1400" kern="1200" spc="-20" baseline="0">
          <a:solidFill>
            <a:schemeClr val="tx1"/>
          </a:solidFill>
          <a:latin typeface="Helvetica 75 Bold" panose="020B0804020202020204" pitchFamily="34" charset="0"/>
          <a:ea typeface="+mn-ea"/>
          <a:cs typeface="+mn-cs"/>
        </a:defRPr>
      </a:lvl2pPr>
      <a:lvl3pPr marL="180975" indent="-180975" algn="l" defTabSz="914400" rtl="0" eaLnBrk="1" latinLnBrk="0" hangingPunct="1">
        <a:lnSpc>
          <a:spcPct val="90000"/>
        </a:lnSpc>
        <a:spcBef>
          <a:spcPts val="600"/>
        </a:spcBef>
        <a:buClr>
          <a:schemeClr val="bg2"/>
        </a:buClr>
        <a:buFont typeface="Wingdings" panose="05000000000000000000" pitchFamily="2" charset="2"/>
        <a:buChar char="§"/>
        <a:defRPr sz="1400" kern="1200" spc="-20" baseline="0">
          <a:solidFill>
            <a:schemeClr val="tx1"/>
          </a:solidFill>
          <a:latin typeface="Helvetica 75 Bold" panose="020B0804020202020204" pitchFamily="34" charset="0"/>
          <a:ea typeface="+mn-ea"/>
          <a:cs typeface="+mn-cs"/>
        </a:defRPr>
      </a:lvl3pPr>
      <a:lvl4pPr marL="407988" indent="-190500" algn="l" defTabSz="914400" rtl="0" eaLnBrk="1" latinLnBrk="0" hangingPunct="1">
        <a:lnSpc>
          <a:spcPct val="90000"/>
        </a:lnSpc>
        <a:spcBef>
          <a:spcPct val="20000"/>
        </a:spcBef>
        <a:buFont typeface="Arial" panose="020B0604020202020204" pitchFamily="34" charset="0"/>
        <a:buChar char="–"/>
        <a:defRPr sz="1400" kern="1200" spc="-20" baseline="0">
          <a:solidFill>
            <a:schemeClr val="tx1"/>
          </a:solidFill>
          <a:latin typeface="Helvetica 55 Roman" panose="000B0500000000000000" pitchFamily="34" charset="0"/>
          <a:ea typeface="+mn-ea"/>
          <a:cs typeface="+mn-cs"/>
        </a:defRPr>
      </a:lvl4pPr>
      <a:lvl5pPr marL="595313" indent="-173038" algn="l" defTabSz="914400" rtl="0" eaLnBrk="1" latinLnBrk="0" hangingPunct="1">
        <a:lnSpc>
          <a:spcPct val="90000"/>
        </a:lnSpc>
        <a:spcBef>
          <a:spcPct val="20000"/>
        </a:spcBef>
        <a:buClr>
          <a:schemeClr val="tx1"/>
        </a:buClr>
        <a:buFont typeface="Arial" panose="020B0604020202020204" pitchFamily="34" charset="0"/>
        <a:buChar char="–"/>
        <a:defRPr sz="1400" kern="1200" spc="-20" baseline="0">
          <a:solidFill>
            <a:schemeClr val="tx1"/>
          </a:solidFill>
          <a:latin typeface="Helvetica 55 Roman" panose="000B0500000000000000" pitchFamily="34" charset="0"/>
          <a:ea typeface="+mn-ea"/>
          <a:cs typeface="+mn-cs"/>
        </a:defRPr>
      </a:lvl5pPr>
      <a:lvl6pPr marL="800100" indent="-190500" algn="l" defTabSz="914400" rtl="0" eaLnBrk="1" latinLnBrk="0" hangingPunct="1">
        <a:spcBef>
          <a:spcPct val="20000"/>
        </a:spcBef>
        <a:buFont typeface="Arial" panose="020B0604020202020204" pitchFamily="34" charset="0"/>
        <a:buChar char="–"/>
        <a:defRPr sz="1400" kern="1200">
          <a:solidFill>
            <a:schemeClr val="tx1"/>
          </a:solidFill>
          <a:latin typeface="Helvetica 55 Roman" panose="020B0604020202020204" pitchFamily="34" charset="0"/>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1.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6713B2F-A824-49CB-BBF3-9CC724DE2337}"/>
              </a:ext>
            </a:extLst>
          </p:cNvPr>
          <p:cNvSpPr/>
          <p:nvPr/>
        </p:nvSpPr>
        <p:spPr>
          <a:xfrm>
            <a:off x="395536" y="915566"/>
            <a:ext cx="4572000" cy="2511457"/>
          </a:xfrm>
          <a:prstGeom prst="rect">
            <a:avLst/>
          </a:prstGeom>
        </p:spPr>
        <p:txBody>
          <a:bodyPr>
            <a:spAutoFit/>
          </a:bodyPr>
          <a:lstStyle/>
          <a:p>
            <a:pPr lvl="0">
              <a:lnSpc>
                <a:spcPct val="90000"/>
              </a:lnSpc>
              <a:spcBef>
                <a:spcPts val="600"/>
              </a:spcBef>
              <a:buClr>
                <a:srgbClr val="FFFFFF"/>
              </a:buClr>
              <a:buSzPct val="25000"/>
            </a:pPr>
            <a:r>
              <a:rPr lang="fr-FR" sz="1400" spc="-20" dirty="0">
                <a:solidFill>
                  <a:srgbClr val="000000"/>
                </a:solidFill>
                <a:latin typeface="Helvetica 75 Bold" panose="020B0804020202020204" pitchFamily="34" charset="0"/>
              </a:rPr>
              <a:t>Modèle de dossier de candidature :</a:t>
            </a:r>
          </a:p>
          <a:p>
            <a:pPr marL="285750" lvl="0" indent="-285750">
              <a:lnSpc>
                <a:spcPct val="90000"/>
              </a:lnSpc>
              <a:spcBef>
                <a:spcPts val="600"/>
              </a:spcBef>
              <a:buClr>
                <a:srgbClr val="FF7900"/>
              </a:buClr>
              <a:buSzPct val="60000"/>
              <a:buFont typeface="Arial" pitchFamily="34" charset="0"/>
              <a:buChar char="•"/>
            </a:pPr>
            <a:r>
              <a:rPr lang="fr-FR" sz="1600" spc="-20" dirty="0">
                <a:solidFill>
                  <a:srgbClr val="FF7900"/>
                </a:solidFill>
                <a:latin typeface="Helvetica 75 Bold" panose="020B0804020202020204" pitchFamily="34" charset="0"/>
              </a:rPr>
              <a:t>Créez votre propre modèle </a:t>
            </a:r>
            <a:r>
              <a:rPr lang="fr-FR" sz="1600" spc="-20" dirty="0" err="1">
                <a:solidFill>
                  <a:srgbClr val="FF7900"/>
                </a:solidFill>
                <a:latin typeface="Helvetica 75 Bold" panose="020B0804020202020204" pitchFamily="34" charset="0"/>
              </a:rPr>
              <a:t>powerpoint</a:t>
            </a:r>
            <a:r>
              <a:rPr lang="fr-FR" sz="1600" spc="-20" dirty="0">
                <a:solidFill>
                  <a:srgbClr val="FF7900"/>
                </a:solidFill>
                <a:latin typeface="Helvetica 75 Bold" panose="020B0804020202020204" pitchFamily="34" charset="0"/>
              </a:rPr>
              <a:t>. Ce document n’est qu’une liste d’informations qu’il nous parait nécessaire de faire figurer dans votre présentation. </a:t>
            </a:r>
          </a:p>
          <a:p>
            <a:pPr marL="285750" lvl="0" indent="-285750">
              <a:lnSpc>
                <a:spcPct val="90000"/>
              </a:lnSpc>
              <a:spcBef>
                <a:spcPts val="600"/>
              </a:spcBef>
              <a:buClr>
                <a:srgbClr val="FF7900"/>
              </a:buClr>
              <a:buSzPct val="60000"/>
              <a:buFont typeface="Arial" pitchFamily="34" charset="0"/>
              <a:buChar char="•"/>
            </a:pPr>
            <a:r>
              <a:rPr lang="fr-FR" sz="1600" spc="-20" dirty="0">
                <a:solidFill>
                  <a:srgbClr val="000000"/>
                </a:solidFill>
                <a:latin typeface="Helvetica 75 Bold" panose="020B0804020202020204" pitchFamily="34" charset="0"/>
              </a:rPr>
              <a:t>Intégrez l’ensemble des éléments de ce modèle dans votre présentation dans l’ordre que vous souhaitez. </a:t>
            </a:r>
          </a:p>
          <a:p>
            <a:pPr marL="285750" lvl="0" indent="-285750">
              <a:lnSpc>
                <a:spcPct val="90000"/>
              </a:lnSpc>
              <a:spcBef>
                <a:spcPts val="600"/>
              </a:spcBef>
              <a:buClr>
                <a:srgbClr val="FF7900"/>
              </a:buClr>
              <a:buSzPct val="60000"/>
              <a:buFont typeface="Arial" pitchFamily="34" charset="0"/>
              <a:buChar char="•"/>
            </a:pPr>
            <a:r>
              <a:rPr lang="fr-FR" sz="1600" spc="-20" dirty="0">
                <a:solidFill>
                  <a:srgbClr val="000000"/>
                </a:solidFill>
                <a:latin typeface="Helvetica 75 Bold" panose="020B0804020202020204" pitchFamily="34" charset="0"/>
              </a:rPr>
              <a:t>Soyez claires et concis : votre dossier ne doit pas posséder plus de 15 slides.</a:t>
            </a:r>
          </a:p>
        </p:txBody>
      </p:sp>
      <p:sp>
        <p:nvSpPr>
          <p:cNvPr id="4" name="Espace réservé du contenu 3">
            <a:extLst>
              <a:ext uri="{FF2B5EF4-FFF2-40B4-BE49-F238E27FC236}">
                <a16:creationId xmlns:a16="http://schemas.microsoft.com/office/drawing/2014/main" id="{AD1F0696-F0F7-4DCA-A6BA-38FCF0C4DD6F}"/>
              </a:ext>
            </a:extLst>
          </p:cNvPr>
          <p:cNvSpPr>
            <a:spLocks noGrp="1"/>
          </p:cNvSpPr>
          <p:nvPr>
            <p:ph idx="1"/>
          </p:nvPr>
        </p:nvSpPr>
        <p:spPr/>
        <p:txBody>
          <a:bodyPr/>
          <a:lstStyle/>
          <a:p>
            <a:endParaRPr lang="fr-FR" dirty="0"/>
          </a:p>
          <a:p>
            <a:endParaRPr lang="fr-CM" dirty="0"/>
          </a:p>
        </p:txBody>
      </p:sp>
    </p:spTree>
    <p:extLst>
      <p:ext uri="{BB962C8B-B14F-4D97-AF65-F5344CB8AC3E}">
        <p14:creationId xmlns:p14="http://schemas.microsoft.com/office/powerpoint/2010/main" val="14161002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p:txBody>
          <a:bodyPr/>
          <a:lstStyle/>
          <a:p>
            <a:r>
              <a:rPr lang="fr-FR" noProof="0" dirty="0"/>
              <a:t>Plan du dossier de présentation </a:t>
            </a:r>
          </a:p>
          <a:p>
            <a:endParaRPr lang="fr-FR" sz="2400" noProof="0" dirty="0"/>
          </a:p>
          <a:p>
            <a:endParaRPr lang="fr-FR" sz="2400" noProof="0" dirty="0"/>
          </a:p>
          <a:p>
            <a:pPr lvl="1"/>
            <a:r>
              <a:rPr lang="fr-FR" sz="1800" noProof="0" dirty="0"/>
              <a:t>Constat</a:t>
            </a:r>
          </a:p>
          <a:p>
            <a:pPr lvl="1"/>
            <a:r>
              <a:rPr lang="fr-FR" sz="1800" dirty="0"/>
              <a:t>Solution </a:t>
            </a:r>
          </a:p>
          <a:p>
            <a:pPr lvl="1"/>
            <a:r>
              <a:rPr lang="fr-FR" sz="1800" dirty="0"/>
              <a:t>Produit / Service</a:t>
            </a:r>
          </a:p>
          <a:p>
            <a:pPr lvl="1"/>
            <a:r>
              <a:rPr lang="fr-FR" sz="1800" noProof="0" dirty="0"/>
              <a:t>Marché / Cible</a:t>
            </a:r>
          </a:p>
          <a:p>
            <a:pPr lvl="1"/>
            <a:r>
              <a:rPr lang="fr-FR" sz="1800" dirty="0"/>
              <a:t>Business model </a:t>
            </a:r>
            <a:endParaRPr lang="fr-FR" sz="1800" noProof="0" dirty="0"/>
          </a:p>
          <a:p>
            <a:pPr lvl="1"/>
            <a:r>
              <a:rPr lang="fr-FR" sz="1800" noProof="0" dirty="0"/>
              <a:t>Concurrents</a:t>
            </a:r>
          </a:p>
          <a:p>
            <a:pPr lvl="1"/>
            <a:r>
              <a:rPr lang="fr-FR" sz="1800" dirty="0"/>
              <a:t>Equipe </a:t>
            </a:r>
          </a:p>
          <a:p>
            <a:pPr lvl="1"/>
            <a:r>
              <a:rPr lang="fr-FR" sz="1800" noProof="0" dirty="0"/>
              <a:t>Chiffres clefs</a:t>
            </a:r>
          </a:p>
          <a:p>
            <a:pPr marL="0" lvl="1" indent="0">
              <a:buNone/>
            </a:pPr>
            <a:endParaRPr lang="fr-FR" sz="1800" noProof="0" dirty="0"/>
          </a:p>
        </p:txBody>
      </p:sp>
    </p:spTree>
    <p:extLst>
      <p:ext uri="{BB962C8B-B14F-4D97-AF65-F5344CB8AC3E}">
        <p14:creationId xmlns:p14="http://schemas.microsoft.com/office/powerpoint/2010/main" val="7054967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texte 2">
            <a:extLst>
              <a:ext uri="{FF2B5EF4-FFF2-40B4-BE49-F238E27FC236}">
                <a16:creationId xmlns:a16="http://schemas.microsoft.com/office/drawing/2014/main" id="{6653B154-0DFC-4296-8B7E-D8B67B9819E3}"/>
              </a:ext>
            </a:extLst>
          </p:cNvPr>
          <p:cNvSpPr txBox="1">
            <a:spLocks/>
          </p:cNvSpPr>
          <p:nvPr/>
        </p:nvSpPr>
        <p:spPr>
          <a:xfrm>
            <a:off x="323528" y="555526"/>
            <a:ext cx="3460998" cy="432841"/>
          </a:xfrm>
          <a:prstGeom prst="rect">
            <a:avLst/>
          </a:prstGeom>
          <a:solidFill>
            <a:srgbClr val="FF7900"/>
          </a:solidFill>
        </p:spPr>
        <p:txBody>
          <a:bodyPr anchor="ctr"/>
          <a:lstStyle>
            <a:lvl1pPr marL="0" indent="0" algn="l" defTabSz="914400" rtl="0" eaLnBrk="1" latinLnBrk="0" hangingPunct="1">
              <a:lnSpc>
                <a:spcPct val="90000"/>
              </a:lnSpc>
              <a:spcBef>
                <a:spcPts val="600"/>
              </a:spcBef>
              <a:buClr>
                <a:schemeClr val="bg1"/>
              </a:buClr>
              <a:buSzPct val="25000"/>
              <a:buFont typeface="Calibri" panose="020F0502020204030204" pitchFamily="34" charset="0"/>
              <a:buNone/>
              <a:tabLst/>
              <a:defRPr sz="1400" kern="1200" spc="-20" baseline="0">
                <a:solidFill>
                  <a:schemeClr val="bg2"/>
                </a:solidFill>
                <a:latin typeface="Helvetica 75 Bold" panose="020B0804020202020204" pitchFamily="34" charset="0"/>
                <a:ea typeface="+mn-ea"/>
                <a:cs typeface="+mn-cs"/>
              </a:defRPr>
            </a:lvl1pPr>
            <a:lvl2pPr marL="0" indent="0" algn="l" defTabSz="914400" rtl="0" eaLnBrk="1" latinLnBrk="0" hangingPunct="1">
              <a:lnSpc>
                <a:spcPct val="90000"/>
              </a:lnSpc>
              <a:spcBef>
                <a:spcPts val="600"/>
              </a:spcBef>
              <a:buClr>
                <a:schemeClr val="bg1"/>
              </a:buClr>
              <a:buSzPct val="25000"/>
              <a:buFont typeface="Calibri" panose="020F0502020204030204" pitchFamily="34" charset="0"/>
              <a:buNone/>
              <a:defRPr sz="1400" kern="1200" spc="-20" baseline="0">
                <a:solidFill>
                  <a:schemeClr val="tx1"/>
                </a:solidFill>
                <a:latin typeface="Helvetica 75 Bold" panose="020B0804020202020204" pitchFamily="34" charset="0"/>
                <a:ea typeface="+mn-ea"/>
                <a:cs typeface="+mn-cs"/>
              </a:defRPr>
            </a:lvl2pPr>
            <a:lvl3pPr marL="180975" indent="-180975" algn="l" defTabSz="914400" rtl="0" eaLnBrk="1" latinLnBrk="0" hangingPunct="1">
              <a:lnSpc>
                <a:spcPct val="90000"/>
              </a:lnSpc>
              <a:spcBef>
                <a:spcPts val="600"/>
              </a:spcBef>
              <a:buClr>
                <a:schemeClr val="bg2"/>
              </a:buClr>
              <a:buFont typeface="Wingdings" panose="05000000000000000000" pitchFamily="2" charset="2"/>
              <a:buChar char="§"/>
              <a:defRPr sz="1400" kern="1200" spc="-20" baseline="0">
                <a:solidFill>
                  <a:schemeClr val="tx1"/>
                </a:solidFill>
                <a:latin typeface="Helvetica 75 Bold" panose="020B0804020202020204" pitchFamily="34" charset="0"/>
                <a:ea typeface="+mn-ea"/>
                <a:cs typeface="+mn-cs"/>
              </a:defRPr>
            </a:lvl3pPr>
            <a:lvl4pPr marL="407988" indent="-190500" algn="l" defTabSz="914400" rtl="0" eaLnBrk="1" latinLnBrk="0" hangingPunct="1">
              <a:lnSpc>
                <a:spcPct val="90000"/>
              </a:lnSpc>
              <a:spcBef>
                <a:spcPct val="20000"/>
              </a:spcBef>
              <a:buFont typeface="Arial" panose="020B0604020202020204" pitchFamily="34" charset="0"/>
              <a:buChar char="–"/>
              <a:defRPr sz="1400" kern="1200" spc="-20" baseline="0">
                <a:solidFill>
                  <a:schemeClr val="tx1"/>
                </a:solidFill>
                <a:latin typeface="Helvetica 55 Roman" panose="000B0500000000000000" pitchFamily="34" charset="0"/>
                <a:ea typeface="+mn-ea"/>
                <a:cs typeface="+mn-cs"/>
              </a:defRPr>
            </a:lvl4pPr>
            <a:lvl5pPr marL="595313" indent="-173038" algn="l" defTabSz="914400" rtl="0" eaLnBrk="1" latinLnBrk="0" hangingPunct="1">
              <a:lnSpc>
                <a:spcPct val="90000"/>
              </a:lnSpc>
              <a:spcBef>
                <a:spcPct val="20000"/>
              </a:spcBef>
              <a:buClr>
                <a:schemeClr val="tx1"/>
              </a:buClr>
              <a:buFont typeface="Arial" panose="020B0604020202020204" pitchFamily="34" charset="0"/>
              <a:buChar char="–"/>
              <a:defRPr sz="1400" kern="1200" spc="-20" baseline="0">
                <a:solidFill>
                  <a:schemeClr val="tx1"/>
                </a:solidFill>
                <a:latin typeface="Helvetica 55 Roman" panose="000B0500000000000000" pitchFamily="34" charset="0"/>
                <a:ea typeface="+mn-ea"/>
                <a:cs typeface="+mn-cs"/>
              </a:defRPr>
            </a:lvl5pPr>
            <a:lvl6pPr marL="800100" indent="-190500" algn="l" defTabSz="914400" rtl="0" eaLnBrk="1" latinLnBrk="0" hangingPunct="1">
              <a:spcBef>
                <a:spcPct val="20000"/>
              </a:spcBef>
              <a:buFont typeface="Arial" panose="020B0604020202020204" pitchFamily="34" charset="0"/>
              <a:buChar char="–"/>
              <a:defRPr sz="1400" kern="1200">
                <a:solidFill>
                  <a:schemeClr val="tx1"/>
                </a:solidFill>
                <a:latin typeface="Helvetica 55 Roman" panose="020B0604020202020204" pitchFamily="34" charset="0"/>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gn="ctr"/>
            <a:r>
              <a:rPr lang="fr-FR" sz="2000">
                <a:solidFill>
                  <a:schemeClr val="bg1"/>
                </a:solidFill>
              </a:rPr>
              <a:t>Logo de votre entreprise</a:t>
            </a:r>
            <a:endParaRPr lang="fr-FR" sz="2000" dirty="0">
              <a:solidFill>
                <a:schemeClr val="bg1"/>
              </a:solidFill>
            </a:endParaRPr>
          </a:p>
        </p:txBody>
      </p:sp>
      <p:sp>
        <p:nvSpPr>
          <p:cNvPr id="5" name="Titre 1">
            <a:extLst>
              <a:ext uri="{FF2B5EF4-FFF2-40B4-BE49-F238E27FC236}">
                <a16:creationId xmlns:a16="http://schemas.microsoft.com/office/drawing/2014/main" id="{2F7ECF39-8325-429A-B077-82DECE533669}"/>
              </a:ext>
            </a:extLst>
          </p:cNvPr>
          <p:cNvSpPr txBox="1">
            <a:spLocks/>
          </p:cNvSpPr>
          <p:nvPr/>
        </p:nvSpPr>
        <p:spPr>
          <a:xfrm>
            <a:off x="309478" y="1779662"/>
            <a:ext cx="8830465" cy="2304131"/>
          </a:xfrm>
          <a:prstGeom prst="rect">
            <a:avLst/>
          </a:prstGeom>
        </p:spPr>
        <p:txBody>
          <a:bodyPr/>
          <a:lstStyle>
            <a:lvl1pPr marL="0" indent="0" algn="l" defTabSz="914400" rtl="0" eaLnBrk="1" latinLnBrk="0" hangingPunct="1">
              <a:lnSpc>
                <a:spcPct val="90000"/>
              </a:lnSpc>
              <a:spcBef>
                <a:spcPct val="0"/>
              </a:spcBef>
              <a:buNone/>
              <a:defRPr sz="2000" kern="1200" spc="-20" baseline="0">
                <a:solidFill>
                  <a:schemeClr val="bg2"/>
                </a:solidFill>
                <a:latin typeface="Helvetica 75 Bold" panose="020B0804020202020204" pitchFamily="34" charset="0"/>
                <a:ea typeface="+mj-ea"/>
                <a:cs typeface="+mj-cs"/>
              </a:defRPr>
            </a:lvl1pPr>
          </a:lstStyle>
          <a:p>
            <a:r>
              <a:rPr lang="fr-FR"/>
              <a:t>Nom de votre entreprise</a:t>
            </a:r>
            <a:endParaRPr lang="fr-FR" dirty="0"/>
          </a:p>
        </p:txBody>
      </p:sp>
      <p:pic>
        <p:nvPicPr>
          <p:cNvPr id="3" name="Image 2">
            <a:extLst>
              <a:ext uri="{FF2B5EF4-FFF2-40B4-BE49-F238E27FC236}">
                <a16:creationId xmlns:a16="http://schemas.microsoft.com/office/drawing/2014/main" id="{6B5D160E-7DBB-481C-BD27-131C22318032}"/>
              </a:ext>
            </a:extLst>
          </p:cNvPr>
          <p:cNvPicPr>
            <a:picLocks noChangeAspect="1"/>
          </p:cNvPicPr>
          <p:nvPr/>
        </p:nvPicPr>
        <p:blipFill>
          <a:blip r:embed="rId2"/>
          <a:stretch>
            <a:fillRect/>
          </a:stretch>
        </p:blipFill>
        <p:spPr>
          <a:xfrm>
            <a:off x="293102" y="3795251"/>
            <a:ext cx="4938188" cy="1048603"/>
          </a:xfrm>
          <a:prstGeom prst="rect">
            <a:avLst/>
          </a:prstGeom>
        </p:spPr>
      </p:pic>
    </p:spTree>
    <p:extLst>
      <p:ext uri="{BB962C8B-B14F-4D97-AF65-F5344CB8AC3E}">
        <p14:creationId xmlns:p14="http://schemas.microsoft.com/office/powerpoint/2010/main" val="37051795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Content Placeholder 23"/>
          <p:cNvSpPr>
            <a:spLocks noGrp="1"/>
          </p:cNvSpPr>
          <p:nvPr>
            <p:ph idx="1"/>
          </p:nvPr>
        </p:nvSpPr>
        <p:spPr>
          <a:xfrm>
            <a:off x="313200" y="843558"/>
            <a:ext cx="7931208" cy="3700663"/>
          </a:xfrm>
        </p:spPr>
        <p:txBody>
          <a:bodyPr/>
          <a:lstStyle/>
          <a:p>
            <a:pPr lvl="0">
              <a:buClr>
                <a:srgbClr val="FFFFFF"/>
              </a:buClr>
            </a:pPr>
            <a:r>
              <a:rPr lang="fr-FR" sz="1800" dirty="0">
                <a:solidFill>
                  <a:srgbClr val="FF7900"/>
                </a:solidFill>
              </a:rPr>
              <a:t>Présenter le constat effectué et les problèmes identifiés.</a:t>
            </a:r>
          </a:p>
          <a:p>
            <a:pPr lvl="0">
              <a:spcBef>
                <a:spcPts val="1200"/>
              </a:spcBef>
              <a:buClr>
                <a:srgbClr val="FFFFFF"/>
              </a:buClr>
            </a:pPr>
            <a:r>
              <a:rPr lang="fr-FR" sz="1800" dirty="0">
                <a:solidFill>
                  <a:srgbClr val="FF7900"/>
                </a:solidFill>
              </a:rPr>
              <a:t>N’hésitez pas à appuyer votre constat par une mise en situation ou des chiffres (en citant vos sources)</a:t>
            </a:r>
          </a:p>
          <a:p>
            <a:pPr lvl="0">
              <a:spcBef>
                <a:spcPts val="1200"/>
              </a:spcBef>
              <a:buClr>
                <a:srgbClr val="FFFFFF"/>
              </a:buClr>
            </a:pPr>
            <a:endParaRPr lang="fr-FR" sz="1800" dirty="0">
              <a:solidFill>
                <a:srgbClr val="FF7900"/>
              </a:solidFill>
            </a:endParaRPr>
          </a:p>
          <a:p>
            <a:pPr lvl="0">
              <a:spcBef>
                <a:spcPts val="1200"/>
              </a:spcBef>
              <a:buClr>
                <a:srgbClr val="FFFFFF"/>
              </a:buClr>
            </a:pPr>
            <a:r>
              <a:rPr lang="fr-FR" i="1" dirty="0">
                <a:solidFill>
                  <a:srgbClr val="000000"/>
                </a:solidFill>
              </a:rPr>
              <a:t>Exemple : </a:t>
            </a:r>
          </a:p>
          <a:p>
            <a:pPr lvl="2">
              <a:buClr>
                <a:srgbClr val="FF7900"/>
              </a:buClr>
            </a:pPr>
            <a:r>
              <a:rPr lang="fr-FR" i="1" dirty="0">
                <a:solidFill>
                  <a:srgbClr val="000000"/>
                </a:solidFill>
              </a:rPr>
              <a:t>D’une part, les petites et moyennes entreprises sous-traitent de plus en plus leurs missions ponctuelles de création et développement dans le domaine digital à des freelances et auto-entrepreneurs. </a:t>
            </a:r>
          </a:p>
          <a:p>
            <a:pPr lvl="3">
              <a:buClr>
                <a:srgbClr val="FF7900"/>
              </a:buClr>
            </a:pPr>
            <a:r>
              <a:rPr lang="fr-FR" i="1" dirty="0">
                <a:solidFill>
                  <a:srgbClr val="000000"/>
                </a:solidFill>
              </a:rPr>
              <a:t>Problèmes : ces entreprises  n’ont aujourd’hui accès qu’à peu de savoir-faire (bouches à oreilles / réseau) et ne disposent pas d’un département dédié aux achats structuré ni d’un carnet d’adresse des meilleurs talents. </a:t>
            </a:r>
          </a:p>
          <a:p>
            <a:pPr lvl="2">
              <a:buClr>
                <a:srgbClr val="FF7900"/>
              </a:buClr>
            </a:pPr>
            <a:r>
              <a:rPr lang="fr-FR" i="1" dirty="0">
                <a:solidFill>
                  <a:srgbClr val="000000"/>
                </a:solidFill>
              </a:rPr>
              <a:t>D’autre part, plus de 300.000* malgaches sont auto-entrepreneurs dans les métiers du digital.</a:t>
            </a:r>
          </a:p>
          <a:p>
            <a:pPr lvl="3">
              <a:buClr>
                <a:srgbClr val="FF7900"/>
              </a:buClr>
            </a:pPr>
            <a:r>
              <a:rPr lang="fr-FR" i="1" dirty="0">
                <a:solidFill>
                  <a:srgbClr val="000000"/>
                </a:solidFill>
              </a:rPr>
              <a:t>Problèmes : ceux-ci disposent d’un faible budget de communication et n’ont pas forcément accès à un réseau professionnel suffisant pour vendre leurs prestations. </a:t>
            </a:r>
          </a:p>
          <a:p>
            <a:pPr marL="0" lvl="2" indent="0">
              <a:buClr>
                <a:srgbClr val="FF7900"/>
              </a:buClr>
              <a:buNone/>
            </a:pPr>
            <a:r>
              <a:rPr lang="fr-FR" sz="1050" i="1" dirty="0">
                <a:solidFill>
                  <a:srgbClr val="000000"/>
                </a:solidFill>
                <a:latin typeface="Helvetica 45 Light" pitchFamily="34" charset="0"/>
              </a:rPr>
              <a:t>* Chiffre inventé pour l’exemple. Merci de citer vos sources, en renseignant si possible un lien internet officiel. </a:t>
            </a:r>
          </a:p>
        </p:txBody>
      </p:sp>
      <p:sp>
        <p:nvSpPr>
          <p:cNvPr id="5" name="Title 4"/>
          <p:cNvSpPr>
            <a:spLocks noGrp="1"/>
          </p:cNvSpPr>
          <p:nvPr>
            <p:ph type="title"/>
          </p:nvPr>
        </p:nvSpPr>
        <p:spPr/>
        <p:txBody>
          <a:bodyPr/>
          <a:lstStyle/>
          <a:p>
            <a:r>
              <a:rPr lang="fr-FR" dirty="0"/>
              <a:t>Constat</a:t>
            </a:r>
          </a:p>
        </p:txBody>
      </p:sp>
    </p:spTree>
    <p:extLst>
      <p:ext uri="{BB962C8B-B14F-4D97-AF65-F5344CB8AC3E}">
        <p14:creationId xmlns:p14="http://schemas.microsoft.com/office/powerpoint/2010/main" val="39008853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Content Placeholder 23"/>
          <p:cNvSpPr>
            <a:spLocks noGrp="1"/>
          </p:cNvSpPr>
          <p:nvPr>
            <p:ph idx="1"/>
          </p:nvPr>
        </p:nvSpPr>
        <p:spPr>
          <a:xfrm>
            <a:off x="313200" y="1183484"/>
            <a:ext cx="7931208" cy="3360737"/>
          </a:xfrm>
        </p:spPr>
        <p:txBody>
          <a:bodyPr/>
          <a:lstStyle/>
          <a:p>
            <a:pPr lvl="0">
              <a:buClr>
                <a:srgbClr val="FFFFFF"/>
              </a:buClr>
            </a:pPr>
            <a:r>
              <a:rPr lang="fr-FR" sz="1600" dirty="0">
                <a:solidFill>
                  <a:srgbClr val="FF7900"/>
                </a:solidFill>
              </a:rPr>
              <a:t>Ne présentez pas ici votre produit ou service de manière détaillée mais bien votre proposition de valeur : Comment répondez-vous aux problèmes exposés précédemment ? </a:t>
            </a:r>
          </a:p>
          <a:p>
            <a:pPr lvl="0">
              <a:buClr>
                <a:srgbClr val="FFFFFF"/>
              </a:buClr>
            </a:pPr>
            <a:endParaRPr lang="fr-FR" dirty="0">
              <a:solidFill>
                <a:srgbClr val="FF7900"/>
              </a:solidFill>
            </a:endParaRPr>
          </a:p>
          <a:p>
            <a:pPr lvl="0">
              <a:buClr>
                <a:srgbClr val="FFFFFF"/>
              </a:buClr>
            </a:pPr>
            <a:endParaRPr lang="fr-FR" dirty="0">
              <a:solidFill>
                <a:srgbClr val="FF7900"/>
              </a:solidFill>
            </a:endParaRPr>
          </a:p>
          <a:p>
            <a:pPr lvl="0">
              <a:buClr>
                <a:srgbClr val="FFFFFF"/>
              </a:buClr>
            </a:pPr>
            <a:endParaRPr lang="fr-FR" dirty="0">
              <a:solidFill>
                <a:srgbClr val="FF7900"/>
              </a:solidFill>
            </a:endParaRPr>
          </a:p>
          <a:p>
            <a:pPr lvl="0">
              <a:buClr>
                <a:srgbClr val="FFFFFF"/>
              </a:buClr>
            </a:pPr>
            <a:endParaRPr lang="fr-FR" dirty="0">
              <a:solidFill>
                <a:srgbClr val="FF7900"/>
              </a:solidFill>
            </a:endParaRPr>
          </a:p>
          <a:p>
            <a:pPr lvl="0">
              <a:spcBef>
                <a:spcPts val="1200"/>
              </a:spcBef>
              <a:buClr>
                <a:srgbClr val="FFFFFF"/>
              </a:buClr>
            </a:pPr>
            <a:r>
              <a:rPr lang="fr-FR" i="1" dirty="0">
                <a:solidFill>
                  <a:srgbClr val="000000"/>
                </a:solidFill>
                <a:latin typeface="Helvetica 65 Medium" pitchFamily="2" charset="0"/>
              </a:rPr>
              <a:t>Exemple : </a:t>
            </a:r>
          </a:p>
          <a:p>
            <a:pPr lvl="0">
              <a:spcBef>
                <a:spcPts val="1200"/>
              </a:spcBef>
              <a:buClr>
                <a:srgbClr val="FFFFFF"/>
              </a:buClr>
            </a:pPr>
            <a:r>
              <a:rPr lang="fr-FR" i="1" dirty="0">
                <a:solidFill>
                  <a:srgbClr val="000000"/>
                </a:solidFill>
                <a:latin typeface="Helvetica 65 Medium" pitchFamily="2" charset="0"/>
              </a:rPr>
              <a:t>Nous sommes la 1</a:t>
            </a:r>
            <a:r>
              <a:rPr lang="fr-FR" i="1" baseline="30000" dirty="0">
                <a:solidFill>
                  <a:srgbClr val="000000"/>
                </a:solidFill>
                <a:latin typeface="Helvetica 65 Medium" pitchFamily="2" charset="0"/>
              </a:rPr>
              <a:t>ère</a:t>
            </a:r>
            <a:r>
              <a:rPr lang="fr-FR" i="1" dirty="0">
                <a:solidFill>
                  <a:srgbClr val="000000"/>
                </a:solidFill>
                <a:latin typeface="Helvetica 65 Medium" pitchFamily="2" charset="0"/>
              </a:rPr>
              <a:t> solution de digitalisation des services de </a:t>
            </a:r>
            <a:r>
              <a:rPr lang="fr-FR" i="1" dirty="0" err="1">
                <a:solidFill>
                  <a:srgbClr val="000000"/>
                </a:solidFill>
                <a:latin typeface="Helvetica 65 Medium" pitchFamily="2" charset="0"/>
              </a:rPr>
              <a:t>sourcing</a:t>
            </a:r>
            <a:r>
              <a:rPr lang="fr-FR" i="1" dirty="0">
                <a:solidFill>
                  <a:srgbClr val="000000"/>
                </a:solidFill>
                <a:latin typeface="Helvetica 65 Medium" pitchFamily="2" charset="0"/>
              </a:rPr>
              <a:t> de compétences digitales  à Douala! </a:t>
            </a:r>
          </a:p>
          <a:p>
            <a:pPr marL="0" lvl="2" indent="0">
              <a:buClr>
                <a:srgbClr val="FF7900"/>
              </a:buClr>
              <a:buNone/>
            </a:pPr>
            <a:r>
              <a:rPr lang="fr-FR" i="1" dirty="0">
                <a:solidFill>
                  <a:srgbClr val="000000"/>
                </a:solidFill>
                <a:latin typeface="Helvetica 65 Medium" pitchFamily="2" charset="0"/>
              </a:rPr>
              <a:t>Notre entreprise propose la première « </a:t>
            </a:r>
            <a:r>
              <a:rPr lang="fr-FR" i="1" dirty="0" err="1">
                <a:solidFill>
                  <a:srgbClr val="000000"/>
                </a:solidFill>
                <a:latin typeface="Helvetica 65 Medium" pitchFamily="2" charset="0"/>
              </a:rPr>
              <a:t>market</a:t>
            </a:r>
            <a:r>
              <a:rPr lang="fr-FR" i="1" dirty="0">
                <a:solidFill>
                  <a:srgbClr val="000000"/>
                </a:solidFill>
                <a:latin typeface="Helvetica 65 Medium" pitchFamily="2" charset="0"/>
              </a:rPr>
              <a:t>-place » des talents des métiers du digital à destination entreprises. Notre plateforme répertorie les auto-entrepreneurs en présentant leurs offres et savoir-faire et les mets en relation avec des clients potentiels. </a:t>
            </a:r>
          </a:p>
          <a:p>
            <a:pPr marL="0" lvl="2" indent="0">
              <a:buClr>
                <a:srgbClr val="FF7900"/>
              </a:buClr>
              <a:buNone/>
            </a:pPr>
            <a:r>
              <a:rPr lang="fr-FR" sz="1000" i="1" dirty="0">
                <a:solidFill>
                  <a:srgbClr val="000000"/>
                </a:solidFill>
                <a:latin typeface="Helvetica 65 Medium" pitchFamily="2" charset="0"/>
              </a:rPr>
              <a:t> </a:t>
            </a:r>
          </a:p>
        </p:txBody>
      </p:sp>
      <p:sp>
        <p:nvSpPr>
          <p:cNvPr id="5" name="Title 4"/>
          <p:cNvSpPr>
            <a:spLocks noGrp="1"/>
          </p:cNvSpPr>
          <p:nvPr>
            <p:ph type="title"/>
          </p:nvPr>
        </p:nvSpPr>
        <p:spPr/>
        <p:txBody>
          <a:bodyPr/>
          <a:lstStyle/>
          <a:p>
            <a:r>
              <a:rPr lang="fr-FR" dirty="0"/>
              <a:t>Solution</a:t>
            </a:r>
          </a:p>
        </p:txBody>
      </p:sp>
    </p:spTree>
    <p:extLst>
      <p:ext uri="{BB962C8B-B14F-4D97-AF65-F5344CB8AC3E}">
        <p14:creationId xmlns:p14="http://schemas.microsoft.com/office/powerpoint/2010/main" val="3548817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Content Placeholder 23"/>
          <p:cNvSpPr>
            <a:spLocks noGrp="1"/>
          </p:cNvSpPr>
          <p:nvPr>
            <p:ph idx="1"/>
          </p:nvPr>
        </p:nvSpPr>
        <p:spPr>
          <a:xfrm>
            <a:off x="313200" y="1183484"/>
            <a:ext cx="8579280" cy="3360737"/>
          </a:xfrm>
        </p:spPr>
        <p:txBody>
          <a:bodyPr/>
          <a:lstStyle/>
          <a:p>
            <a:pPr lvl="0">
              <a:buClr>
                <a:srgbClr val="FFFFFF"/>
              </a:buClr>
            </a:pPr>
            <a:r>
              <a:rPr lang="fr-FR" dirty="0">
                <a:solidFill>
                  <a:srgbClr val="FF7900"/>
                </a:solidFill>
              </a:rPr>
              <a:t>Présenter ici votre produit de manière détaillée : ses principales fonctionnalités et facteurs de différenciation par rapport à vos concurrents </a:t>
            </a:r>
          </a:p>
          <a:p>
            <a:pPr lvl="0">
              <a:buClr>
                <a:srgbClr val="FFFFFF"/>
              </a:buClr>
            </a:pPr>
            <a:r>
              <a:rPr lang="fr-FR" dirty="0">
                <a:solidFill>
                  <a:srgbClr val="FF7900"/>
                </a:solidFill>
              </a:rPr>
              <a:t>Ajouter si possible des photos / imprimés écrans de la solution. Si besoin, expliquer le parcours simplifié de l’utilisateur, par étape (connexion au site, </a:t>
            </a:r>
            <a:r>
              <a:rPr lang="fr-FR" dirty="0" err="1">
                <a:solidFill>
                  <a:srgbClr val="FF7900"/>
                </a:solidFill>
              </a:rPr>
              <a:t>process</a:t>
            </a:r>
            <a:r>
              <a:rPr lang="fr-FR" dirty="0">
                <a:solidFill>
                  <a:srgbClr val="FF7900"/>
                </a:solidFill>
              </a:rPr>
              <a:t> d’inscription, d’achats, de livraison, par exemple.</a:t>
            </a:r>
          </a:p>
          <a:p>
            <a:pPr lvl="0">
              <a:spcBef>
                <a:spcPts val="1200"/>
              </a:spcBef>
              <a:buClr>
                <a:srgbClr val="FFFFFF"/>
              </a:buClr>
            </a:pPr>
            <a:endParaRPr lang="fr-FR" dirty="0">
              <a:solidFill>
                <a:srgbClr val="000000"/>
              </a:solidFill>
            </a:endParaRPr>
          </a:p>
          <a:p>
            <a:pPr lvl="0">
              <a:spcBef>
                <a:spcPts val="1200"/>
              </a:spcBef>
              <a:buClr>
                <a:srgbClr val="FFFFFF"/>
              </a:buClr>
            </a:pPr>
            <a:r>
              <a:rPr lang="fr-FR" dirty="0">
                <a:solidFill>
                  <a:srgbClr val="000000"/>
                </a:solidFill>
              </a:rPr>
              <a:t>Exemple : </a:t>
            </a:r>
          </a:p>
          <a:p>
            <a:pPr lvl="2">
              <a:buClr>
                <a:srgbClr val="FF7900"/>
              </a:buClr>
            </a:pPr>
            <a:r>
              <a:rPr lang="fr-FR" dirty="0">
                <a:solidFill>
                  <a:srgbClr val="000000"/>
                </a:solidFill>
              </a:rPr>
              <a:t>Une fois le besoin de la prestation identifié chez l’entreprise, elle se rend sur notre plateforme et choisi parmi les différentes prestations celles qui l’intéressent. La plateforme lui pousse automatiquement les offres des auto-entrepreneurs en affichant leurs prix, les notes données par des clients passés et des exemples (portefeuilles) de prestations réalisées par ceux-ci. </a:t>
            </a:r>
          </a:p>
          <a:p>
            <a:pPr lvl="2">
              <a:buClr>
                <a:srgbClr val="FF7900"/>
              </a:buClr>
            </a:pPr>
            <a:r>
              <a:rPr lang="fr-FR" dirty="0">
                <a:solidFill>
                  <a:srgbClr val="000000"/>
                </a:solidFill>
              </a:rPr>
              <a:t>La plateforme ne communique pas les noms/prénoms ou coordonnées des prestataires, tous les contacts se font via notre plateforme, de façon à ne pas laisser les partenaires se contacter sans nous solliciter</a:t>
            </a:r>
          </a:p>
          <a:p>
            <a:pPr lvl="2">
              <a:buClr>
                <a:srgbClr val="FF7900"/>
              </a:buClr>
            </a:pPr>
            <a:r>
              <a:rPr lang="fr-FR" dirty="0">
                <a:solidFill>
                  <a:srgbClr val="000000"/>
                </a:solidFill>
              </a:rPr>
              <a:t>Côté auto-entrepreneurs / prestataires : notre plateforme donne accès à des premiers outils comptables pour les accompagner dans le processus de vente (génération de devis et facture via la plateforme). </a:t>
            </a:r>
          </a:p>
          <a:p>
            <a:pPr lvl="2">
              <a:buClr>
                <a:srgbClr val="FF7900"/>
              </a:buClr>
            </a:pPr>
            <a:endParaRPr lang="fr-FR" dirty="0">
              <a:solidFill>
                <a:srgbClr val="000000"/>
              </a:solidFill>
            </a:endParaRPr>
          </a:p>
          <a:p>
            <a:pPr lvl="2">
              <a:buClr>
                <a:srgbClr val="FF7900"/>
              </a:buClr>
            </a:pPr>
            <a:endParaRPr lang="fr-FR" dirty="0">
              <a:solidFill>
                <a:srgbClr val="000000"/>
              </a:solidFill>
            </a:endParaRPr>
          </a:p>
          <a:p>
            <a:pPr lvl="2">
              <a:buClr>
                <a:srgbClr val="FF7900"/>
              </a:buClr>
            </a:pPr>
            <a:endParaRPr lang="fr-FR" dirty="0">
              <a:solidFill>
                <a:srgbClr val="000000"/>
              </a:solidFill>
            </a:endParaRPr>
          </a:p>
        </p:txBody>
      </p:sp>
      <p:sp>
        <p:nvSpPr>
          <p:cNvPr id="5" name="Title 4"/>
          <p:cNvSpPr>
            <a:spLocks noGrp="1"/>
          </p:cNvSpPr>
          <p:nvPr>
            <p:ph type="title"/>
          </p:nvPr>
        </p:nvSpPr>
        <p:spPr/>
        <p:txBody>
          <a:bodyPr/>
          <a:lstStyle/>
          <a:p>
            <a:r>
              <a:rPr lang="fr-FR" dirty="0"/>
              <a:t>Produit / Service</a:t>
            </a:r>
          </a:p>
        </p:txBody>
      </p:sp>
    </p:spTree>
    <p:extLst>
      <p:ext uri="{BB962C8B-B14F-4D97-AF65-F5344CB8AC3E}">
        <p14:creationId xmlns:p14="http://schemas.microsoft.com/office/powerpoint/2010/main" val="5206523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Content Placeholder 23"/>
          <p:cNvSpPr>
            <a:spLocks noGrp="1"/>
          </p:cNvSpPr>
          <p:nvPr>
            <p:ph idx="1"/>
          </p:nvPr>
        </p:nvSpPr>
        <p:spPr>
          <a:xfrm>
            <a:off x="251520" y="915566"/>
            <a:ext cx="7931208" cy="3360737"/>
          </a:xfrm>
        </p:spPr>
        <p:txBody>
          <a:bodyPr/>
          <a:lstStyle/>
          <a:p>
            <a:pPr lvl="0">
              <a:buClr>
                <a:srgbClr val="FFFFFF"/>
              </a:buClr>
            </a:pPr>
            <a:r>
              <a:rPr lang="fr-FR" dirty="0">
                <a:solidFill>
                  <a:srgbClr val="FF7900"/>
                </a:solidFill>
              </a:rPr>
              <a:t>Présenter ici et de façon chiffrée (citer vos sources ou expliquer votre calcul) la composition et taille de votre marché.</a:t>
            </a:r>
          </a:p>
          <a:p>
            <a:pPr lvl="0">
              <a:buClr>
                <a:srgbClr val="FFFFFF"/>
              </a:buClr>
            </a:pPr>
            <a:r>
              <a:rPr lang="fr-FR" dirty="0">
                <a:solidFill>
                  <a:srgbClr val="FF7900"/>
                </a:solidFill>
              </a:rPr>
              <a:t>Présenter vos cibles prioritaires, au nombre de 2 ou 3 maximum : à qui allez-vous vendre en premier ? Pourquoi ? </a:t>
            </a:r>
          </a:p>
          <a:p>
            <a:pPr lvl="0">
              <a:buClr>
                <a:srgbClr val="FFFFFF"/>
              </a:buClr>
            </a:pPr>
            <a:endParaRPr lang="fr-FR" dirty="0">
              <a:solidFill>
                <a:srgbClr val="000000"/>
              </a:solidFill>
            </a:endParaRPr>
          </a:p>
          <a:p>
            <a:pPr lvl="0">
              <a:spcBef>
                <a:spcPts val="1200"/>
              </a:spcBef>
              <a:buClr>
                <a:srgbClr val="FFFFFF"/>
              </a:buClr>
            </a:pPr>
            <a:r>
              <a:rPr lang="fr-FR" i="1" dirty="0">
                <a:solidFill>
                  <a:srgbClr val="000000"/>
                </a:solidFill>
                <a:latin typeface="Helvetica 65 Medium" pitchFamily="2" charset="0"/>
              </a:rPr>
              <a:t>Exemple : </a:t>
            </a:r>
          </a:p>
          <a:p>
            <a:pPr lvl="2">
              <a:buClr>
                <a:srgbClr val="FF7900"/>
              </a:buClr>
            </a:pPr>
            <a:r>
              <a:rPr lang="fr-FR" i="1" dirty="0">
                <a:solidFill>
                  <a:srgbClr val="000000"/>
                </a:solidFill>
                <a:latin typeface="Helvetica 65 Medium" pitchFamily="2" charset="0"/>
              </a:rPr>
              <a:t>Notre marché : Tout professionnel qui cherche un prestataire dans les métiers du digital. </a:t>
            </a:r>
          </a:p>
          <a:p>
            <a:pPr lvl="2">
              <a:buClr>
                <a:srgbClr val="FF7900"/>
              </a:buClr>
            </a:pPr>
            <a:r>
              <a:rPr lang="fr-FR" i="1" dirty="0">
                <a:solidFill>
                  <a:srgbClr val="000000"/>
                </a:solidFill>
                <a:latin typeface="Helvetica 65 Medium" pitchFamily="2" charset="0"/>
              </a:rPr>
              <a:t>Notre 1</a:t>
            </a:r>
            <a:r>
              <a:rPr lang="fr-FR" i="1" baseline="30000" dirty="0">
                <a:solidFill>
                  <a:srgbClr val="000000"/>
                </a:solidFill>
                <a:latin typeface="Helvetica 65 Medium" pitchFamily="2" charset="0"/>
              </a:rPr>
              <a:t>ère</a:t>
            </a:r>
            <a:r>
              <a:rPr lang="fr-FR" i="1" dirty="0">
                <a:solidFill>
                  <a:srgbClr val="000000"/>
                </a:solidFill>
                <a:latin typeface="Helvetica 65 Medium" pitchFamily="2" charset="0"/>
              </a:rPr>
              <a:t> cible : Petites et moyennes entreprises ne disposant pas de fonctions achats et n’ayant pas les moyens de passer par des cabinets de communication digitale ou des entreprises de sous-traitance en digitalisation. Cette cible représente 85% du tissu économique du Cameroun </a:t>
            </a:r>
            <a:r>
              <a:rPr lang="fr-FR" sz="1200" i="1" dirty="0">
                <a:solidFill>
                  <a:srgbClr val="000000"/>
                </a:solidFill>
                <a:latin typeface="Helvetica 65 Medium" pitchFamily="2" charset="0"/>
              </a:rPr>
              <a:t>(étude </a:t>
            </a:r>
            <a:r>
              <a:rPr lang="fr-FR" sz="1200" i="1" dirty="0" err="1">
                <a:solidFill>
                  <a:srgbClr val="000000"/>
                </a:solidFill>
                <a:latin typeface="Helvetica 65 Medium" pitchFamily="2" charset="0"/>
              </a:rPr>
              <a:t>Instat</a:t>
            </a:r>
            <a:r>
              <a:rPr lang="fr-FR" sz="1200" i="1" dirty="0">
                <a:solidFill>
                  <a:srgbClr val="000000"/>
                </a:solidFill>
                <a:latin typeface="Helvetica 65 Medium" pitchFamily="2" charset="0"/>
              </a:rPr>
              <a:t> déc. 2017) </a:t>
            </a:r>
            <a:r>
              <a:rPr lang="fr-FR" i="1" dirty="0">
                <a:solidFill>
                  <a:srgbClr val="000000"/>
                </a:solidFill>
                <a:latin typeface="Helvetica 65 Medium" pitchFamily="2" charset="0"/>
              </a:rPr>
              <a:t>.</a:t>
            </a:r>
          </a:p>
          <a:p>
            <a:pPr lvl="2">
              <a:buClr>
                <a:srgbClr val="FF7900"/>
              </a:buClr>
            </a:pPr>
            <a:r>
              <a:rPr lang="fr-FR" i="1" dirty="0">
                <a:solidFill>
                  <a:srgbClr val="000000"/>
                </a:solidFill>
                <a:latin typeface="Helvetica 65 Medium" pitchFamily="2" charset="0"/>
              </a:rPr>
              <a:t>Notre stratégie d’acquisition : vente en salons dédiés aux PMEs , partenariats avec les associations et chambres de commerces ayant accès au réseau des PMEs  communication en ligne et dans des médias spécialisés</a:t>
            </a:r>
          </a:p>
          <a:p>
            <a:pPr lvl="2">
              <a:buClr>
                <a:srgbClr val="FF7900"/>
              </a:buClr>
            </a:pPr>
            <a:r>
              <a:rPr lang="fr-FR" i="1" dirty="0">
                <a:solidFill>
                  <a:srgbClr val="000000"/>
                </a:solidFill>
                <a:latin typeface="Helvetica 65 Medium" pitchFamily="2" charset="0"/>
              </a:rPr>
              <a:t>Côté freelances et auto-entrepreneurs : contact dès la sortie d’universités (métiers spécialisées dans les métiers du digital) et partenariats avec les associations d’aide à l’entrepreneuriat. </a:t>
            </a:r>
          </a:p>
          <a:p>
            <a:pPr lvl="2">
              <a:buClr>
                <a:srgbClr val="FF7900"/>
              </a:buClr>
            </a:pPr>
            <a:endParaRPr lang="fr-FR" i="1" dirty="0">
              <a:solidFill>
                <a:srgbClr val="000000"/>
              </a:solidFill>
              <a:latin typeface="Helvetica 65 Medium" pitchFamily="2" charset="0"/>
            </a:endParaRPr>
          </a:p>
          <a:p>
            <a:pPr lvl="2">
              <a:buClr>
                <a:srgbClr val="FF7900"/>
              </a:buClr>
            </a:pPr>
            <a:endParaRPr lang="fr-FR" i="1" dirty="0">
              <a:solidFill>
                <a:srgbClr val="000000"/>
              </a:solidFill>
              <a:latin typeface="Helvetica 65 Medium" pitchFamily="2" charset="0"/>
            </a:endParaRPr>
          </a:p>
          <a:p>
            <a:pPr lvl="2">
              <a:buClr>
                <a:srgbClr val="FF7900"/>
              </a:buClr>
            </a:pPr>
            <a:r>
              <a:rPr lang="fr-FR" i="1" dirty="0">
                <a:solidFill>
                  <a:srgbClr val="000000"/>
                </a:solidFill>
                <a:latin typeface="Helvetica 65 Medium" pitchFamily="2" charset="0"/>
              </a:rPr>
              <a:t>1</a:t>
            </a:r>
          </a:p>
        </p:txBody>
      </p:sp>
      <p:sp>
        <p:nvSpPr>
          <p:cNvPr id="5" name="Title 4"/>
          <p:cNvSpPr>
            <a:spLocks noGrp="1"/>
          </p:cNvSpPr>
          <p:nvPr>
            <p:ph type="title"/>
          </p:nvPr>
        </p:nvSpPr>
        <p:spPr/>
        <p:txBody>
          <a:bodyPr/>
          <a:lstStyle/>
          <a:p>
            <a:r>
              <a:rPr lang="fr-FR" dirty="0"/>
              <a:t>Marché / Cible</a:t>
            </a:r>
          </a:p>
        </p:txBody>
      </p:sp>
    </p:spTree>
    <p:extLst>
      <p:ext uri="{BB962C8B-B14F-4D97-AF65-F5344CB8AC3E}">
        <p14:creationId xmlns:p14="http://schemas.microsoft.com/office/powerpoint/2010/main" val="2246476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Content Placeholder 23"/>
          <p:cNvSpPr>
            <a:spLocks noGrp="1"/>
          </p:cNvSpPr>
          <p:nvPr>
            <p:ph idx="1"/>
          </p:nvPr>
        </p:nvSpPr>
        <p:spPr>
          <a:xfrm>
            <a:off x="313200" y="771550"/>
            <a:ext cx="8651288" cy="3772671"/>
          </a:xfrm>
        </p:spPr>
        <p:txBody>
          <a:bodyPr/>
          <a:lstStyle/>
          <a:p>
            <a:pPr lvl="0">
              <a:buClr>
                <a:srgbClr val="FFFFFF"/>
              </a:buClr>
            </a:pPr>
            <a:r>
              <a:rPr lang="fr-FR" sz="1600" dirty="0">
                <a:solidFill>
                  <a:srgbClr val="FF7900"/>
                </a:solidFill>
              </a:rPr>
              <a:t>Comment votre entreprise se rémunère-t-elle / Comment gagnez-vous de l’argent ?</a:t>
            </a:r>
          </a:p>
          <a:p>
            <a:pPr lvl="0">
              <a:buClr>
                <a:srgbClr val="FFFFFF"/>
              </a:buClr>
            </a:pPr>
            <a:r>
              <a:rPr lang="fr-FR" sz="1600" i="1" dirty="0">
                <a:solidFill>
                  <a:srgbClr val="FF7900"/>
                </a:solidFill>
              </a:rPr>
              <a:t>Commission, abonnement, prix fixes, médias, </a:t>
            </a:r>
            <a:r>
              <a:rPr lang="fr-FR" sz="1600" i="1" dirty="0" err="1">
                <a:solidFill>
                  <a:srgbClr val="FF7900"/>
                </a:solidFill>
              </a:rPr>
              <a:t>freemium</a:t>
            </a:r>
            <a:r>
              <a:rPr lang="fr-FR" sz="1600" i="1" dirty="0">
                <a:solidFill>
                  <a:srgbClr val="FF7900"/>
                </a:solidFill>
              </a:rPr>
              <a:t> …?</a:t>
            </a:r>
          </a:p>
          <a:p>
            <a:pPr lvl="0">
              <a:buClr>
                <a:srgbClr val="FFFFFF"/>
              </a:buClr>
            </a:pPr>
            <a:r>
              <a:rPr lang="fr-FR" sz="1600" dirty="0">
                <a:solidFill>
                  <a:srgbClr val="FF7900"/>
                </a:solidFill>
              </a:rPr>
              <a:t>Expliquer de manière claire et concise vos différentes offres, leurs spécificités, leurs prix.</a:t>
            </a:r>
          </a:p>
          <a:p>
            <a:pPr lvl="0">
              <a:buClr>
                <a:srgbClr val="FFFFFF"/>
              </a:buClr>
            </a:pPr>
            <a:r>
              <a:rPr lang="fr-FR" sz="1600" dirty="0">
                <a:solidFill>
                  <a:srgbClr val="FF7900"/>
                </a:solidFill>
              </a:rPr>
              <a:t>Expliquez également quels est selon vous le chiffre d’affaire maximum que vous pouvez générer</a:t>
            </a:r>
            <a:r>
              <a:rPr lang="fr-FR" dirty="0">
                <a:solidFill>
                  <a:srgbClr val="FF7900"/>
                </a:solidFill>
              </a:rPr>
              <a:t>.</a:t>
            </a:r>
          </a:p>
          <a:p>
            <a:pPr lvl="0">
              <a:buClr>
                <a:srgbClr val="FFFFFF"/>
              </a:buClr>
            </a:pPr>
            <a:r>
              <a:rPr lang="fr-FR" dirty="0">
                <a:solidFill>
                  <a:schemeClr val="tx1"/>
                </a:solidFill>
                <a:latin typeface="Helvetica 65 Medium" pitchFamily="2" charset="0"/>
              </a:rPr>
              <a:t>Attention ! Nous ne cherchons pas des entreprises qui nous promettent des milliards d’</a:t>
            </a:r>
            <a:r>
              <a:rPr lang="fr-FR" dirty="0" err="1">
                <a:solidFill>
                  <a:schemeClr val="tx1"/>
                </a:solidFill>
                <a:latin typeface="Helvetica 65 Medium" pitchFamily="2" charset="0"/>
              </a:rPr>
              <a:t>Ariary</a:t>
            </a:r>
            <a:r>
              <a:rPr lang="fr-FR" dirty="0">
                <a:solidFill>
                  <a:schemeClr val="tx1"/>
                </a:solidFill>
                <a:latin typeface="Helvetica 65 Medium" pitchFamily="2" charset="0"/>
              </a:rPr>
              <a:t> de chiffres d’affaires en 2 ans. Nous préférons des chiffres plus réalistes, réfléchis et argumentés</a:t>
            </a:r>
          </a:p>
          <a:p>
            <a:pPr lvl="0">
              <a:spcBef>
                <a:spcPts val="1200"/>
              </a:spcBef>
              <a:buClr>
                <a:srgbClr val="FFFFFF"/>
              </a:buClr>
            </a:pPr>
            <a:r>
              <a:rPr lang="fr-FR" dirty="0">
                <a:solidFill>
                  <a:srgbClr val="000000"/>
                </a:solidFill>
                <a:latin typeface="Helvetica 65 Medium" pitchFamily="2" charset="0"/>
              </a:rPr>
              <a:t>Exemple : </a:t>
            </a:r>
          </a:p>
          <a:p>
            <a:pPr lvl="2">
              <a:buClr>
                <a:srgbClr val="FF7900"/>
              </a:buClr>
            </a:pPr>
            <a:r>
              <a:rPr lang="fr-FR" i="1" dirty="0">
                <a:solidFill>
                  <a:srgbClr val="000000"/>
                </a:solidFill>
                <a:latin typeface="Helvetica 65 Medium" pitchFamily="2" charset="0"/>
              </a:rPr>
              <a:t>Aujourd’hui : Notre business model est celui d’une </a:t>
            </a:r>
            <a:r>
              <a:rPr lang="fr-FR" i="1" dirty="0" err="1">
                <a:solidFill>
                  <a:srgbClr val="000000"/>
                </a:solidFill>
                <a:latin typeface="Helvetica 65 Medium" pitchFamily="2" charset="0"/>
              </a:rPr>
              <a:t>marketplace</a:t>
            </a:r>
            <a:r>
              <a:rPr lang="fr-FR" i="1" dirty="0">
                <a:solidFill>
                  <a:srgbClr val="000000"/>
                </a:solidFill>
                <a:latin typeface="Helvetica 65 Medium" pitchFamily="2" charset="0"/>
              </a:rPr>
              <a:t> à savoir que nous prenons une commission de 5% sur le salaire du prestataire pour chaque contractualisation effectuée via notre plateforme. Nous estimons pouvoir générer 3 millions d’AR par mois dans un an :</a:t>
            </a:r>
            <a:br>
              <a:rPr lang="fr-FR" i="1" dirty="0">
                <a:solidFill>
                  <a:srgbClr val="000000"/>
                </a:solidFill>
                <a:latin typeface="Helvetica 65 Medium" pitchFamily="2" charset="0"/>
              </a:rPr>
            </a:br>
            <a:r>
              <a:rPr lang="fr-FR" i="1" dirty="0">
                <a:solidFill>
                  <a:srgbClr val="000000"/>
                </a:solidFill>
                <a:latin typeface="Helvetica 65 Medium" pitchFamily="2" charset="0"/>
              </a:rPr>
              <a:t>5% (commission) * 300 (nombre de freelances enregistrés en un an) * 200,000ar (prix moyen d’une mission freelance)</a:t>
            </a:r>
          </a:p>
          <a:p>
            <a:pPr lvl="2">
              <a:buClr>
                <a:srgbClr val="FF7900"/>
              </a:buClr>
            </a:pPr>
            <a:r>
              <a:rPr lang="fr-FR" i="1" dirty="0">
                <a:solidFill>
                  <a:srgbClr val="000000"/>
                </a:solidFill>
                <a:latin typeface="Helvetica 65 Medium" pitchFamily="2" charset="0"/>
              </a:rPr>
              <a:t>Dans 3 ans (une fois le trafique généré suffisant) : Les prestataires paieront mensuellement ou annuellement pour être répertorié sur notre plateforme.</a:t>
            </a:r>
          </a:p>
          <a:p>
            <a:pPr lvl="2">
              <a:buClr>
                <a:srgbClr val="FF7900"/>
              </a:buClr>
            </a:pPr>
            <a:endParaRPr lang="fr-FR" dirty="0">
              <a:solidFill>
                <a:srgbClr val="000000"/>
              </a:solidFill>
            </a:endParaRPr>
          </a:p>
        </p:txBody>
      </p:sp>
      <p:sp>
        <p:nvSpPr>
          <p:cNvPr id="5" name="Title 4"/>
          <p:cNvSpPr>
            <a:spLocks noGrp="1"/>
          </p:cNvSpPr>
          <p:nvPr>
            <p:ph type="title"/>
          </p:nvPr>
        </p:nvSpPr>
        <p:spPr/>
        <p:txBody>
          <a:bodyPr/>
          <a:lstStyle/>
          <a:p>
            <a:r>
              <a:rPr lang="fr-FR" dirty="0"/>
              <a:t>Business model </a:t>
            </a:r>
          </a:p>
        </p:txBody>
      </p:sp>
    </p:spTree>
    <p:extLst>
      <p:ext uri="{BB962C8B-B14F-4D97-AF65-F5344CB8AC3E}">
        <p14:creationId xmlns:p14="http://schemas.microsoft.com/office/powerpoint/2010/main" val="32765810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Content Placeholder 23"/>
          <p:cNvSpPr>
            <a:spLocks noGrp="1"/>
          </p:cNvSpPr>
          <p:nvPr>
            <p:ph idx="1"/>
          </p:nvPr>
        </p:nvSpPr>
        <p:spPr>
          <a:xfrm>
            <a:off x="313200" y="843558"/>
            <a:ext cx="7931208" cy="3360737"/>
          </a:xfrm>
        </p:spPr>
        <p:txBody>
          <a:bodyPr/>
          <a:lstStyle/>
          <a:p>
            <a:pPr lvl="0">
              <a:buClr>
                <a:srgbClr val="FFFFFF"/>
              </a:buClr>
            </a:pPr>
            <a:r>
              <a:rPr lang="fr-FR" dirty="0">
                <a:solidFill>
                  <a:srgbClr val="FF7900"/>
                </a:solidFill>
              </a:rPr>
              <a:t>Présenter les principaux acteurs de votre secteur (sur votre métier) et comment vous vous différenciez d’eux. </a:t>
            </a:r>
          </a:p>
          <a:p>
            <a:pPr lvl="0">
              <a:buClr>
                <a:srgbClr val="FFFFFF"/>
              </a:buClr>
            </a:pPr>
            <a:r>
              <a:rPr lang="fr-FR" dirty="0">
                <a:solidFill>
                  <a:srgbClr val="FF7900"/>
                </a:solidFill>
              </a:rPr>
              <a:t>Format graphique ou tableau simplifié recommandé. </a:t>
            </a:r>
          </a:p>
          <a:p>
            <a:pPr lvl="0">
              <a:buClr>
                <a:srgbClr val="FFFFFF"/>
              </a:buClr>
            </a:pPr>
            <a:endParaRPr lang="fr-FR" dirty="0">
              <a:solidFill>
                <a:srgbClr val="FF7900"/>
              </a:solidFill>
            </a:endParaRPr>
          </a:p>
          <a:p>
            <a:pPr lvl="0">
              <a:buClr>
                <a:srgbClr val="FFFFFF"/>
              </a:buClr>
            </a:pPr>
            <a:endParaRPr lang="fr-FR" dirty="0">
              <a:solidFill>
                <a:srgbClr val="FF7900"/>
              </a:solidFill>
            </a:endParaRPr>
          </a:p>
          <a:p>
            <a:pPr lvl="0">
              <a:spcBef>
                <a:spcPts val="1200"/>
              </a:spcBef>
              <a:buClr>
                <a:srgbClr val="FFFFFF"/>
              </a:buClr>
            </a:pPr>
            <a:r>
              <a:rPr lang="fr-FR" dirty="0">
                <a:solidFill>
                  <a:srgbClr val="000000"/>
                </a:solidFill>
              </a:rPr>
              <a:t>Exemple : </a:t>
            </a:r>
            <a:r>
              <a:rPr lang="fr-FR" sz="1100" dirty="0">
                <a:solidFill>
                  <a:srgbClr val="000000"/>
                </a:solidFill>
              </a:rPr>
              <a:t>Dans ce cas précis, pas de concurrents directs mais des acteurs présents sur ces métiers …</a:t>
            </a:r>
            <a:endParaRPr lang="fr-FR" dirty="0">
              <a:solidFill>
                <a:srgbClr val="000000"/>
              </a:solidFill>
            </a:endParaRPr>
          </a:p>
          <a:p>
            <a:pPr lvl="2">
              <a:buClr>
                <a:srgbClr val="FF7900"/>
              </a:buClr>
            </a:pPr>
            <a:endParaRPr lang="fr-FR" dirty="0">
              <a:solidFill>
                <a:srgbClr val="000000"/>
              </a:solidFill>
            </a:endParaRPr>
          </a:p>
        </p:txBody>
      </p:sp>
      <p:sp>
        <p:nvSpPr>
          <p:cNvPr id="5" name="Title 4"/>
          <p:cNvSpPr>
            <a:spLocks noGrp="1"/>
          </p:cNvSpPr>
          <p:nvPr>
            <p:ph type="title"/>
          </p:nvPr>
        </p:nvSpPr>
        <p:spPr/>
        <p:txBody>
          <a:bodyPr/>
          <a:lstStyle/>
          <a:p>
            <a:r>
              <a:rPr lang="fr-FR" dirty="0"/>
              <a:t>Concurrents</a:t>
            </a:r>
          </a:p>
        </p:txBody>
      </p:sp>
      <p:graphicFrame>
        <p:nvGraphicFramePr>
          <p:cNvPr id="4" name="Table 9"/>
          <p:cNvGraphicFramePr>
            <a:graphicFrameLocks noGrp="1"/>
          </p:cNvGraphicFramePr>
          <p:nvPr>
            <p:extLst>
              <p:ext uri="{D42A27DB-BD31-4B8C-83A1-F6EECF244321}">
                <p14:modId xmlns:p14="http://schemas.microsoft.com/office/powerpoint/2010/main" val="2721589112"/>
              </p:ext>
            </p:extLst>
          </p:nvPr>
        </p:nvGraphicFramePr>
        <p:xfrm>
          <a:off x="539552" y="2499742"/>
          <a:ext cx="8064895" cy="2377440"/>
        </p:xfrm>
        <a:graphic>
          <a:graphicData uri="http://schemas.openxmlformats.org/drawingml/2006/table">
            <a:tbl>
              <a:tblPr firstRow="1" bandRow="1">
                <a:tableStyleId>{5C22544A-7EE6-4342-B048-85BDC9FD1C3A}</a:tableStyleId>
              </a:tblPr>
              <a:tblGrid>
                <a:gridCol w="2404885">
                  <a:extLst>
                    <a:ext uri="{9D8B030D-6E8A-4147-A177-3AD203B41FA5}">
                      <a16:colId xmlns:a16="http://schemas.microsoft.com/office/drawing/2014/main" val="20000"/>
                    </a:ext>
                  </a:extLst>
                </a:gridCol>
                <a:gridCol w="1886670">
                  <a:extLst>
                    <a:ext uri="{9D8B030D-6E8A-4147-A177-3AD203B41FA5}">
                      <a16:colId xmlns:a16="http://schemas.microsoft.com/office/drawing/2014/main" val="20001"/>
                    </a:ext>
                  </a:extLst>
                </a:gridCol>
                <a:gridCol w="1886670">
                  <a:extLst>
                    <a:ext uri="{9D8B030D-6E8A-4147-A177-3AD203B41FA5}">
                      <a16:colId xmlns:a16="http://schemas.microsoft.com/office/drawing/2014/main" val="20002"/>
                    </a:ext>
                  </a:extLst>
                </a:gridCol>
                <a:gridCol w="1886670">
                  <a:extLst>
                    <a:ext uri="{9D8B030D-6E8A-4147-A177-3AD203B41FA5}">
                      <a16:colId xmlns:a16="http://schemas.microsoft.com/office/drawing/2014/main" val="20003"/>
                    </a:ext>
                  </a:extLst>
                </a:gridCol>
              </a:tblGrid>
              <a:tr h="274637">
                <a:tc>
                  <a:txBody>
                    <a:bodyPr/>
                    <a:lstStyle/>
                    <a:p>
                      <a:pPr algn="l"/>
                      <a:r>
                        <a:rPr lang="fr-FR" sz="800" b="0" noProof="0" dirty="0">
                          <a:solidFill>
                            <a:schemeClr val="bg1"/>
                          </a:solidFill>
                        </a:rPr>
                        <a:t>Fonctionnalités</a:t>
                      </a:r>
                    </a:p>
                  </a:txBody>
                  <a:tcPr anchor="ctr">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chemeClr val="tx1"/>
                    </a:solidFill>
                  </a:tcPr>
                </a:tc>
                <a:tc>
                  <a:txBody>
                    <a:bodyPr/>
                    <a:lstStyle/>
                    <a:p>
                      <a:pPr algn="l"/>
                      <a:r>
                        <a:rPr lang="fr-FR" sz="800" noProof="0" dirty="0">
                          <a:solidFill>
                            <a:srgbClr val="FF7900"/>
                          </a:solidFill>
                        </a:rPr>
                        <a:t>Ma start-up</a:t>
                      </a:r>
                      <a:endParaRPr lang="fr-FR" sz="800" b="0" noProof="0" dirty="0">
                        <a:solidFill>
                          <a:srgbClr val="FF7900"/>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chemeClr val="tx1"/>
                    </a:solidFill>
                  </a:tcPr>
                </a:tc>
                <a:tc>
                  <a:txBody>
                    <a:bodyPr/>
                    <a:lstStyle/>
                    <a:p>
                      <a:pPr algn="l"/>
                      <a:r>
                        <a:rPr lang="fr-FR" sz="800" noProof="0" dirty="0">
                          <a:solidFill>
                            <a:schemeClr val="bg1"/>
                          </a:solidFill>
                        </a:rPr>
                        <a:t>Fonctions achats internalisées </a:t>
                      </a:r>
                      <a:endParaRPr lang="fr-FR" sz="800" b="0" noProof="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chemeClr val="tx1"/>
                    </a:solidFill>
                  </a:tcPr>
                </a:tc>
                <a:tc>
                  <a:txBody>
                    <a:bodyPr/>
                    <a:lstStyle/>
                    <a:p>
                      <a:pPr algn="l"/>
                      <a:r>
                        <a:rPr lang="fr-FR" sz="800" noProof="0" dirty="0">
                          <a:solidFill>
                            <a:schemeClr val="bg1"/>
                          </a:solidFill>
                        </a:rPr>
                        <a:t>Associations / Annuaires</a:t>
                      </a:r>
                      <a:r>
                        <a:rPr lang="fr-FR" sz="800" baseline="0" noProof="0" dirty="0">
                          <a:solidFill>
                            <a:schemeClr val="bg1"/>
                          </a:solidFill>
                        </a:rPr>
                        <a:t> de prestataires</a:t>
                      </a:r>
                      <a:endParaRPr lang="fr-FR" sz="800" b="0" noProof="0" dirty="0">
                        <a:solidFill>
                          <a:schemeClr val="bg1"/>
                        </a:solidFill>
                      </a:endParaRPr>
                    </a:p>
                  </a:txBody>
                  <a:tcPr anchor="ctr">
                    <a:lnL w="12700" cap="flat" cmpd="sng" algn="ctr">
                      <a:solidFill>
                        <a:schemeClr val="bg1"/>
                      </a:solidFill>
                      <a:prstDash val="solid"/>
                      <a:round/>
                      <a:headEnd type="none" w="med" len="med"/>
                      <a:tailEnd type="none" w="med" len="med"/>
                    </a:lnL>
                    <a:lnB w="12700" cap="flat" cmpd="sng" algn="ctr">
                      <a:solidFill>
                        <a:schemeClr val="bg1"/>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274637">
                <a:tc>
                  <a:txBody>
                    <a:bodyPr/>
                    <a:lstStyle/>
                    <a:p>
                      <a:pPr algn="l"/>
                      <a:r>
                        <a:rPr lang="fr-FR" sz="800" noProof="0" dirty="0">
                          <a:solidFill>
                            <a:schemeClr val="bg1"/>
                          </a:solidFill>
                        </a:rPr>
                        <a:t>Accès</a:t>
                      </a:r>
                      <a:r>
                        <a:rPr lang="fr-FR" sz="800" baseline="0" noProof="0" dirty="0">
                          <a:solidFill>
                            <a:schemeClr val="bg1"/>
                          </a:solidFill>
                        </a:rPr>
                        <a:t> à une liste de prestataires en fonction des métiers</a:t>
                      </a:r>
                      <a:endParaRPr lang="fr-FR" sz="800" noProof="0" dirty="0">
                        <a:solidFill>
                          <a:schemeClr val="bg1"/>
                        </a:solidFill>
                      </a:endParaRPr>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95959"/>
                    </a:solidFill>
                  </a:tcPr>
                </a:tc>
                <a:tc>
                  <a:txBody>
                    <a:bodyPr/>
                    <a:lstStyle/>
                    <a:p>
                      <a:pPr algn="l"/>
                      <a:r>
                        <a:rPr lang="fr-FR" sz="800" noProof="0" dirty="0">
                          <a:solidFill>
                            <a:schemeClr val="tx1"/>
                          </a:solidFill>
                        </a:rPr>
                        <a:t>OUI</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7900"/>
                    </a:solidFill>
                  </a:tcPr>
                </a:tc>
                <a:tc>
                  <a:txBody>
                    <a:bodyPr/>
                    <a:lstStyle/>
                    <a:p>
                      <a:pPr algn="l"/>
                      <a:r>
                        <a:rPr lang="fr-FR" sz="800" noProof="0" dirty="0">
                          <a:solidFill>
                            <a:schemeClr val="tx1"/>
                          </a:solidFill>
                        </a:rPr>
                        <a:t>Du</a:t>
                      </a:r>
                      <a:r>
                        <a:rPr lang="fr-FR" sz="800" baseline="0" noProof="0" dirty="0">
                          <a:solidFill>
                            <a:schemeClr val="tx1"/>
                          </a:solidFill>
                        </a:rPr>
                        <a:t> réseau de son entreprise uniquement (souvent incomplète)</a:t>
                      </a:r>
                      <a:endParaRPr lang="fr-FR" sz="800" noProof="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algn="l"/>
                      <a:r>
                        <a:rPr lang="fr-FR" sz="800" noProof="0" dirty="0">
                          <a:solidFill>
                            <a:schemeClr val="tx1"/>
                          </a:solidFill>
                        </a:rPr>
                        <a:t>OUI </a:t>
                      </a:r>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1"/>
                  </a:ext>
                </a:extLst>
              </a:tr>
              <a:tr h="274637">
                <a:tc>
                  <a:txBody>
                    <a:bodyPr/>
                    <a:lstStyle/>
                    <a:p>
                      <a:pPr algn="l"/>
                      <a:r>
                        <a:rPr lang="fr-FR" sz="800" noProof="0" dirty="0">
                          <a:solidFill>
                            <a:schemeClr val="bg1"/>
                          </a:solidFill>
                        </a:rPr>
                        <a:t>Accès aux offres</a:t>
                      </a:r>
                      <a:r>
                        <a:rPr lang="fr-FR" sz="800" baseline="0" noProof="0" dirty="0">
                          <a:solidFill>
                            <a:schemeClr val="bg1"/>
                          </a:solidFill>
                        </a:rPr>
                        <a:t> tarifaires des prestataires </a:t>
                      </a:r>
                      <a:endParaRPr lang="fr-FR" sz="800" noProof="0" dirty="0">
                        <a:solidFill>
                          <a:schemeClr val="bg1"/>
                        </a:solidFill>
                      </a:endParaRPr>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95959"/>
                    </a:solidFill>
                  </a:tcPr>
                </a:tc>
                <a:tc>
                  <a:txBody>
                    <a:bodyPr/>
                    <a:lstStyle/>
                    <a:p>
                      <a:pPr algn="l"/>
                      <a:r>
                        <a:rPr lang="fr-FR" sz="800" noProof="0" dirty="0">
                          <a:solidFill>
                            <a:schemeClr val="tx1"/>
                          </a:solidFill>
                        </a:rPr>
                        <a:t>OUI</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7900"/>
                    </a:solidFill>
                  </a:tcPr>
                </a:tc>
                <a:tc>
                  <a:txBody>
                    <a:bodyPr/>
                    <a:lstStyle/>
                    <a:p>
                      <a:pPr algn="l"/>
                      <a:r>
                        <a:rPr lang="fr-FR" sz="800" noProof="0" dirty="0">
                          <a:solidFill>
                            <a:schemeClr val="tx1"/>
                          </a:solidFill>
                        </a:rPr>
                        <a:t>NON</a:t>
                      </a:r>
                      <a:r>
                        <a:rPr lang="fr-FR" sz="800" baseline="0" noProof="0" dirty="0">
                          <a:solidFill>
                            <a:schemeClr val="tx1"/>
                          </a:solidFill>
                        </a:rPr>
                        <a:t> : demande de devis nécessaire</a:t>
                      </a:r>
                      <a:endParaRPr lang="fr-FR" sz="800" noProof="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algn="l"/>
                      <a:r>
                        <a:rPr lang="fr-FR" sz="800" noProof="0" dirty="0">
                          <a:solidFill>
                            <a:schemeClr val="tx1"/>
                          </a:solidFill>
                        </a:rPr>
                        <a:t>NON</a:t>
                      </a:r>
                      <a:r>
                        <a:rPr lang="fr-FR" sz="800" baseline="0" noProof="0" dirty="0">
                          <a:solidFill>
                            <a:schemeClr val="tx1"/>
                          </a:solidFill>
                        </a:rPr>
                        <a:t> : demande de devis nécessaire</a:t>
                      </a:r>
                      <a:endParaRPr lang="fr-FR" sz="800" noProof="0" dirty="0">
                        <a:solidFill>
                          <a:schemeClr val="tx1"/>
                        </a:solidFill>
                      </a:endParaRPr>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2"/>
                  </a:ext>
                </a:extLst>
              </a:tr>
              <a:tr h="274637">
                <a:tc>
                  <a:txBody>
                    <a:bodyPr/>
                    <a:lstStyle/>
                    <a:p>
                      <a:pPr algn="l"/>
                      <a:r>
                        <a:rPr lang="fr-FR" sz="800" noProof="0" dirty="0">
                          <a:solidFill>
                            <a:schemeClr val="bg1"/>
                          </a:solidFill>
                        </a:rPr>
                        <a:t>Possibilité</a:t>
                      </a:r>
                      <a:r>
                        <a:rPr lang="fr-FR" sz="800" baseline="0" noProof="0" dirty="0">
                          <a:solidFill>
                            <a:schemeClr val="bg1"/>
                          </a:solidFill>
                        </a:rPr>
                        <a:t> de contacter directement le prestataire</a:t>
                      </a:r>
                      <a:endParaRPr lang="fr-FR" sz="800" noProof="0" dirty="0">
                        <a:solidFill>
                          <a:schemeClr val="bg1"/>
                        </a:solidFill>
                      </a:endParaRPr>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95959"/>
                    </a:solidFill>
                  </a:tcPr>
                </a:tc>
                <a:tc>
                  <a:txBody>
                    <a:bodyPr/>
                    <a:lstStyle/>
                    <a:p>
                      <a:pPr algn="l"/>
                      <a:r>
                        <a:rPr lang="fr-FR" sz="800" noProof="0" dirty="0">
                          <a:solidFill>
                            <a:schemeClr val="tx1"/>
                          </a:solidFill>
                        </a:rPr>
                        <a:t>NON : notre</a:t>
                      </a:r>
                      <a:r>
                        <a:rPr lang="fr-FR" sz="800" baseline="0" noProof="0" dirty="0">
                          <a:solidFill>
                            <a:schemeClr val="tx1"/>
                          </a:solidFill>
                        </a:rPr>
                        <a:t> plateforme est intermédiaire jusqu’à engagement du devis</a:t>
                      </a:r>
                      <a:endParaRPr lang="fr-FR" sz="800" noProof="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7900"/>
                    </a:solidFill>
                  </a:tcPr>
                </a:tc>
                <a:tc>
                  <a:txBody>
                    <a:bodyPr/>
                    <a:lstStyle/>
                    <a:p>
                      <a:pPr algn="l"/>
                      <a:r>
                        <a:rPr lang="fr-FR" sz="800" noProof="0" dirty="0">
                          <a:solidFill>
                            <a:schemeClr val="tx1"/>
                          </a:solidFill>
                        </a:rPr>
                        <a:t>OUI</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algn="l"/>
                      <a:r>
                        <a:rPr lang="fr-FR" sz="800" noProof="0" dirty="0">
                          <a:solidFill>
                            <a:schemeClr val="tx1"/>
                          </a:solidFill>
                        </a:rPr>
                        <a:t>OUI</a:t>
                      </a:r>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3"/>
                  </a:ext>
                </a:extLst>
              </a:tr>
              <a:tr h="274637">
                <a:tc>
                  <a:txBody>
                    <a:bodyPr/>
                    <a:lstStyle/>
                    <a:p>
                      <a:pPr algn="l"/>
                      <a:r>
                        <a:rPr lang="fr-FR" sz="800" noProof="0" dirty="0">
                          <a:solidFill>
                            <a:schemeClr val="bg1"/>
                          </a:solidFill>
                        </a:rPr>
                        <a:t>Côté</a:t>
                      </a:r>
                      <a:r>
                        <a:rPr lang="fr-FR" sz="800" baseline="0" noProof="0" dirty="0">
                          <a:solidFill>
                            <a:schemeClr val="bg1"/>
                          </a:solidFill>
                        </a:rPr>
                        <a:t> auto-entrepreneurs / freelance : aide à la création de devis, factures et catalogue</a:t>
                      </a:r>
                      <a:endParaRPr lang="fr-FR" sz="800" noProof="0" dirty="0">
                        <a:solidFill>
                          <a:schemeClr val="bg1"/>
                        </a:solidFill>
                      </a:endParaRPr>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95959"/>
                    </a:solidFill>
                  </a:tcPr>
                </a:tc>
                <a:tc>
                  <a:txBody>
                    <a:bodyPr/>
                    <a:lstStyle/>
                    <a:p>
                      <a:pPr algn="l"/>
                      <a:r>
                        <a:rPr lang="fr-FR" sz="800" noProof="0" dirty="0">
                          <a:solidFill>
                            <a:schemeClr val="tx1"/>
                          </a:solidFill>
                        </a:rPr>
                        <a:t>OUI : services</a:t>
                      </a:r>
                      <a:r>
                        <a:rPr lang="fr-FR" sz="800" baseline="0" noProof="0" dirty="0">
                          <a:solidFill>
                            <a:schemeClr val="tx1"/>
                          </a:solidFill>
                        </a:rPr>
                        <a:t> digitalisés</a:t>
                      </a:r>
                      <a:endParaRPr lang="fr-FR" sz="800" noProof="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7900"/>
                    </a:solidFill>
                  </a:tcPr>
                </a:tc>
                <a:tc>
                  <a:txBody>
                    <a:bodyPr/>
                    <a:lstStyle/>
                    <a:p>
                      <a:pPr algn="l"/>
                      <a:r>
                        <a:rPr lang="fr-FR" sz="800" noProof="0" dirty="0">
                          <a:solidFill>
                            <a:schemeClr val="tx1"/>
                          </a:solidFill>
                        </a:rPr>
                        <a:t>NON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algn="l"/>
                      <a:r>
                        <a:rPr lang="fr-FR" sz="800" noProof="0" dirty="0">
                          <a:solidFill>
                            <a:schemeClr val="tx1"/>
                          </a:solidFill>
                        </a:rPr>
                        <a:t>---</a:t>
                      </a:r>
                      <a:r>
                        <a:rPr lang="fr-FR" sz="800" baseline="0" noProof="0" dirty="0">
                          <a:solidFill>
                            <a:schemeClr val="tx1"/>
                          </a:solidFill>
                        </a:rPr>
                        <a:t> accès à des formations pas de services continus ou outils mis en place</a:t>
                      </a:r>
                      <a:endParaRPr lang="fr-FR" sz="800" noProof="0" dirty="0">
                        <a:solidFill>
                          <a:schemeClr val="tx1"/>
                        </a:solidFill>
                      </a:endParaRPr>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4"/>
                  </a:ext>
                </a:extLst>
              </a:tr>
              <a:tr h="274637">
                <a:tc>
                  <a:txBody>
                    <a:bodyPr/>
                    <a:lstStyle/>
                    <a:p>
                      <a:pPr algn="l"/>
                      <a:r>
                        <a:rPr lang="fr-FR" sz="800" noProof="0" dirty="0">
                          <a:solidFill>
                            <a:schemeClr val="bg1"/>
                          </a:solidFill>
                        </a:rPr>
                        <a:t>Mise</a:t>
                      </a:r>
                      <a:r>
                        <a:rPr lang="fr-FR" sz="800" baseline="0" noProof="0" dirty="0">
                          <a:solidFill>
                            <a:schemeClr val="bg1"/>
                          </a:solidFill>
                        </a:rPr>
                        <a:t> en relation avec clients potentiels </a:t>
                      </a:r>
                      <a:endParaRPr lang="fr-FR" sz="800" noProof="0" dirty="0">
                        <a:solidFill>
                          <a:schemeClr val="bg1"/>
                        </a:solidFill>
                      </a:endParaRPr>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solidFill>
                      <a:srgbClr val="595959"/>
                    </a:solidFill>
                  </a:tcPr>
                </a:tc>
                <a:tc>
                  <a:txBody>
                    <a:bodyPr/>
                    <a:lstStyle/>
                    <a:p>
                      <a:pPr algn="l"/>
                      <a:r>
                        <a:rPr lang="fr-FR" sz="800" noProof="0" dirty="0">
                          <a:solidFill>
                            <a:schemeClr val="tx1"/>
                          </a:solidFill>
                        </a:rPr>
                        <a:t>OUI </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solidFill>
                      <a:srgbClr val="FF7900"/>
                    </a:solidFill>
                  </a:tcPr>
                </a:tc>
                <a:tc>
                  <a:txBody>
                    <a:bodyPr/>
                    <a:lstStyle/>
                    <a:p>
                      <a:pPr algn="l"/>
                      <a:r>
                        <a:rPr lang="fr-FR" sz="800" noProof="0" dirty="0">
                          <a:solidFill>
                            <a:schemeClr val="tx1"/>
                          </a:solidFill>
                        </a:rPr>
                        <a:t>NON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solidFill>
                      <a:schemeClr val="bg1">
                        <a:lumMod val="85000"/>
                      </a:schemeClr>
                    </a:solidFill>
                  </a:tcPr>
                </a:tc>
                <a:tc>
                  <a:txBody>
                    <a:bodyPr/>
                    <a:lstStyle/>
                    <a:p>
                      <a:pPr algn="l"/>
                      <a:r>
                        <a:rPr lang="fr-FR" sz="800" noProof="0" dirty="0">
                          <a:solidFill>
                            <a:schemeClr val="tx1"/>
                          </a:solidFill>
                        </a:rPr>
                        <a:t>---</a:t>
                      </a:r>
                      <a:r>
                        <a:rPr lang="fr-FR" sz="800" baseline="0" noProof="0" dirty="0">
                          <a:solidFill>
                            <a:schemeClr val="tx1"/>
                          </a:solidFill>
                        </a:rPr>
                        <a:t> m</a:t>
                      </a:r>
                      <a:r>
                        <a:rPr lang="fr-FR" sz="800" noProof="0" dirty="0">
                          <a:solidFill>
                            <a:schemeClr val="tx1"/>
                          </a:solidFill>
                        </a:rPr>
                        <a:t>ets</a:t>
                      </a:r>
                      <a:r>
                        <a:rPr lang="fr-FR" sz="800" baseline="0" noProof="0" dirty="0">
                          <a:solidFill>
                            <a:schemeClr val="tx1"/>
                          </a:solidFill>
                        </a:rPr>
                        <a:t> à disposition des contacts mais ne fait pas de mise en relation qualifiée</a:t>
                      </a:r>
                      <a:endParaRPr lang="fr-FR" sz="800" noProof="0" dirty="0">
                        <a:solidFill>
                          <a:schemeClr val="tx1"/>
                        </a:solidFill>
                      </a:endParaRPr>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solidFill>
                      <a:schemeClr val="bg1">
                        <a:lumMod val="85000"/>
                      </a:schemeClr>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969502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Content Placeholder 23"/>
          <p:cNvSpPr>
            <a:spLocks noGrp="1"/>
          </p:cNvSpPr>
          <p:nvPr>
            <p:ph idx="1"/>
          </p:nvPr>
        </p:nvSpPr>
        <p:spPr>
          <a:xfrm>
            <a:off x="313200" y="699542"/>
            <a:ext cx="7931208" cy="3360737"/>
          </a:xfrm>
        </p:spPr>
        <p:txBody>
          <a:bodyPr/>
          <a:lstStyle/>
          <a:p>
            <a:pPr lvl="0">
              <a:buClr>
                <a:srgbClr val="FFFFFF"/>
              </a:buClr>
            </a:pPr>
            <a:r>
              <a:rPr lang="fr-FR" dirty="0">
                <a:solidFill>
                  <a:srgbClr val="FF7900"/>
                </a:solidFill>
              </a:rPr>
              <a:t>Photos, prénoms, noms, formations et expériences professionnelles passées de l’équipe fondatrice + membres de l’équipe opérationnelle </a:t>
            </a:r>
          </a:p>
          <a:p>
            <a:pPr>
              <a:buClr>
                <a:srgbClr val="FFFFFF"/>
              </a:buClr>
            </a:pPr>
            <a:r>
              <a:rPr lang="fr-FR" dirty="0">
                <a:solidFill>
                  <a:srgbClr val="FF7900"/>
                </a:solidFill>
              </a:rPr>
              <a:t>Indiquer si possible la répartition du capital entre les fondateurs</a:t>
            </a:r>
          </a:p>
          <a:p>
            <a:pPr lvl="0">
              <a:spcBef>
                <a:spcPts val="1200"/>
              </a:spcBef>
              <a:buClr>
                <a:srgbClr val="FFFFFF"/>
              </a:buClr>
            </a:pPr>
            <a:r>
              <a:rPr lang="fr-FR" dirty="0">
                <a:solidFill>
                  <a:srgbClr val="000000"/>
                </a:solidFill>
              </a:rPr>
              <a:t>Exemple :</a:t>
            </a:r>
          </a:p>
        </p:txBody>
      </p:sp>
      <p:sp>
        <p:nvSpPr>
          <p:cNvPr id="5" name="Title 4"/>
          <p:cNvSpPr>
            <a:spLocks noGrp="1"/>
          </p:cNvSpPr>
          <p:nvPr>
            <p:ph type="title"/>
          </p:nvPr>
        </p:nvSpPr>
        <p:spPr/>
        <p:txBody>
          <a:bodyPr/>
          <a:lstStyle/>
          <a:p>
            <a:r>
              <a:rPr lang="fr-FR" dirty="0"/>
              <a:t>Equipe</a:t>
            </a:r>
          </a:p>
        </p:txBody>
      </p:sp>
      <p:pic>
        <p:nvPicPr>
          <p:cNvPr id="19" name="Picture Placeholder 5"/>
          <p:cNvPicPr>
            <a:picLocks noChangeAspect="1"/>
          </p:cNvPicPr>
          <p:nvPr/>
        </p:nvPicPr>
        <p:blipFill rotWithShape="1">
          <a:blip r:embed="rId2" cstate="print">
            <a:extLst>
              <a:ext uri="{28A0092B-C50C-407E-A947-70E740481C1C}">
                <a14:useLocalDpi xmlns:a14="http://schemas.microsoft.com/office/drawing/2010/main" val="0"/>
              </a:ext>
            </a:extLst>
          </a:blip>
          <a:srcRect l="41359" t="16019" r="12673" b="27664"/>
          <a:stretch/>
        </p:blipFill>
        <p:spPr>
          <a:xfrm>
            <a:off x="3899629" y="1799317"/>
            <a:ext cx="1182663" cy="928244"/>
          </a:xfrm>
          <a:prstGeom prst="rect">
            <a:avLst/>
          </a:prstGeom>
        </p:spPr>
      </p:pic>
      <p:pic>
        <p:nvPicPr>
          <p:cNvPr id="20" name="Picture Placeholder 5"/>
          <p:cNvPicPr>
            <a:picLocks noChangeAspect="1"/>
          </p:cNvPicPr>
          <p:nvPr/>
        </p:nvPicPr>
        <p:blipFill rotWithShape="1">
          <a:blip r:embed="rId3" cstate="print">
            <a:extLst>
              <a:ext uri="{28A0092B-C50C-407E-A947-70E740481C1C}">
                <a14:useLocalDpi xmlns:a14="http://schemas.microsoft.com/office/drawing/2010/main" val="0"/>
              </a:ext>
            </a:extLst>
          </a:blip>
          <a:srcRect l="56475" t="28383" r="20482" b="45389"/>
          <a:stretch/>
        </p:blipFill>
        <p:spPr>
          <a:xfrm>
            <a:off x="7075901" y="1779662"/>
            <a:ext cx="1182663" cy="947899"/>
          </a:xfrm>
          <a:prstGeom prst="rect">
            <a:avLst/>
          </a:prstGeom>
        </p:spPr>
      </p:pic>
      <p:pic>
        <p:nvPicPr>
          <p:cNvPr id="21" name="Picture Placeholder 5"/>
          <p:cNvPicPr>
            <a:picLocks noChangeAspect="1"/>
          </p:cNvPicPr>
          <p:nvPr/>
        </p:nvPicPr>
        <p:blipFill rotWithShape="1">
          <a:blip r:embed="rId4" cstate="print">
            <a:extLst>
              <a:ext uri="{28A0092B-C50C-407E-A947-70E740481C1C}">
                <a14:useLocalDpi xmlns:a14="http://schemas.microsoft.com/office/drawing/2010/main" val="0"/>
              </a:ext>
            </a:extLst>
          </a:blip>
          <a:srcRect l="53125" b="34613"/>
          <a:stretch/>
        </p:blipFill>
        <p:spPr>
          <a:xfrm>
            <a:off x="1034837" y="1799317"/>
            <a:ext cx="1182663" cy="928244"/>
          </a:xfrm>
          <a:prstGeom prst="rect">
            <a:avLst/>
          </a:prstGeom>
        </p:spPr>
      </p:pic>
      <p:sp>
        <p:nvSpPr>
          <p:cNvPr id="22" name="Rectangle 21"/>
          <p:cNvSpPr/>
          <p:nvPr/>
        </p:nvSpPr>
        <p:spPr>
          <a:xfrm>
            <a:off x="721111" y="2704041"/>
            <a:ext cx="1810111" cy="669414"/>
          </a:xfrm>
          <a:prstGeom prst="rect">
            <a:avLst/>
          </a:prstGeom>
        </p:spPr>
        <p:txBody>
          <a:bodyPr wrap="none">
            <a:spAutoFit/>
          </a:bodyPr>
          <a:lstStyle/>
          <a:p>
            <a:pPr algn="ctr"/>
            <a:r>
              <a:rPr lang="fr-FR" sz="1050" dirty="0">
                <a:solidFill>
                  <a:srgbClr val="000000"/>
                </a:solidFill>
              </a:rPr>
              <a:t>Prénom NOM</a:t>
            </a:r>
            <a:endParaRPr lang="fr-FR" sz="1200" dirty="0">
              <a:solidFill>
                <a:srgbClr val="000000"/>
              </a:solidFill>
            </a:endParaRPr>
          </a:p>
          <a:p>
            <a:pPr algn="ctr"/>
            <a:r>
              <a:rPr lang="fr-FR" sz="900" dirty="0">
                <a:solidFill>
                  <a:srgbClr val="000000"/>
                </a:solidFill>
              </a:rPr>
              <a:t>CEO et co-fondateur – 40%</a:t>
            </a:r>
          </a:p>
          <a:p>
            <a:pPr algn="ctr"/>
            <a:r>
              <a:rPr lang="fr-FR" sz="900" dirty="0">
                <a:solidFill>
                  <a:srgbClr val="000000"/>
                </a:solidFill>
              </a:rPr>
              <a:t>5 ans commercial </a:t>
            </a:r>
            <a:r>
              <a:rPr lang="fr-FR" sz="900" dirty="0" err="1">
                <a:solidFill>
                  <a:srgbClr val="000000"/>
                </a:solidFill>
              </a:rPr>
              <a:t>Eiffage</a:t>
            </a:r>
            <a:endParaRPr lang="fr-FR" sz="900" dirty="0">
              <a:solidFill>
                <a:srgbClr val="000000"/>
              </a:solidFill>
            </a:endParaRPr>
          </a:p>
          <a:p>
            <a:pPr algn="ctr"/>
            <a:r>
              <a:rPr lang="fr-FR" sz="900" dirty="0">
                <a:solidFill>
                  <a:srgbClr val="000000"/>
                </a:solidFill>
              </a:rPr>
              <a:t>Master 2 Management </a:t>
            </a:r>
            <a:r>
              <a:rPr lang="fr-FR" sz="900" dirty="0" err="1">
                <a:solidFill>
                  <a:srgbClr val="000000"/>
                </a:solidFill>
              </a:rPr>
              <a:t>Inscae</a:t>
            </a:r>
            <a:endParaRPr lang="fr-FR" sz="900" dirty="0">
              <a:solidFill>
                <a:srgbClr val="000000"/>
              </a:solidFill>
            </a:endParaRPr>
          </a:p>
        </p:txBody>
      </p:sp>
      <p:sp>
        <p:nvSpPr>
          <p:cNvPr id="23" name="Rectangle 22"/>
          <p:cNvSpPr/>
          <p:nvPr/>
        </p:nvSpPr>
        <p:spPr>
          <a:xfrm>
            <a:off x="3195575" y="2697011"/>
            <a:ext cx="2590774" cy="669414"/>
          </a:xfrm>
          <a:prstGeom prst="rect">
            <a:avLst/>
          </a:prstGeom>
        </p:spPr>
        <p:txBody>
          <a:bodyPr wrap="none">
            <a:spAutoFit/>
          </a:bodyPr>
          <a:lstStyle/>
          <a:p>
            <a:pPr algn="ctr"/>
            <a:r>
              <a:rPr lang="fr-FR" sz="1050" dirty="0">
                <a:solidFill>
                  <a:srgbClr val="000000"/>
                </a:solidFill>
              </a:rPr>
              <a:t>Prénom NOM</a:t>
            </a:r>
            <a:endParaRPr lang="fr-FR" sz="1200" dirty="0">
              <a:solidFill>
                <a:srgbClr val="000000"/>
              </a:solidFill>
            </a:endParaRPr>
          </a:p>
          <a:p>
            <a:pPr algn="ctr"/>
            <a:r>
              <a:rPr lang="fr-FR" sz="900" dirty="0">
                <a:solidFill>
                  <a:srgbClr val="000000"/>
                </a:solidFill>
              </a:rPr>
              <a:t>Directrice Marketing et co-fondatrice – 40%</a:t>
            </a:r>
          </a:p>
          <a:p>
            <a:pPr algn="ctr"/>
            <a:r>
              <a:rPr lang="fr-FR" sz="900" dirty="0">
                <a:solidFill>
                  <a:srgbClr val="000000"/>
                </a:solidFill>
              </a:rPr>
              <a:t>3 ans </a:t>
            </a:r>
            <a:r>
              <a:rPr lang="fr-FR" sz="900" dirty="0" err="1">
                <a:solidFill>
                  <a:srgbClr val="000000"/>
                </a:solidFill>
              </a:rPr>
              <a:t>resp</a:t>
            </a:r>
            <a:r>
              <a:rPr lang="fr-FR" sz="900" dirty="0">
                <a:solidFill>
                  <a:srgbClr val="000000"/>
                </a:solidFill>
              </a:rPr>
              <a:t>. marketing chez Nivo</a:t>
            </a:r>
          </a:p>
          <a:p>
            <a:pPr algn="ctr"/>
            <a:r>
              <a:rPr lang="fr-FR" sz="900" dirty="0">
                <a:solidFill>
                  <a:srgbClr val="000000"/>
                </a:solidFill>
              </a:rPr>
              <a:t>Master 1 Marketing </a:t>
            </a:r>
            <a:r>
              <a:rPr lang="fr-FR" sz="900" dirty="0" err="1">
                <a:solidFill>
                  <a:srgbClr val="000000"/>
                </a:solidFill>
              </a:rPr>
              <a:t>Iscam</a:t>
            </a:r>
            <a:endParaRPr lang="fr-FR" sz="900" dirty="0">
              <a:solidFill>
                <a:srgbClr val="000000"/>
              </a:solidFill>
            </a:endParaRPr>
          </a:p>
        </p:txBody>
      </p:sp>
      <p:sp>
        <p:nvSpPr>
          <p:cNvPr id="25" name="Rectangle 24"/>
          <p:cNvSpPr/>
          <p:nvPr/>
        </p:nvSpPr>
        <p:spPr>
          <a:xfrm>
            <a:off x="6778727" y="2704041"/>
            <a:ext cx="1669047" cy="669414"/>
          </a:xfrm>
          <a:prstGeom prst="rect">
            <a:avLst/>
          </a:prstGeom>
        </p:spPr>
        <p:txBody>
          <a:bodyPr wrap="none">
            <a:spAutoFit/>
          </a:bodyPr>
          <a:lstStyle/>
          <a:p>
            <a:pPr algn="ctr"/>
            <a:r>
              <a:rPr lang="fr-FR" sz="1050" dirty="0">
                <a:solidFill>
                  <a:srgbClr val="000000"/>
                </a:solidFill>
              </a:rPr>
              <a:t>Prénom NOM</a:t>
            </a:r>
            <a:endParaRPr lang="fr-FR" sz="1200" dirty="0">
              <a:solidFill>
                <a:srgbClr val="000000"/>
              </a:solidFill>
            </a:endParaRPr>
          </a:p>
          <a:p>
            <a:pPr algn="ctr"/>
            <a:r>
              <a:rPr lang="fr-FR" sz="900" dirty="0">
                <a:solidFill>
                  <a:srgbClr val="000000"/>
                </a:solidFill>
              </a:rPr>
              <a:t>Directeur Technique – 20%</a:t>
            </a:r>
          </a:p>
          <a:p>
            <a:pPr algn="ctr"/>
            <a:r>
              <a:rPr lang="fr-FR" sz="900" dirty="0">
                <a:solidFill>
                  <a:srgbClr val="000000"/>
                </a:solidFill>
              </a:rPr>
              <a:t>1 an développeur Mora.mg</a:t>
            </a:r>
          </a:p>
          <a:p>
            <a:pPr algn="ctr"/>
            <a:r>
              <a:rPr lang="fr-FR" sz="900" dirty="0">
                <a:solidFill>
                  <a:srgbClr val="000000"/>
                </a:solidFill>
              </a:rPr>
              <a:t>…</a:t>
            </a:r>
          </a:p>
        </p:txBody>
      </p:sp>
      <p:pic>
        <p:nvPicPr>
          <p:cNvPr id="26" name="Picture Placeholder 5"/>
          <p:cNvPicPr>
            <a:picLocks noChangeAspect="1"/>
          </p:cNvPicPr>
          <p:nvPr/>
        </p:nvPicPr>
        <p:blipFill rotWithShape="1">
          <a:blip r:embed="rId5" cstate="print">
            <a:extLst>
              <a:ext uri="{28A0092B-C50C-407E-A947-70E740481C1C}">
                <a14:useLocalDpi xmlns:a14="http://schemas.microsoft.com/office/drawing/2010/main" val="0"/>
              </a:ext>
            </a:extLst>
          </a:blip>
          <a:srcRect l="7623" t="1056" r="50000" b="49053"/>
          <a:stretch/>
        </p:blipFill>
        <p:spPr>
          <a:xfrm flipH="1">
            <a:off x="1235333" y="4031565"/>
            <a:ext cx="1182663" cy="928244"/>
          </a:xfrm>
          <a:prstGeom prst="rect">
            <a:avLst/>
          </a:prstGeom>
        </p:spPr>
      </p:pic>
      <p:sp>
        <p:nvSpPr>
          <p:cNvPr id="27" name="Rectangle 26"/>
          <p:cNvSpPr/>
          <p:nvPr/>
        </p:nvSpPr>
        <p:spPr>
          <a:xfrm>
            <a:off x="2502267" y="4172521"/>
            <a:ext cx="1880643" cy="530915"/>
          </a:xfrm>
          <a:prstGeom prst="rect">
            <a:avLst/>
          </a:prstGeom>
        </p:spPr>
        <p:txBody>
          <a:bodyPr wrap="none">
            <a:spAutoFit/>
          </a:bodyPr>
          <a:lstStyle/>
          <a:p>
            <a:r>
              <a:rPr lang="fr-FR" sz="1050" dirty="0">
                <a:solidFill>
                  <a:srgbClr val="000000"/>
                </a:solidFill>
              </a:rPr>
              <a:t>Prénom NOM</a:t>
            </a:r>
            <a:endParaRPr lang="fr-FR" sz="1200" dirty="0">
              <a:solidFill>
                <a:srgbClr val="000000"/>
              </a:solidFill>
            </a:endParaRPr>
          </a:p>
          <a:p>
            <a:r>
              <a:rPr lang="fr-FR" sz="900" dirty="0">
                <a:solidFill>
                  <a:srgbClr val="000000"/>
                </a:solidFill>
              </a:rPr>
              <a:t>Stagiaire : </a:t>
            </a:r>
            <a:r>
              <a:rPr lang="fr-FR" sz="900" dirty="0" err="1">
                <a:solidFill>
                  <a:srgbClr val="000000"/>
                </a:solidFill>
              </a:rPr>
              <a:t>sourcing</a:t>
            </a:r>
            <a:r>
              <a:rPr lang="fr-FR" sz="900" dirty="0">
                <a:solidFill>
                  <a:srgbClr val="000000"/>
                </a:solidFill>
              </a:rPr>
              <a:t> prestataire</a:t>
            </a:r>
          </a:p>
          <a:p>
            <a:r>
              <a:rPr lang="fr-FR" sz="900" dirty="0">
                <a:solidFill>
                  <a:srgbClr val="000000"/>
                </a:solidFill>
              </a:rPr>
              <a:t>CDI à partir de sept. 2020</a:t>
            </a:r>
          </a:p>
        </p:txBody>
      </p:sp>
      <p:pic>
        <p:nvPicPr>
          <p:cNvPr id="28" name="Picture Placeholder 5"/>
          <p:cNvPicPr>
            <a:picLocks noChangeAspect="1"/>
          </p:cNvPicPr>
          <p:nvPr/>
        </p:nvPicPr>
        <p:blipFill rotWithShape="1">
          <a:blip r:embed="rId5" cstate="print">
            <a:extLst>
              <a:ext uri="{28A0092B-C50C-407E-A947-70E740481C1C}">
                <a14:useLocalDpi xmlns:a14="http://schemas.microsoft.com/office/drawing/2010/main" val="0"/>
              </a:ext>
            </a:extLst>
          </a:blip>
          <a:srcRect l="7623" t="1056" r="50000" b="49053"/>
          <a:stretch/>
        </p:blipFill>
        <p:spPr>
          <a:xfrm flipH="1">
            <a:off x="5016409" y="4031565"/>
            <a:ext cx="1182663" cy="928244"/>
          </a:xfrm>
          <a:prstGeom prst="rect">
            <a:avLst/>
          </a:prstGeom>
        </p:spPr>
      </p:pic>
      <p:sp>
        <p:nvSpPr>
          <p:cNvPr id="29" name="Rectangle 28"/>
          <p:cNvSpPr/>
          <p:nvPr/>
        </p:nvSpPr>
        <p:spPr>
          <a:xfrm>
            <a:off x="6283343" y="4172521"/>
            <a:ext cx="2060179" cy="530915"/>
          </a:xfrm>
          <a:prstGeom prst="rect">
            <a:avLst/>
          </a:prstGeom>
        </p:spPr>
        <p:txBody>
          <a:bodyPr wrap="none">
            <a:spAutoFit/>
          </a:bodyPr>
          <a:lstStyle/>
          <a:p>
            <a:r>
              <a:rPr lang="fr-FR" sz="1050" dirty="0">
                <a:solidFill>
                  <a:srgbClr val="000000"/>
                </a:solidFill>
              </a:rPr>
              <a:t>Prénom NOM</a:t>
            </a:r>
            <a:endParaRPr lang="fr-FR" sz="1200" dirty="0">
              <a:solidFill>
                <a:srgbClr val="000000"/>
              </a:solidFill>
            </a:endParaRPr>
          </a:p>
          <a:p>
            <a:r>
              <a:rPr lang="fr-FR" sz="900" dirty="0">
                <a:solidFill>
                  <a:srgbClr val="000000"/>
                </a:solidFill>
              </a:rPr>
              <a:t>Freelance : business commerciale</a:t>
            </a:r>
          </a:p>
          <a:p>
            <a:r>
              <a:rPr lang="fr-FR" sz="900" dirty="0">
                <a:solidFill>
                  <a:srgbClr val="000000"/>
                </a:solidFill>
              </a:rPr>
              <a:t>CDI à partir de Mai 2020</a:t>
            </a:r>
          </a:p>
        </p:txBody>
      </p:sp>
      <p:pic>
        <p:nvPicPr>
          <p:cNvPr id="30" name="Picture Placeholder 5"/>
          <p:cNvPicPr>
            <a:picLocks noChangeAspect="1"/>
          </p:cNvPicPr>
          <p:nvPr/>
        </p:nvPicPr>
        <p:blipFill rotWithShape="1">
          <a:blip r:embed="rId6" cstate="print">
            <a:extLst>
              <a:ext uri="{28A0092B-C50C-407E-A947-70E740481C1C}">
                <a14:useLocalDpi xmlns:a14="http://schemas.microsoft.com/office/drawing/2010/main" val="0"/>
              </a:ext>
            </a:extLst>
          </a:blip>
          <a:srcRect l="70055" t="33153" r="5790" b="33153"/>
          <a:stretch/>
        </p:blipFill>
        <p:spPr>
          <a:xfrm>
            <a:off x="5016408" y="4031565"/>
            <a:ext cx="1182663" cy="928244"/>
          </a:xfrm>
          <a:prstGeom prst="rect">
            <a:avLst/>
          </a:prstGeom>
        </p:spPr>
      </p:pic>
    </p:spTree>
    <p:extLst>
      <p:ext uri="{BB962C8B-B14F-4D97-AF65-F5344CB8AC3E}">
        <p14:creationId xmlns:p14="http://schemas.microsoft.com/office/powerpoint/2010/main" val="5885685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Content Placeholder 23"/>
          <p:cNvSpPr>
            <a:spLocks noGrp="1"/>
          </p:cNvSpPr>
          <p:nvPr>
            <p:ph idx="1"/>
          </p:nvPr>
        </p:nvSpPr>
        <p:spPr>
          <a:xfrm>
            <a:off x="313200" y="627534"/>
            <a:ext cx="7931208" cy="3360737"/>
          </a:xfrm>
        </p:spPr>
        <p:txBody>
          <a:bodyPr/>
          <a:lstStyle/>
          <a:p>
            <a:pPr lvl="0">
              <a:buClr>
                <a:srgbClr val="FFFFFF"/>
              </a:buClr>
            </a:pPr>
            <a:r>
              <a:rPr lang="fr-FR" dirty="0">
                <a:solidFill>
                  <a:srgbClr val="FF7900"/>
                </a:solidFill>
              </a:rPr>
              <a:t>Indiquer les chiffres clés : effectués depuis la création + prévisionnels </a:t>
            </a:r>
          </a:p>
          <a:p>
            <a:pPr lvl="0">
              <a:buClr>
                <a:srgbClr val="FFFFFF"/>
              </a:buClr>
            </a:pPr>
            <a:r>
              <a:rPr lang="fr-FR" dirty="0">
                <a:solidFill>
                  <a:srgbClr val="FF7900"/>
                </a:solidFill>
              </a:rPr>
              <a:t>Doivent apparaître : le chiffre d’affaire, le résultat, l’effectif, les financements obtenus</a:t>
            </a:r>
          </a:p>
        </p:txBody>
      </p:sp>
      <p:sp>
        <p:nvSpPr>
          <p:cNvPr id="5" name="Title 4"/>
          <p:cNvSpPr>
            <a:spLocks noGrp="1"/>
          </p:cNvSpPr>
          <p:nvPr>
            <p:ph type="title"/>
          </p:nvPr>
        </p:nvSpPr>
        <p:spPr/>
        <p:txBody>
          <a:bodyPr/>
          <a:lstStyle/>
          <a:p>
            <a:r>
              <a:rPr lang="fr-FR" dirty="0"/>
              <a:t>Chiffres clés</a:t>
            </a:r>
          </a:p>
        </p:txBody>
      </p:sp>
      <p:graphicFrame>
        <p:nvGraphicFramePr>
          <p:cNvPr id="15" name="Table 14"/>
          <p:cNvGraphicFramePr>
            <a:graphicFrameLocks noGrp="1"/>
          </p:cNvGraphicFramePr>
          <p:nvPr>
            <p:extLst>
              <p:ext uri="{D42A27DB-BD31-4B8C-83A1-F6EECF244321}">
                <p14:modId xmlns:p14="http://schemas.microsoft.com/office/powerpoint/2010/main" val="3570275811"/>
              </p:ext>
            </p:extLst>
          </p:nvPr>
        </p:nvGraphicFramePr>
        <p:xfrm>
          <a:off x="107504" y="1203598"/>
          <a:ext cx="9036496" cy="3689982"/>
        </p:xfrm>
        <a:graphic>
          <a:graphicData uri="http://schemas.openxmlformats.org/drawingml/2006/table">
            <a:tbl>
              <a:tblPr firstRow="1" bandRow="1">
                <a:tableStyleId>{5C22544A-7EE6-4342-B048-85BDC9FD1C3A}</a:tableStyleId>
              </a:tblPr>
              <a:tblGrid>
                <a:gridCol w="1944216">
                  <a:extLst>
                    <a:ext uri="{9D8B030D-6E8A-4147-A177-3AD203B41FA5}">
                      <a16:colId xmlns:a16="http://schemas.microsoft.com/office/drawing/2014/main" val="20000"/>
                    </a:ext>
                  </a:extLst>
                </a:gridCol>
                <a:gridCol w="1331661">
                  <a:extLst>
                    <a:ext uri="{9D8B030D-6E8A-4147-A177-3AD203B41FA5}">
                      <a16:colId xmlns:a16="http://schemas.microsoft.com/office/drawing/2014/main" val="20001"/>
                    </a:ext>
                  </a:extLst>
                </a:gridCol>
                <a:gridCol w="1440155">
                  <a:extLst>
                    <a:ext uri="{9D8B030D-6E8A-4147-A177-3AD203B41FA5}">
                      <a16:colId xmlns:a16="http://schemas.microsoft.com/office/drawing/2014/main" val="20002"/>
                    </a:ext>
                  </a:extLst>
                </a:gridCol>
                <a:gridCol w="1440155">
                  <a:extLst>
                    <a:ext uri="{9D8B030D-6E8A-4147-A177-3AD203B41FA5}">
                      <a16:colId xmlns:a16="http://schemas.microsoft.com/office/drawing/2014/main" val="20003"/>
                    </a:ext>
                  </a:extLst>
                </a:gridCol>
                <a:gridCol w="1532761">
                  <a:extLst>
                    <a:ext uri="{9D8B030D-6E8A-4147-A177-3AD203B41FA5}">
                      <a16:colId xmlns:a16="http://schemas.microsoft.com/office/drawing/2014/main" val="20004"/>
                    </a:ext>
                  </a:extLst>
                </a:gridCol>
                <a:gridCol w="1347548">
                  <a:extLst>
                    <a:ext uri="{9D8B030D-6E8A-4147-A177-3AD203B41FA5}">
                      <a16:colId xmlns:a16="http://schemas.microsoft.com/office/drawing/2014/main" val="20005"/>
                    </a:ext>
                  </a:extLst>
                </a:gridCol>
              </a:tblGrid>
              <a:tr h="274637">
                <a:tc>
                  <a:txBody>
                    <a:bodyPr/>
                    <a:lstStyle/>
                    <a:p>
                      <a:pPr algn="l"/>
                      <a:endParaRPr lang="fr-FR" sz="1000" b="0" noProof="0" dirty="0">
                        <a:solidFill>
                          <a:schemeClr val="tx1"/>
                        </a:solidFill>
                      </a:endParaRPr>
                    </a:p>
                  </a:txBody>
                  <a:tcPr anchor="ctr">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tcPr>
                </a:tc>
                <a:tc>
                  <a:txBody>
                    <a:bodyPr/>
                    <a:lstStyle/>
                    <a:p>
                      <a:pPr algn="l"/>
                      <a:r>
                        <a:rPr lang="fr-FR" sz="1000" noProof="0" dirty="0">
                          <a:solidFill>
                            <a:schemeClr val="tx1"/>
                          </a:solidFill>
                        </a:rPr>
                        <a:t>2018</a:t>
                      </a:r>
                      <a:endParaRPr lang="fr-FR" sz="1000" b="0" noProof="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tcPr>
                </a:tc>
                <a:tc>
                  <a:txBody>
                    <a:bodyPr/>
                    <a:lstStyle/>
                    <a:p>
                      <a:pPr algn="l"/>
                      <a:r>
                        <a:rPr lang="fr-FR" sz="1000" b="0" noProof="0" dirty="0">
                          <a:solidFill>
                            <a:schemeClr val="tx1"/>
                          </a:solidFill>
                        </a:rPr>
                        <a:t>2019</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tcPr>
                </a:tc>
                <a:tc>
                  <a:txBody>
                    <a:bodyPr/>
                    <a:lstStyle/>
                    <a:p>
                      <a:pPr algn="l"/>
                      <a:r>
                        <a:rPr lang="fr-FR" sz="1000" noProof="0" dirty="0">
                          <a:solidFill>
                            <a:schemeClr val="tx1"/>
                          </a:solidFill>
                        </a:rPr>
                        <a:t>2020</a:t>
                      </a:r>
                      <a:endParaRPr lang="fr-FR" sz="1000" b="0" noProof="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tcPr>
                </a:tc>
                <a:tc>
                  <a:txBody>
                    <a:bodyPr/>
                    <a:lstStyle/>
                    <a:p>
                      <a:pPr algn="l"/>
                      <a:r>
                        <a:rPr lang="fr-FR" sz="1000" noProof="0" dirty="0">
                          <a:solidFill>
                            <a:schemeClr val="tx1"/>
                          </a:solidFill>
                        </a:rPr>
                        <a:t>2021 (prévisions)</a:t>
                      </a:r>
                      <a:endParaRPr lang="fr-FR" sz="1000" b="0" noProof="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000" noProof="0" dirty="0">
                          <a:solidFill>
                            <a:schemeClr val="tx1"/>
                          </a:solidFill>
                        </a:rPr>
                        <a:t>2022 (prévisions)</a:t>
                      </a:r>
                      <a:endParaRPr lang="fr-FR" sz="1000" b="0" noProof="0" dirty="0">
                        <a:solidFill>
                          <a:schemeClr val="tx1"/>
                        </a:solidFill>
                      </a:endParaRPr>
                    </a:p>
                  </a:txBody>
                  <a:tcPr anchor="ctr">
                    <a:lnL w="12700" cap="flat" cmpd="sng" algn="ctr">
                      <a:solidFill>
                        <a:schemeClr val="bg1"/>
                      </a:solidFill>
                      <a:prstDash val="solid"/>
                      <a:round/>
                      <a:headEnd type="none" w="med" len="med"/>
                      <a:tailEnd type="none" w="med" len="med"/>
                    </a:lnL>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0"/>
                  </a:ext>
                </a:extLst>
              </a:tr>
              <a:tr h="274637">
                <a:tc>
                  <a:txBody>
                    <a:bodyPr/>
                    <a:lstStyle/>
                    <a:p>
                      <a:pPr algn="l"/>
                      <a:r>
                        <a:rPr lang="fr-FR" sz="1000" noProof="0" dirty="0" err="1">
                          <a:solidFill>
                            <a:schemeClr val="tx1"/>
                          </a:solidFill>
                        </a:rPr>
                        <a:t>Auto-financement</a:t>
                      </a:r>
                      <a:endParaRPr lang="fr-FR" sz="1000" noProof="0" dirty="0">
                        <a:solidFill>
                          <a:schemeClr val="tx1"/>
                        </a:solidFill>
                      </a:endParaRPr>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alpha val="67000"/>
                      </a:schemeClr>
                    </a:solidFill>
                  </a:tcPr>
                </a:tc>
                <a:tc>
                  <a:txBody>
                    <a:bodyPr/>
                    <a:lstStyle/>
                    <a:p>
                      <a:pPr algn="l"/>
                      <a:r>
                        <a:rPr lang="fr-FR" sz="1000" baseline="0" noProof="0" dirty="0">
                          <a:solidFill>
                            <a:schemeClr val="tx1"/>
                          </a:solidFill>
                        </a:rPr>
                        <a:t>800 000 </a:t>
                      </a:r>
                      <a:r>
                        <a:rPr lang="fr-FR" sz="1000" baseline="0" noProof="0" dirty="0" err="1">
                          <a:solidFill>
                            <a:schemeClr val="tx1"/>
                          </a:solidFill>
                        </a:rPr>
                        <a:t>ar</a:t>
                      </a:r>
                      <a:endParaRPr lang="fr-FR" sz="1000" noProof="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alpha val="34000"/>
                      </a:schemeClr>
                    </a:solidFill>
                  </a:tcPr>
                </a:tc>
                <a:tc>
                  <a:txBody>
                    <a:bodyPr/>
                    <a:lstStyle/>
                    <a:p>
                      <a:pPr algn="l"/>
                      <a:r>
                        <a:rPr lang="fr-FR" sz="1000" baseline="0" noProof="0" dirty="0">
                          <a:solidFill>
                            <a:schemeClr val="tx1"/>
                          </a:solidFill>
                        </a:rPr>
                        <a:t>3 000 000 </a:t>
                      </a:r>
                      <a:r>
                        <a:rPr lang="fr-FR" sz="1000" baseline="0" noProof="0" dirty="0" err="1">
                          <a:solidFill>
                            <a:schemeClr val="tx1"/>
                          </a:solidFill>
                        </a:rPr>
                        <a:t>ar</a:t>
                      </a:r>
                      <a:endParaRPr lang="fr-FR" sz="1000" noProof="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alpha val="34000"/>
                      </a:schemeClr>
                    </a:solidFill>
                  </a:tcPr>
                </a:tc>
                <a:tc>
                  <a:txBody>
                    <a:bodyPr/>
                    <a:lstStyle/>
                    <a:p>
                      <a:pPr algn="l"/>
                      <a:r>
                        <a:rPr lang="fr-FR" sz="1000" noProof="0" dirty="0">
                          <a:solidFill>
                            <a:schemeClr val="tx1"/>
                          </a:solidFill>
                        </a:rPr>
                        <a:t>2 000 000 </a:t>
                      </a:r>
                      <a:r>
                        <a:rPr lang="fr-FR" sz="1000" noProof="0" dirty="0" err="1">
                          <a:solidFill>
                            <a:schemeClr val="tx1"/>
                          </a:solidFill>
                        </a:rPr>
                        <a:t>ar</a:t>
                      </a:r>
                      <a:endParaRPr lang="fr-FR" sz="1000" noProof="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alpha val="34000"/>
                      </a:schemeClr>
                    </a:solidFill>
                  </a:tcPr>
                </a:tc>
                <a:tc>
                  <a:txBody>
                    <a:bodyPr/>
                    <a:lstStyle/>
                    <a:p>
                      <a:pPr algn="l"/>
                      <a:endParaRPr lang="fr-FR" sz="1000" noProof="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alpha val="34000"/>
                      </a:schemeClr>
                    </a:solidFill>
                  </a:tcPr>
                </a:tc>
                <a:tc>
                  <a:txBody>
                    <a:bodyPr/>
                    <a:lstStyle/>
                    <a:p>
                      <a:pPr algn="l"/>
                      <a:endParaRPr lang="fr-FR" sz="1000" noProof="0" dirty="0">
                        <a:solidFill>
                          <a:schemeClr val="tx1"/>
                        </a:solidFill>
                      </a:endParaRPr>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alpha val="34000"/>
                      </a:schemeClr>
                    </a:solidFill>
                  </a:tcPr>
                </a:tc>
                <a:extLst>
                  <a:ext uri="{0D108BD9-81ED-4DB2-BD59-A6C34878D82A}">
                    <a16:rowId xmlns:a16="http://schemas.microsoft.com/office/drawing/2014/main" val="10001"/>
                  </a:ext>
                </a:extLst>
              </a:tr>
              <a:tr h="274637">
                <a:tc>
                  <a:txBody>
                    <a:bodyPr/>
                    <a:lstStyle/>
                    <a:p>
                      <a:pPr algn="l"/>
                      <a:r>
                        <a:rPr lang="fr-FR" sz="1000" noProof="0" dirty="0">
                          <a:solidFill>
                            <a:schemeClr val="tx1"/>
                          </a:solidFill>
                        </a:rPr>
                        <a:t>Financements non</a:t>
                      </a:r>
                      <a:r>
                        <a:rPr lang="fr-FR" sz="1000" baseline="0" noProof="0" dirty="0">
                          <a:solidFill>
                            <a:schemeClr val="tx1"/>
                          </a:solidFill>
                        </a:rPr>
                        <a:t> dilutifs (banques, subventions, prix)</a:t>
                      </a:r>
                      <a:endParaRPr lang="fr-FR" sz="1000" noProof="0" dirty="0">
                        <a:solidFill>
                          <a:schemeClr val="tx1"/>
                        </a:solidFill>
                      </a:endParaRPr>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alpha val="67000"/>
                      </a:schemeClr>
                    </a:solidFill>
                  </a:tcPr>
                </a:tc>
                <a:tc>
                  <a:txBody>
                    <a:bodyPr/>
                    <a:lstStyle/>
                    <a:p>
                      <a:pPr algn="l"/>
                      <a:endParaRPr lang="fr-FR" sz="1000" noProof="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alpha val="34000"/>
                      </a:schemeClr>
                    </a:solidFill>
                  </a:tcPr>
                </a:tc>
                <a:tc>
                  <a:txBody>
                    <a:bodyPr/>
                    <a:lstStyle/>
                    <a:p>
                      <a:pPr algn="l"/>
                      <a:r>
                        <a:rPr lang="fr-FR" sz="1000" noProof="0">
                          <a:solidFill>
                            <a:schemeClr val="tx1"/>
                          </a:solidFill>
                        </a:rPr>
                        <a:t>2 000 000 ar</a:t>
                      </a:r>
                      <a:endParaRPr lang="fr-FR" sz="1000" noProof="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alpha val="34000"/>
                      </a:schemeClr>
                    </a:solidFill>
                  </a:tcPr>
                </a:tc>
                <a:tc>
                  <a:txBody>
                    <a:bodyPr/>
                    <a:lstStyle/>
                    <a:p>
                      <a:pPr algn="l"/>
                      <a:r>
                        <a:rPr lang="fr-FR" sz="1000" noProof="0" dirty="0">
                          <a:solidFill>
                            <a:schemeClr val="tx1"/>
                          </a:solidFill>
                        </a:rPr>
                        <a:t>4</a:t>
                      </a:r>
                      <a:r>
                        <a:rPr lang="fr-FR" sz="1000" baseline="0" noProof="0" dirty="0">
                          <a:solidFill>
                            <a:schemeClr val="tx1"/>
                          </a:solidFill>
                        </a:rPr>
                        <a:t> 000 000 </a:t>
                      </a:r>
                      <a:r>
                        <a:rPr lang="fr-FR" sz="1000" baseline="0" noProof="0" dirty="0" err="1">
                          <a:solidFill>
                            <a:schemeClr val="tx1"/>
                          </a:solidFill>
                        </a:rPr>
                        <a:t>ar</a:t>
                      </a:r>
                      <a:endParaRPr lang="fr-FR" sz="1000" noProof="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alpha val="34000"/>
                      </a:schemeClr>
                    </a:solidFill>
                  </a:tcPr>
                </a:tc>
                <a:tc>
                  <a:txBody>
                    <a:bodyPr/>
                    <a:lstStyle/>
                    <a:p>
                      <a:pPr algn="l"/>
                      <a:endParaRPr lang="fr-FR" sz="1000" noProof="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alpha val="34000"/>
                      </a:schemeClr>
                    </a:solidFill>
                  </a:tcPr>
                </a:tc>
                <a:tc>
                  <a:txBody>
                    <a:bodyPr/>
                    <a:lstStyle/>
                    <a:p>
                      <a:pPr algn="l"/>
                      <a:r>
                        <a:rPr lang="fr-FR" sz="1000" noProof="0" dirty="0">
                          <a:solidFill>
                            <a:schemeClr val="tx1"/>
                          </a:solidFill>
                        </a:rPr>
                        <a:t>8</a:t>
                      </a:r>
                      <a:r>
                        <a:rPr lang="fr-FR" sz="1000" baseline="0" noProof="0" dirty="0">
                          <a:solidFill>
                            <a:schemeClr val="tx1"/>
                          </a:solidFill>
                        </a:rPr>
                        <a:t> 000 000 </a:t>
                      </a:r>
                      <a:r>
                        <a:rPr lang="fr-FR" sz="1000" baseline="0" noProof="0" dirty="0" err="1">
                          <a:solidFill>
                            <a:schemeClr val="tx1"/>
                          </a:solidFill>
                        </a:rPr>
                        <a:t>ar</a:t>
                      </a:r>
                      <a:endParaRPr lang="fr-FR" sz="1000" noProof="0" dirty="0">
                        <a:solidFill>
                          <a:schemeClr val="tx1"/>
                        </a:solidFill>
                      </a:endParaRPr>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alpha val="34000"/>
                      </a:schemeClr>
                    </a:solidFill>
                  </a:tcPr>
                </a:tc>
                <a:extLst>
                  <a:ext uri="{0D108BD9-81ED-4DB2-BD59-A6C34878D82A}">
                    <a16:rowId xmlns:a16="http://schemas.microsoft.com/office/drawing/2014/main" val="10002"/>
                  </a:ext>
                </a:extLst>
              </a:tr>
              <a:tr h="274637">
                <a:tc>
                  <a:txBody>
                    <a:bodyPr/>
                    <a:lstStyle/>
                    <a:p>
                      <a:pPr algn="l"/>
                      <a:r>
                        <a:rPr lang="fr-FR" sz="1000" noProof="0" dirty="0">
                          <a:solidFill>
                            <a:schemeClr val="tx1"/>
                          </a:solidFill>
                        </a:rPr>
                        <a:t>Levée de fonds</a:t>
                      </a:r>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alpha val="67000"/>
                      </a:schemeClr>
                    </a:solidFill>
                  </a:tcPr>
                </a:tc>
                <a:tc>
                  <a:txBody>
                    <a:bodyPr/>
                    <a:lstStyle/>
                    <a:p>
                      <a:pPr algn="l"/>
                      <a:endParaRPr lang="fr-FR" sz="1000" noProof="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alpha val="34000"/>
                      </a:schemeClr>
                    </a:solidFill>
                  </a:tcPr>
                </a:tc>
                <a:tc>
                  <a:txBody>
                    <a:bodyPr/>
                    <a:lstStyle/>
                    <a:p>
                      <a:pPr algn="l"/>
                      <a:endParaRPr lang="fr-FR" sz="1000" noProof="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alpha val="34000"/>
                      </a:schemeClr>
                    </a:solidFill>
                  </a:tcPr>
                </a:tc>
                <a:tc>
                  <a:txBody>
                    <a:bodyPr/>
                    <a:lstStyle/>
                    <a:p>
                      <a:pPr algn="l"/>
                      <a:endParaRPr lang="fr-FR" sz="1000" noProof="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alpha val="34000"/>
                      </a:schemeClr>
                    </a:solidFill>
                  </a:tcPr>
                </a:tc>
                <a:tc>
                  <a:txBody>
                    <a:bodyPr/>
                    <a:lstStyle/>
                    <a:p>
                      <a:pPr algn="l"/>
                      <a:r>
                        <a:rPr lang="fr-FR" sz="1000" noProof="0" dirty="0">
                          <a:solidFill>
                            <a:schemeClr val="tx1"/>
                          </a:solidFill>
                        </a:rPr>
                        <a:t>20 000 000 </a:t>
                      </a:r>
                      <a:r>
                        <a:rPr lang="fr-FR" sz="1000" noProof="0" dirty="0" err="1">
                          <a:solidFill>
                            <a:schemeClr val="tx1"/>
                          </a:solidFill>
                        </a:rPr>
                        <a:t>ar</a:t>
                      </a:r>
                      <a:endParaRPr lang="fr-FR" sz="1000" noProof="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alpha val="34000"/>
                      </a:schemeClr>
                    </a:solidFill>
                  </a:tcPr>
                </a:tc>
                <a:tc>
                  <a:txBody>
                    <a:bodyPr/>
                    <a:lstStyle/>
                    <a:p>
                      <a:pPr algn="l"/>
                      <a:endParaRPr lang="fr-FR" sz="1000" noProof="0" dirty="0">
                        <a:solidFill>
                          <a:schemeClr val="tx1"/>
                        </a:solidFill>
                      </a:endParaRPr>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alpha val="34000"/>
                      </a:schemeClr>
                    </a:solidFill>
                  </a:tcPr>
                </a:tc>
                <a:extLst>
                  <a:ext uri="{0D108BD9-81ED-4DB2-BD59-A6C34878D82A}">
                    <a16:rowId xmlns:a16="http://schemas.microsoft.com/office/drawing/2014/main" val="10003"/>
                  </a:ext>
                </a:extLst>
              </a:tr>
              <a:tr h="274637">
                <a:tc>
                  <a:txBody>
                    <a:bodyPr/>
                    <a:lstStyle/>
                    <a:p>
                      <a:pPr algn="l"/>
                      <a:r>
                        <a:rPr lang="fr-FR" sz="1000" noProof="0" dirty="0">
                          <a:solidFill>
                            <a:schemeClr val="tx1"/>
                          </a:solidFill>
                        </a:rPr>
                        <a:t>Nombre de transactions</a:t>
                      </a:r>
                      <a:r>
                        <a:rPr lang="fr-FR" sz="1000" baseline="0" noProof="0" dirty="0">
                          <a:solidFill>
                            <a:schemeClr val="tx1"/>
                          </a:solidFill>
                        </a:rPr>
                        <a:t> effectuées via la plateforme / ou autre indicateur de votre activité (commande, nouveaux clients…)</a:t>
                      </a:r>
                      <a:endParaRPr lang="fr-FR" sz="1000" noProof="0" dirty="0">
                        <a:solidFill>
                          <a:schemeClr val="tx1"/>
                        </a:solidFill>
                      </a:endParaRPr>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alpha val="67000"/>
                      </a:schemeClr>
                    </a:solidFill>
                  </a:tcPr>
                </a:tc>
                <a:tc>
                  <a:txBody>
                    <a:bodyPr/>
                    <a:lstStyle/>
                    <a:p>
                      <a:pPr algn="l"/>
                      <a:r>
                        <a:rPr lang="fr-FR" sz="1000" noProof="0" dirty="0">
                          <a:solidFill>
                            <a:schemeClr val="tx1"/>
                          </a:solidFill>
                        </a:rPr>
                        <a:t>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alpha val="34000"/>
                      </a:schemeClr>
                    </a:solidFill>
                  </a:tcPr>
                </a:tc>
                <a:tc>
                  <a:txBody>
                    <a:bodyPr/>
                    <a:lstStyle/>
                    <a:p>
                      <a:pPr algn="l"/>
                      <a:r>
                        <a:rPr lang="fr-FR" sz="1000" noProof="0" dirty="0">
                          <a:solidFill>
                            <a:schemeClr val="tx1"/>
                          </a:solidFill>
                        </a:rPr>
                        <a:t>6</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alpha val="34000"/>
                      </a:schemeClr>
                    </a:solidFill>
                  </a:tcPr>
                </a:tc>
                <a:tc>
                  <a:txBody>
                    <a:bodyPr/>
                    <a:lstStyle/>
                    <a:p>
                      <a:pPr algn="l"/>
                      <a:r>
                        <a:rPr lang="fr-FR" sz="1000" noProof="0" dirty="0">
                          <a:solidFill>
                            <a:schemeClr val="tx1"/>
                          </a:solidFill>
                        </a:rPr>
                        <a:t>20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alpha val="34000"/>
                      </a:schemeClr>
                    </a:solidFill>
                  </a:tcPr>
                </a:tc>
                <a:tc>
                  <a:txBody>
                    <a:bodyPr/>
                    <a:lstStyle/>
                    <a:p>
                      <a:pPr algn="l"/>
                      <a:r>
                        <a:rPr lang="fr-FR" sz="1000" noProof="0" dirty="0">
                          <a:solidFill>
                            <a:schemeClr val="tx1"/>
                          </a:solidFill>
                        </a:rPr>
                        <a:t>60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alpha val="34000"/>
                      </a:schemeClr>
                    </a:solidFill>
                  </a:tcPr>
                </a:tc>
                <a:tc>
                  <a:txBody>
                    <a:bodyPr/>
                    <a:lstStyle/>
                    <a:p>
                      <a:pPr algn="l"/>
                      <a:r>
                        <a:rPr lang="fr-FR" sz="1000" noProof="0" dirty="0">
                          <a:solidFill>
                            <a:schemeClr val="tx1"/>
                          </a:solidFill>
                        </a:rPr>
                        <a:t>160</a:t>
                      </a:r>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alpha val="34000"/>
                      </a:schemeClr>
                    </a:solidFill>
                  </a:tcPr>
                </a:tc>
                <a:extLst>
                  <a:ext uri="{0D108BD9-81ED-4DB2-BD59-A6C34878D82A}">
                    <a16:rowId xmlns:a16="http://schemas.microsoft.com/office/drawing/2014/main" val="10006"/>
                  </a:ext>
                </a:extLst>
              </a:tr>
              <a:tr h="274637">
                <a:tc>
                  <a:txBody>
                    <a:bodyPr/>
                    <a:lstStyle/>
                    <a:p>
                      <a:pPr algn="l"/>
                      <a:r>
                        <a:rPr lang="fr-FR" sz="1000" noProof="0" dirty="0">
                          <a:solidFill>
                            <a:schemeClr val="tx1"/>
                          </a:solidFill>
                        </a:rPr>
                        <a:t>Prix moyen</a:t>
                      </a:r>
                      <a:r>
                        <a:rPr lang="fr-FR" sz="1000" baseline="0" noProof="0" dirty="0">
                          <a:solidFill>
                            <a:schemeClr val="tx1"/>
                          </a:solidFill>
                        </a:rPr>
                        <a:t> de vos prestations</a:t>
                      </a:r>
                      <a:endParaRPr lang="fr-FR" sz="1000" noProof="0" dirty="0">
                        <a:solidFill>
                          <a:schemeClr val="tx1"/>
                        </a:solidFill>
                      </a:endParaRPr>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alpha val="67000"/>
                      </a:schemeClr>
                    </a:solidFill>
                  </a:tcPr>
                </a:tc>
                <a:tc>
                  <a:txBody>
                    <a:bodyPr/>
                    <a:lstStyle/>
                    <a:p>
                      <a:pPr algn="l"/>
                      <a:endParaRPr lang="fr-FR" sz="1000" noProof="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alpha val="34000"/>
                      </a:schemeClr>
                    </a:solidFill>
                  </a:tcPr>
                </a:tc>
                <a:tc>
                  <a:txBody>
                    <a:bodyPr/>
                    <a:lstStyle/>
                    <a:p>
                      <a:pPr algn="l"/>
                      <a:r>
                        <a:rPr lang="fr-FR" sz="1000" baseline="0" noProof="0" dirty="0">
                          <a:solidFill>
                            <a:schemeClr val="tx1"/>
                          </a:solidFill>
                        </a:rPr>
                        <a:t>700 000 </a:t>
                      </a:r>
                      <a:r>
                        <a:rPr lang="fr-FR" sz="1000" baseline="0" noProof="0" dirty="0" err="1">
                          <a:solidFill>
                            <a:schemeClr val="tx1"/>
                          </a:solidFill>
                        </a:rPr>
                        <a:t>ar</a:t>
                      </a:r>
                      <a:endParaRPr lang="fr-FR" sz="1000" noProof="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alpha val="34000"/>
                      </a:schemeClr>
                    </a:solidFill>
                  </a:tcPr>
                </a:tc>
                <a:tc>
                  <a:txBody>
                    <a:bodyPr/>
                    <a:lstStyle/>
                    <a:p>
                      <a:pPr algn="l"/>
                      <a:r>
                        <a:rPr lang="fr-FR" sz="1000" noProof="0" dirty="0">
                          <a:solidFill>
                            <a:schemeClr val="tx1"/>
                          </a:solidFill>
                        </a:rPr>
                        <a:t>1 2</a:t>
                      </a:r>
                      <a:r>
                        <a:rPr lang="fr-FR" sz="1000" baseline="0" noProof="0" dirty="0">
                          <a:solidFill>
                            <a:schemeClr val="tx1"/>
                          </a:solidFill>
                        </a:rPr>
                        <a:t>00 000</a:t>
                      </a:r>
                      <a:endParaRPr lang="fr-FR" sz="1000" noProof="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alpha val="34000"/>
                      </a:schemeClr>
                    </a:solidFill>
                  </a:tcPr>
                </a:tc>
                <a:tc>
                  <a:txBody>
                    <a:bodyPr/>
                    <a:lstStyle/>
                    <a:p>
                      <a:pPr algn="l"/>
                      <a:r>
                        <a:rPr lang="fr-FR" sz="1000" noProof="0" dirty="0">
                          <a:solidFill>
                            <a:schemeClr val="tx1"/>
                          </a:solidFill>
                        </a:rPr>
                        <a:t>1</a:t>
                      </a:r>
                      <a:r>
                        <a:rPr lang="fr-FR" sz="1000" baseline="0" noProof="0" dirty="0">
                          <a:solidFill>
                            <a:schemeClr val="tx1"/>
                          </a:solidFill>
                        </a:rPr>
                        <a:t> 500 000</a:t>
                      </a:r>
                      <a:endParaRPr lang="fr-FR" sz="1000" noProof="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alpha val="34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000" noProof="0" dirty="0">
                          <a:solidFill>
                            <a:schemeClr val="tx1"/>
                          </a:solidFill>
                        </a:rPr>
                        <a:t>1</a:t>
                      </a:r>
                      <a:r>
                        <a:rPr lang="fr-FR" sz="1000" baseline="0" noProof="0" dirty="0">
                          <a:solidFill>
                            <a:schemeClr val="tx1"/>
                          </a:solidFill>
                        </a:rPr>
                        <a:t> 500 000</a:t>
                      </a:r>
                      <a:endParaRPr lang="fr-FR" sz="1000" noProof="0" dirty="0">
                        <a:solidFill>
                          <a:schemeClr val="tx1"/>
                        </a:solidFill>
                      </a:endParaRPr>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alpha val="34000"/>
                      </a:schemeClr>
                    </a:solidFill>
                  </a:tcPr>
                </a:tc>
                <a:extLst>
                  <a:ext uri="{0D108BD9-81ED-4DB2-BD59-A6C34878D82A}">
                    <a16:rowId xmlns:a16="http://schemas.microsoft.com/office/drawing/2014/main" val="10007"/>
                  </a:ext>
                </a:extLst>
              </a:tr>
              <a:tr h="274637">
                <a:tc>
                  <a:txBody>
                    <a:bodyPr/>
                    <a:lstStyle/>
                    <a:p>
                      <a:pPr algn="l"/>
                      <a:r>
                        <a:rPr lang="fr-FR" sz="1000" noProof="0" dirty="0">
                          <a:solidFill>
                            <a:schemeClr val="tx1"/>
                          </a:solidFill>
                        </a:rPr>
                        <a:t>Volume d’affaires</a:t>
                      </a:r>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alpha val="67000"/>
                      </a:schemeClr>
                    </a:solidFill>
                  </a:tcPr>
                </a:tc>
                <a:tc>
                  <a:txBody>
                    <a:bodyPr/>
                    <a:lstStyle/>
                    <a:p>
                      <a:pPr algn="l"/>
                      <a:endParaRPr lang="fr-FR" sz="1000" noProof="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alpha val="34000"/>
                      </a:schemeClr>
                    </a:solidFill>
                  </a:tcPr>
                </a:tc>
                <a:tc>
                  <a:txBody>
                    <a:bodyPr/>
                    <a:lstStyle/>
                    <a:p>
                      <a:pPr algn="l"/>
                      <a:r>
                        <a:rPr lang="fr-FR" sz="1000" noProof="0" dirty="0">
                          <a:solidFill>
                            <a:schemeClr val="tx1"/>
                          </a:solidFill>
                        </a:rPr>
                        <a:t>4 200 000 </a:t>
                      </a:r>
                      <a:r>
                        <a:rPr lang="fr-FR" sz="1000" noProof="0" dirty="0" err="1">
                          <a:solidFill>
                            <a:schemeClr val="tx1"/>
                          </a:solidFill>
                        </a:rPr>
                        <a:t>ar</a:t>
                      </a:r>
                      <a:endParaRPr lang="fr-FR" sz="1000" noProof="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alpha val="34000"/>
                      </a:schemeClr>
                    </a:solidFill>
                  </a:tcPr>
                </a:tc>
                <a:tc>
                  <a:txBody>
                    <a:bodyPr/>
                    <a:lstStyle/>
                    <a:p>
                      <a:pPr algn="l"/>
                      <a:r>
                        <a:rPr lang="fr-FR" sz="1000" noProof="0" dirty="0">
                          <a:solidFill>
                            <a:schemeClr val="tx1"/>
                          </a:solidFill>
                        </a:rPr>
                        <a:t>24 000 000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alpha val="34000"/>
                      </a:schemeClr>
                    </a:solidFill>
                  </a:tcPr>
                </a:tc>
                <a:tc>
                  <a:txBody>
                    <a:bodyPr/>
                    <a:lstStyle/>
                    <a:p>
                      <a:pPr algn="l"/>
                      <a:r>
                        <a:rPr lang="fr-FR" sz="1000" noProof="0" dirty="0">
                          <a:solidFill>
                            <a:schemeClr val="tx1"/>
                          </a:solidFill>
                        </a:rPr>
                        <a:t>90 000 000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alpha val="34000"/>
                      </a:schemeClr>
                    </a:solidFill>
                  </a:tcPr>
                </a:tc>
                <a:tc>
                  <a:txBody>
                    <a:bodyPr/>
                    <a:lstStyle/>
                    <a:p>
                      <a:pPr algn="l"/>
                      <a:r>
                        <a:rPr lang="fr-FR" sz="1000" noProof="0" dirty="0">
                          <a:solidFill>
                            <a:schemeClr val="tx1"/>
                          </a:solidFill>
                        </a:rPr>
                        <a:t>2</a:t>
                      </a:r>
                      <a:r>
                        <a:rPr lang="fr-FR" sz="1000" baseline="0" noProof="0" dirty="0">
                          <a:solidFill>
                            <a:schemeClr val="tx1"/>
                          </a:solidFill>
                        </a:rPr>
                        <a:t>40 000 000</a:t>
                      </a:r>
                      <a:endParaRPr lang="fr-FR" sz="1000" noProof="0" dirty="0">
                        <a:solidFill>
                          <a:schemeClr val="tx1"/>
                        </a:solidFill>
                      </a:endParaRPr>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alpha val="34000"/>
                      </a:schemeClr>
                    </a:solidFill>
                  </a:tcPr>
                </a:tc>
                <a:extLst>
                  <a:ext uri="{0D108BD9-81ED-4DB2-BD59-A6C34878D82A}">
                    <a16:rowId xmlns:a16="http://schemas.microsoft.com/office/drawing/2014/main" val="10008"/>
                  </a:ext>
                </a:extLst>
              </a:tr>
              <a:tr h="274637">
                <a:tc>
                  <a:txBody>
                    <a:bodyPr/>
                    <a:lstStyle/>
                    <a:p>
                      <a:pPr algn="l"/>
                      <a:r>
                        <a:rPr lang="fr-FR" sz="1000" noProof="0" dirty="0">
                          <a:solidFill>
                            <a:schemeClr val="tx1"/>
                          </a:solidFill>
                        </a:rPr>
                        <a:t>Chiffre d’affaires (com. 5%)</a:t>
                      </a:r>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alpha val="67000"/>
                      </a:schemeClr>
                    </a:solidFill>
                  </a:tcPr>
                </a:tc>
                <a:tc>
                  <a:txBody>
                    <a:bodyPr/>
                    <a:lstStyle/>
                    <a:p>
                      <a:pPr algn="l"/>
                      <a:r>
                        <a:rPr lang="fr-FR" sz="1000" noProof="0" dirty="0">
                          <a:solidFill>
                            <a:schemeClr val="tx1"/>
                          </a:solidFill>
                        </a:rPr>
                        <a:t>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alpha val="34000"/>
                      </a:schemeClr>
                    </a:solidFill>
                  </a:tcPr>
                </a:tc>
                <a:tc>
                  <a:txBody>
                    <a:bodyPr/>
                    <a:lstStyle/>
                    <a:p>
                      <a:pPr algn="l"/>
                      <a:r>
                        <a:rPr lang="fr-FR" sz="1000" noProof="0" dirty="0">
                          <a:solidFill>
                            <a:schemeClr val="tx1"/>
                          </a:solidFill>
                        </a:rPr>
                        <a:t>210</a:t>
                      </a:r>
                      <a:r>
                        <a:rPr lang="fr-FR" sz="1000" baseline="0" noProof="0" dirty="0">
                          <a:solidFill>
                            <a:schemeClr val="tx1"/>
                          </a:solidFill>
                        </a:rPr>
                        <a:t> 000 </a:t>
                      </a:r>
                      <a:r>
                        <a:rPr lang="fr-FR" sz="1000" baseline="0" noProof="0" dirty="0" err="1">
                          <a:solidFill>
                            <a:schemeClr val="tx1"/>
                          </a:solidFill>
                        </a:rPr>
                        <a:t>ar</a:t>
                      </a:r>
                      <a:endParaRPr lang="fr-FR" sz="1000" noProof="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alpha val="34000"/>
                      </a:schemeClr>
                    </a:solidFill>
                  </a:tcPr>
                </a:tc>
                <a:tc>
                  <a:txBody>
                    <a:bodyPr/>
                    <a:lstStyle/>
                    <a:p>
                      <a:pPr algn="l"/>
                      <a:r>
                        <a:rPr lang="fr-FR" sz="1000" noProof="0" dirty="0">
                          <a:solidFill>
                            <a:schemeClr val="tx1"/>
                          </a:solidFill>
                        </a:rPr>
                        <a:t>1 200 000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alpha val="34000"/>
                      </a:schemeClr>
                    </a:solidFill>
                  </a:tcPr>
                </a:tc>
                <a:tc>
                  <a:txBody>
                    <a:bodyPr/>
                    <a:lstStyle/>
                    <a:p>
                      <a:pPr algn="l"/>
                      <a:r>
                        <a:rPr lang="fr-FR" sz="1000" noProof="0" dirty="0">
                          <a:solidFill>
                            <a:schemeClr val="tx1"/>
                          </a:solidFill>
                        </a:rPr>
                        <a:t>4 500 000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alpha val="34000"/>
                      </a:schemeClr>
                    </a:solidFill>
                  </a:tcPr>
                </a:tc>
                <a:tc>
                  <a:txBody>
                    <a:bodyPr/>
                    <a:lstStyle/>
                    <a:p>
                      <a:pPr algn="l"/>
                      <a:r>
                        <a:rPr lang="fr-FR" sz="1000" noProof="0" dirty="0">
                          <a:solidFill>
                            <a:schemeClr val="tx1"/>
                          </a:solidFill>
                        </a:rPr>
                        <a:t>12 000</a:t>
                      </a:r>
                      <a:r>
                        <a:rPr lang="fr-FR" sz="1000" baseline="0" noProof="0" dirty="0">
                          <a:solidFill>
                            <a:schemeClr val="tx1"/>
                          </a:solidFill>
                        </a:rPr>
                        <a:t> 000 </a:t>
                      </a:r>
                      <a:r>
                        <a:rPr lang="fr-FR" sz="1000" baseline="0" noProof="0" dirty="0" err="1">
                          <a:solidFill>
                            <a:schemeClr val="tx1"/>
                          </a:solidFill>
                        </a:rPr>
                        <a:t>ar</a:t>
                      </a:r>
                      <a:endParaRPr lang="fr-FR" sz="1000" noProof="0" dirty="0">
                        <a:solidFill>
                          <a:schemeClr val="tx1"/>
                        </a:solidFill>
                      </a:endParaRPr>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alpha val="34000"/>
                      </a:schemeClr>
                    </a:solidFill>
                  </a:tcPr>
                </a:tc>
                <a:extLst>
                  <a:ext uri="{0D108BD9-81ED-4DB2-BD59-A6C34878D82A}">
                    <a16:rowId xmlns:a16="http://schemas.microsoft.com/office/drawing/2014/main" val="10004"/>
                  </a:ext>
                </a:extLst>
              </a:tr>
              <a:tr h="274637">
                <a:tc>
                  <a:txBody>
                    <a:bodyPr/>
                    <a:lstStyle/>
                    <a:p>
                      <a:pPr algn="l"/>
                      <a:r>
                        <a:rPr lang="fr-FR" sz="1000" noProof="0" dirty="0">
                          <a:solidFill>
                            <a:schemeClr val="tx1"/>
                          </a:solidFill>
                        </a:rPr>
                        <a:t>Résultat net</a:t>
                      </a:r>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alpha val="67000"/>
                      </a:schemeClr>
                    </a:solidFill>
                  </a:tcPr>
                </a:tc>
                <a:tc>
                  <a:txBody>
                    <a:bodyPr/>
                    <a:lstStyle/>
                    <a:p>
                      <a:pPr algn="l"/>
                      <a:r>
                        <a:rPr lang="fr-FR" sz="1000" noProof="0" dirty="0">
                          <a:solidFill>
                            <a:schemeClr val="tx1"/>
                          </a:solidFill>
                        </a:rPr>
                        <a:t>-200 000 </a:t>
                      </a:r>
                      <a:r>
                        <a:rPr lang="fr-FR" sz="1000" noProof="0" dirty="0" err="1">
                          <a:solidFill>
                            <a:schemeClr val="tx1"/>
                          </a:solidFill>
                        </a:rPr>
                        <a:t>ar</a:t>
                      </a:r>
                      <a:endParaRPr lang="fr-FR" sz="1000" noProof="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alpha val="34000"/>
                      </a:schemeClr>
                    </a:solidFill>
                  </a:tcPr>
                </a:tc>
                <a:tc>
                  <a:txBody>
                    <a:bodyPr/>
                    <a:lstStyle/>
                    <a:p>
                      <a:pPr algn="l"/>
                      <a:r>
                        <a:rPr lang="fr-FR" sz="1000" noProof="0" dirty="0">
                          <a:solidFill>
                            <a:schemeClr val="tx1"/>
                          </a:solidFill>
                        </a:rPr>
                        <a:t>- </a:t>
                      </a:r>
                      <a:r>
                        <a:rPr lang="fr-FR" sz="1000" baseline="0" noProof="0" dirty="0">
                          <a:solidFill>
                            <a:schemeClr val="tx1"/>
                          </a:solidFill>
                        </a:rPr>
                        <a:t>4 432 000 </a:t>
                      </a:r>
                      <a:r>
                        <a:rPr lang="fr-FR" sz="1000" baseline="0" noProof="0" dirty="0" err="1">
                          <a:solidFill>
                            <a:schemeClr val="tx1"/>
                          </a:solidFill>
                        </a:rPr>
                        <a:t>ar</a:t>
                      </a:r>
                      <a:endParaRPr lang="fr-FR" sz="1000" noProof="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alpha val="34000"/>
                      </a:schemeClr>
                    </a:solidFill>
                  </a:tcPr>
                </a:tc>
                <a:tc>
                  <a:txBody>
                    <a:bodyPr/>
                    <a:lstStyle/>
                    <a:p>
                      <a:pPr algn="l"/>
                      <a:r>
                        <a:rPr lang="fr-FR" sz="1000" noProof="0" dirty="0">
                          <a:solidFill>
                            <a:schemeClr val="tx1"/>
                          </a:solidFill>
                        </a:rPr>
                        <a:t>300 000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alpha val="34000"/>
                      </a:schemeClr>
                    </a:solidFill>
                  </a:tcPr>
                </a:tc>
                <a:tc>
                  <a:txBody>
                    <a:bodyPr/>
                    <a:lstStyle/>
                    <a:p>
                      <a:pPr algn="l"/>
                      <a:r>
                        <a:rPr lang="fr-FR" sz="1000" noProof="0" dirty="0">
                          <a:solidFill>
                            <a:schemeClr val="tx1"/>
                          </a:solidFill>
                        </a:rPr>
                        <a:t>1</a:t>
                      </a:r>
                      <a:r>
                        <a:rPr lang="fr-FR" sz="1000" baseline="0" noProof="0" dirty="0">
                          <a:solidFill>
                            <a:schemeClr val="tx1"/>
                          </a:solidFill>
                        </a:rPr>
                        <a:t> 800 000</a:t>
                      </a:r>
                      <a:endParaRPr lang="fr-FR" sz="1000" noProof="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alpha val="34000"/>
                      </a:schemeClr>
                    </a:solidFill>
                  </a:tcPr>
                </a:tc>
                <a:tc>
                  <a:txBody>
                    <a:bodyPr/>
                    <a:lstStyle/>
                    <a:p>
                      <a:pPr algn="l"/>
                      <a:r>
                        <a:rPr lang="fr-FR" sz="1000" baseline="0" noProof="0" dirty="0">
                          <a:solidFill>
                            <a:schemeClr val="tx1"/>
                          </a:solidFill>
                        </a:rPr>
                        <a:t>6 200 000</a:t>
                      </a:r>
                      <a:endParaRPr lang="fr-FR" sz="1000" noProof="0" dirty="0">
                        <a:solidFill>
                          <a:schemeClr val="tx1"/>
                        </a:solidFill>
                      </a:endParaRPr>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alpha val="34000"/>
                      </a:schemeClr>
                    </a:solidFill>
                  </a:tcPr>
                </a:tc>
                <a:extLst>
                  <a:ext uri="{0D108BD9-81ED-4DB2-BD59-A6C34878D82A}">
                    <a16:rowId xmlns:a16="http://schemas.microsoft.com/office/drawing/2014/main" val="10005"/>
                  </a:ext>
                </a:extLst>
              </a:tr>
              <a:tr h="274637">
                <a:tc>
                  <a:txBody>
                    <a:bodyPr/>
                    <a:lstStyle/>
                    <a:p>
                      <a:pPr algn="l"/>
                      <a:r>
                        <a:rPr lang="fr-FR" sz="1000" noProof="0" dirty="0">
                          <a:solidFill>
                            <a:schemeClr val="tx1"/>
                          </a:solidFill>
                        </a:rPr>
                        <a:t>Effectif</a:t>
                      </a:r>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solidFill>
                      <a:schemeClr val="tx2">
                        <a:alpha val="67000"/>
                      </a:schemeClr>
                    </a:solidFill>
                  </a:tcPr>
                </a:tc>
                <a:tc>
                  <a:txBody>
                    <a:bodyPr/>
                    <a:lstStyle/>
                    <a:p>
                      <a:pPr algn="l"/>
                      <a:r>
                        <a:rPr lang="fr-FR" sz="1000" noProof="0" dirty="0">
                          <a:solidFill>
                            <a:schemeClr val="tx1"/>
                          </a:solidFill>
                        </a:rPr>
                        <a:t>3 (associés)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solidFill>
                      <a:schemeClr val="tx2">
                        <a:alpha val="34000"/>
                      </a:schemeClr>
                    </a:solidFill>
                  </a:tcPr>
                </a:tc>
                <a:tc>
                  <a:txBody>
                    <a:bodyPr/>
                    <a:lstStyle/>
                    <a:p>
                      <a:pPr algn="l"/>
                      <a:r>
                        <a:rPr lang="fr-FR" sz="1000" baseline="0" noProof="0" dirty="0">
                          <a:solidFill>
                            <a:schemeClr val="tx1"/>
                          </a:solidFill>
                        </a:rPr>
                        <a:t>5 (3 associés+ 2 stagiaires)</a:t>
                      </a:r>
                      <a:endParaRPr lang="fr-FR" sz="1000" noProof="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solidFill>
                      <a:schemeClr val="tx2">
                        <a:alpha val="34000"/>
                      </a:schemeClr>
                    </a:solidFill>
                  </a:tcPr>
                </a:tc>
                <a:tc>
                  <a:txBody>
                    <a:bodyPr/>
                    <a:lstStyle/>
                    <a:p>
                      <a:pPr algn="l"/>
                      <a:r>
                        <a:rPr lang="fr-FR" sz="1000" noProof="0" dirty="0">
                          <a:solidFill>
                            <a:schemeClr val="tx1"/>
                          </a:solidFill>
                        </a:rPr>
                        <a:t>6</a:t>
                      </a:r>
                      <a:r>
                        <a:rPr lang="fr-FR" sz="1000" baseline="0" noProof="0" dirty="0">
                          <a:solidFill>
                            <a:schemeClr val="tx1"/>
                          </a:solidFill>
                        </a:rPr>
                        <a:t> (5 CDI + 1 stagiaire)</a:t>
                      </a:r>
                      <a:endParaRPr lang="fr-FR" sz="1000" noProof="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solidFill>
                      <a:schemeClr val="tx2">
                        <a:alpha val="34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000" baseline="0" noProof="0" dirty="0">
                          <a:solidFill>
                            <a:schemeClr val="tx1"/>
                          </a:solidFill>
                        </a:rPr>
                        <a:t>13 (10CDI + 3 stagiaires)</a:t>
                      </a:r>
                      <a:endParaRPr lang="fr-FR" sz="1000" noProof="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solidFill>
                      <a:schemeClr val="tx2">
                        <a:alpha val="34000"/>
                      </a:schemeClr>
                    </a:solidFill>
                  </a:tcPr>
                </a:tc>
                <a:tc>
                  <a:txBody>
                    <a:bodyPr/>
                    <a:lstStyle/>
                    <a:p>
                      <a:pPr algn="l"/>
                      <a:r>
                        <a:rPr lang="fr-FR" sz="1000" noProof="0" dirty="0">
                          <a:solidFill>
                            <a:schemeClr val="tx1"/>
                          </a:solidFill>
                        </a:rPr>
                        <a:t>22 (19 CDI + 3</a:t>
                      </a:r>
                      <a:r>
                        <a:rPr lang="fr-FR" sz="1000" baseline="0" noProof="0" dirty="0">
                          <a:solidFill>
                            <a:schemeClr val="tx1"/>
                          </a:solidFill>
                        </a:rPr>
                        <a:t> stagiaires</a:t>
                      </a:r>
                      <a:r>
                        <a:rPr lang="fr-FR" sz="1000" noProof="0" dirty="0">
                          <a:solidFill>
                            <a:schemeClr val="tx1"/>
                          </a:solidFill>
                        </a:rPr>
                        <a:t>)</a:t>
                      </a:r>
                      <a:r>
                        <a:rPr lang="fr-FR" sz="1000" baseline="0" noProof="0" dirty="0">
                          <a:solidFill>
                            <a:schemeClr val="tx1"/>
                          </a:solidFill>
                        </a:rPr>
                        <a:t> </a:t>
                      </a:r>
                      <a:endParaRPr lang="fr-FR" sz="1000" noProof="0" dirty="0">
                        <a:solidFill>
                          <a:schemeClr val="tx1"/>
                        </a:solidFill>
                      </a:endParaRPr>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solidFill>
                      <a:schemeClr val="tx2">
                        <a:alpha val="34000"/>
                      </a:schemeClr>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751332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Content Placeholder 23"/>
          <p:cNvSpPr>
            <a:spLocks noGrp="1"/>
          </p:cNvSpPr>
          <p:nvPr>
            <p:ph idx="1"/>
          </p:nvPr>
        </p:nvSpPr>
        <p:spPr>
          <a:xfrm>
            <a:off x="313200" y="1011213"/>
            <a:ext cx="7931208" cy="3360737"/>
          </a:xfrm>
        </p:spPr>
        <p:txBody>
          <a:bodyPr/>
          <a:lstStyle/>
          <a:p>
            <a:pPr lvl="0">
              <a:buClr>
                <a:srgbClr val="FFFFFF"/>
              </a:buClr>
            </a:pPr>
            <a:r>
              <a:rPr lang="fr-FR" sz="1600" dirty="0">
                <a:solidFill>
                  <a:srgbClr val="FF7900"/>
                </a:solidFill>
                <a:latin typeface="+mn-lt"/>
              </a:rPr>
              <a:t>Vous avez déjà :</a:t>
            </a:r>
          </a:p>
          <a:p>
            <a:pPr marL="285750" lvl="0" indent="-285750">
              <a:buClrTx/>
              <a:buSzPct val="75000"/>
              <a:buFont typeface="Arial" pitchFamily="34" charset="0"/>
              <a:buChar char="•"/>
            </a:pPr>
            <a:r>
              <a:rPr lang="fr-FR" sz="1600" dirty="0">
                <a:solidFill>
                  <a:srgbClr val="FF7900"/>
                </a:solidFill>
                <a:latin typeface="+mn-lt"/>
              </a:rPr>
              <a:t>intégré un autre incubateur?</a:t>
            </a:r>
          </a:p>
          <a:p>
            <a:pPr marL="285750" lvl="0" indent="-285750">
              <a:buClrTx/>
              <a:buSzPct val="75000"/>
              <a:buFont typeface="Arial" pitchFamily="34" charset="0"/>
              <a:buChar char="•"/>
            </a:pPr>
            <a:r>
              <a:rPr lang="fr-FR" sz="1600" dirty="0">
                <a:solidFill>
                  <a:srgbClr val="FF7900"/>
                </a:solidFill>
                <a:latin typeface="+mn-lt"/>
              </a:rPr>
              <a:t>remporté un prix ou une subvention?</a:t>
            </a:r>
          </a:p>
          <a:p>
            <a:pPr marL="285750" lvl="0" indent="-285750">
              <a:buClrTx/>
              <a:buSzPct val="75000"/>
              <a:buFont typeface="Arial" pitchFamily="34" charset="0"/>
              <a:buChar char="•"/>
            </a:pPr>
            <a:r>
              <a:rPr lang="fr-FR" sz="1600" dirty="0">
                <a:solidFill>
                  <a:srgbClr val="FF7900"/>
                </a:solidFill>
                <a:latin typeface="+mn-lt"/>
              </a:rPr>
              <a:t>eu des couvertures médias et des articles?</a:t>
            </a:r>
          </a:p>
          <a:p>
            <a:pPr marL="285750" lvl="0" indent="-285750">
              <a:buClrTx/>
              <a:buSzPct val="75000"/>
              <a:buFont typeface="Arial" pitchFamily="34" charset="0"/>
              <a:buChar char="•"/>
            </a:pPr>
            <a:r>
              <a:rPr lang="fr-FR" sz="1600" dirty="0">
                <a:solidFill>
                  <a:srgbClr val="FF7900"/>
                </a:solidFill>
                <a:latin typeface="+mn-lt"/>
              </a:rPr>
              <a:t>convaincu un investisseur d’investir dans votre entreprise ?</a:t>
            </a:r>
          </a:p>
          <a:p>
            <a:pPr marL="285750" lvl="0" indent="-285750">
              <a:buClrTx/>
              <a:buSzPct val="75000"/>
              <a:buFont typeface="Arial" pitchFamily="34" charset="0"/>
              <a:buChar char="•"/>
            </a:pPr>
            <a:endParaRPr lang="fr-FR" sz="1600" dirty="0">
              <a:solidFill>
                <a:srgbClr val="FF7900"/>
              </a:solidFill>
              <a:latin typeface="+mn-lt"/>
            </a:endParaRPr>
          </a:p>
          <a:p>
            <a:pPr lvl="0">
              <a:buClrTx/>
              <a:buSzPct val="75000"/>
            </a:pPr>
            <a:r>
              <a:rPr lang="fr-FR" sz="1600" dirty="0">
                <a:solidFill>
                  <a:schemeClr val="tx1"/>
                </a:solidFill>
                <a:latin typeface="+mn-lt"/>
              </a:rPr>
              <a:t>Renseignez le ici !</a:t>
            </a:r>
          </a:p>
        </p:txBody>
      </p:sp>
      <p:sp>
        <p:nvSpPr>
          <p:cNvPr id="5" name="Title 4"/>
          <p:cNvSpPr>
            <a:spLocks noGrp="1"/>
          </p:cNvSpPr>
          <p:nvPr>
            <p:ph type="title"/>
          </p:nvPr>
        </p:nvSpPr>
        <p:spPr/>
        <p:txBody>
          <a:bodyPr/>
          <a:lstStyle/>
          <a:p>
            <a:r>
              <a:rPr lang="fr-FR" dirty="0"/>
              <a:t>Ils nous soutiennent</a:t>
            </a:r>
          </a:p>
        </p:txBody>
      </p:sp>
    </p:spTree>
    <p:extLst>
      <p:ext uri="{BB962C8B-B14F-4D97-AF65-F5344CB8AC3E}">
        <p14:creationId xmlns:p14="http://schemas.microsoft.com/office/powerpoint/2010/main" val="32703735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8C2E4737-F094-43EE-BEF2-4DBDD132CA1D}"/>
              </a:ext>
            </a:extLst>
          </p:cNvPr>
          <p:cNvSpPr txBox="1"/>
          <p:nvPr/>
        </p:nvSpPr>
        <p:spPr>
          <a:xfrm>
            <a:off x="2195736" y="1491630"/>
            <a:ext cx="1479572" cy="1508105"/>
          </a:xfrm>
          <a:prstGeom prst="rect">
            <a:avLst/>
          </a:prstGeom>
        </p:spPr>
        <p:txBody>
          <a:bodyPr wrap="none" lIns="0" tIns="0" rIns="0" bIns="0" rtlCol="0">
            <a:spAutoFit/>
          </a:bodyPr>
          <a:lstStyle/>
          <a:p>
            <a:r>
              <a:rPr lang="fr-FR" sz="1400" dirty="0"/>
              <a:t>Contactez –nous:</a:t>
            </a:r>
          </a:p>
          <a:p>
            <a:r>
              <a:rPr lang="fr-FR" sz="1400" dirty="0"/>
              <a:t>Email</a:t>
            </a:r>
          </a:p>
          <a:p>
            <a:r>
              <a:rPr lang="fr-FR" sz="1400" dirty="0"/>
              <a:t>Tel:</a:t>
            </a:r>
          </a:p>
          <a:p>
            <a:r>
              <a:rPr lang="fr-FR" sz="1400" dirty="0"/>
              <a:t>Site web:</a:t>
            </a:r>
          </a:p>
          <a:p>
            <a:r>
              <a:rPr lang="fr-FR" sz="1400" dirty="0"/>
              <a:t>Facebook:</a:t>
            </a:r>
          </a:p>
          <a:p>
            <a:r>
              <a:rPr lang="fr-FR" sz="1400" dirty="0" err="1"/>
              <a:t>Youtube</a:t>
            </a:r>
            <a:r>
              <a:rPr lang="fr-FR" sz="1400" dirty="0"/>
              <a:t>: </a:t>
            </a:r>
          </a:p>
          <a:p>
            <a:endParaRPr lang="fr-CM" sz="1400" dirty="0" err="1"/>
          </a:p>
        </p:txBody>
      </p:sp>
    </p:spTree>
    <p:extLst>
      <p:ext uri="{BB962C8B-B14F-4D97-AF65-F5344CB8AC3E}">
        <p14:creationId xmlns:p14="http://schemas.microsoft.com/office/powerpoint/2010/main" val="24274027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R Outils et elements utiles">
  <a:themeElements>
    <a:clrScheme name="Orange WHT Secondary">
      <a:dk1>
        <a:srgbClr val="000000"/>
      </a:dk1>
      <a:lt1>
        <a:srgbClr val="FFFFFF"/>
      </a:lt1>
      <a:dk2>
        <a:srgbClr val="8F8F8F"/>
      </a:dk2>
      <a:lt2>
        <a:srgbClr val="FF7900"/>
      </a:lt2>
      <a:accent1>
        <a:srgbClr val="FF7900"/>
      </a:accent1>
      <a:accent2>
        <a:srgbClr val="4BB4E6"/>
      </a:accent2>
      <a:accent3>
        <a:srgbClr val="50BE87"/>
      </a:accent3>
      <a:accent4>
        <a:srgbClr val="FFB4E6"/>
      </a:accent4>
      <a:accent5>
        <a:srgbClr val="A885D8"/>
      </a:accent5>
      <a:accent6>
        <a:srgbClr val="FFD200"/>
      </a:accent6>
      <a:hlink>
        <a:srgbClr val="FF7900"/>
      </a:hlink>
      <a:folHlink>
        <a:srgbClr val="FF7900"/>
      </a:folHlink>
    </a:clrScheme>
    <a:fontScheme name="Orange">
      <a:majorFont>
        <a:latin typeface="Helvetica 75 Bold"/>
        <a:ea typeface=""/>
        <a:cs typeface=""/>
      </a:majorFont>
      <a:minorFont>
        <a:latin typeface="Helvetica 75 Bol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1600" dirty="0" smtClean="0">
            <a:solidFill>
              <a:srgbClr val="000000"/>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bodyPr wrap="none" lIns="0" tIns="0" rIns="0" bIns="0" rtlCol="0">
        <a:spAutoFit/>
      </a:bodyPr>
      <a:lstStyle>
        <a:defPPr>
          <a:defRPr sz="1400" dirty="0" err="1" smtClean="0"/>
        </a:defPPr>
      </a:lstStyle>
    </a:txDef>
  </a:objectDefaults>
  <a:extraClrSchemeLst/>
  <a:extLst>
    <a:ext uri="{05A4C25C-085E-4340-85A3-A5531E510DB2}">
      <thm15:themeFamily xmlns:thm15="http://schemas.microsoft.com/office/thememl/2012/main" name="ORA_Template_Beta_external_110816.potx" id="{096397F8-02DF-40E4-AEB9-88A0052F30F0}" vid="{AA36791E-F7D8-46B6-BCF9-C51758B3B43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A3689F6A969AB449B11794B473A2EDAB" ma:contentTypeVersion="1" ma:contentTypeDescription="Create a new document." ma:contentTypeScope="" ma:versionID="df30161e6b4666b7a93eec9546cc1236">
  <xsd:schema xmlns:xsd="http://www.w3.org/2001/XMLSchema" xmlns:xs="http://www.w3.org/2001/XMLSchema" xmlns:p="http://schemas.microsoft.com/office/2006/metadata/properties" xmlns:ns1="http://schemas.microsoft.com/sharepoint/v3" targetNamespace="http://schemas.microsoft.com/office/2006/metadata/properties" ma:root="true" ma:fieldsID="ef2aa9ed40e72a78c3822fc753b43e87" ns1:_="">
    <xsd:import namespace="http://schemas.microsoft.com/sharepoint/v3"/>
    <xsd:element name="properties">
      <xsd:complexType>
        <xsd:sequence>
          <xsd:element name="documentManagement">
            <xsd:complexType>
              <xsd:all>
                <xsd:element ref="ns1:PublishingStartDate" minOccurs="0"/>
                <xsd:element ref="ns1:PublishingExpirationDa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Scheduling Start Date" ma:description="" ma:hidden="true" ma:internalName="PublishingStartDate">
      <xsd:simpleType>
        <xsd:restriction base="dms:Unknown"/>
      </xsd:simpleType>
    </xsd:element>
    <xsd:element name="PublishingExpirationDate" ma:index="9" nillable="true" ma:displayName="Scheduling End Date" ma:description="" ma:hidden="true" ma:internalName="PublishingExpirationDat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C8CC133-FB48-48D4-A8C3-39AD330120CE}">
  <ds:schemaRefs>
    <ds:schemaRef ds:uri="http://schemas.microsoft.com/sharepoint/v3/contenttype/forms"/>
  </ds:schemaRefs>
</ds:datastoreItem>
</file>

<file path=customXml/itemProps2.xml><?xml version="1.0" encoding="utf-8"?>
<ds:datastoreItem xmlns:ds="http://schemas.openxmlformats.org/officeDocument/2006/customXml" ds:itemID="{9EC46F8E-D621-4DF3-AA77-86E0302874BE}">
  <ds:schemaRefs>
    <ds:schemaRef ds:uri="http://purl.org/dc/dcmitype/"/>
    <ds:schemaRef ds:uri="http://schemas.microsoft.com/office/infopath/2007/PartnerControls"/>
    <ds:schemaRef ds:uri="http://schemas.microsoft.com/office/2006/documentManagement/types"/>
    <ds:schemaRef ds:uri="http://purl.org/dc/elements/1.1/"/>
    <ds:schemaRef ds:uri="http://www.w3.org/XML/1998/namespace"/>
    <ds:schemaRef ds:uri="http://schemas.microsoft.com/office/2006/metadata/properties"/>
    <ds:schemaRef ds:uri="http://schemas.openxmlformats.org/package/2006/metadata/core-properties"/>
    <ds:schemaRef ds:uri="http://schemas.microsoft.com/sharepoint/v3"/>
    <ds:schemaRef ds:uri="http://purl.org/dc/terms/"/>
  </ds:schemaRefs>
</ds:datastoreItem>
</file>

<file path=customXml/itemProps3.xml><?xml version="1.0" encoding="utf-8"?>
<ds:datastoreItem xmlns:ds="http://schemas.openxmlformats.org/officeDocument/2006/customXml" ds:itemID="{0171630A-DC16-4AC1-8EE4-41158D582A0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4405</TotalTime>
  <Words>1436</Words>
  <Application>Microsoft Office PowerPoint</Application>
  <PresentationFormat>Affichage à l'écran (16:9)</PresentationFormat>
  <Paragraphs>186</Paragraphs>
  <Slides>13</Slides>
  <Notes>1</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13</vt:i4>
      </vt:variant>
    </vt:vector>
  </HeadingPairs>
  <TitlesOfParts>
    <vt:vector size="22" baseType="lpstr">
      <vt:lpstr>Arial</vt:lpstr>
      <vt:lpstr>Calibri</vt:lpstr>
      <vt:lpstr>Helvetica 45 Light</vt:lpstr>
      <vt:lpstr>Helvetica 55 Roman</vt:lpstr>
      <vt:lpstr>Helvetica 65 Medium</vt:lpstr>
      <vt:lpstr>Helvetica 75</vt:lpstr>
      <vt:lpstr>Helvetica 75 Bold</vt:lpstr>
      <vt:lpstr>Wingdings</vt:lpstr>
      <vt:lpstr>OFR Outils et elements utiles</vt:lpstr>
      <vt:lpstr>Présentation PowerPoint</vt:lpstr>
      <vt:lpstr>Présentation PowerPoint</vt:lpstr>
      <vt:lpstr>Présentation PowerPoint</vt:lpstr>
      <vt:lpstr>Constat</vt:lpstr>
      <vt:lpstr>Solution</vt:lpstr>
      <vt:lpstr>Produit / Service</vt:lpstr>
      <vt:lpstr>Marché / Cible</vt:lpstr>
      <vt:lpstr>Business model </vt:lpstr>
      <vt:lpstr>Concurrents</vt:lpstr>
      <vt:lpstr>Equipe</vt:lpstr>
      <vt:lpstr>Chiffres clés</vt:lpstr>
      <vt:lpstr>Ils nous soutiennent</vt:lpstr>
      <vt:lpstr>Présentation PowerPoint</vt:lpstr>
    </vt:vector>
  </TitlesOfParts>
  <Company>Article10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David Smith</dc:creator>
  <cp:lastModifiedBy>FONKOUE Corine O-CM/DAIR</cp:lastModifiedBy>
  <cp:revision>142</cp:revision>
  <dcterms:created xsi:type="dcterms:W3CDTF">2016-08-11T14:02:28Z</dcterms:created>
  <dcterms:modified xsi:type="dcterms:W3CDTF">2026-04-14T08:30:02Z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0x010100A3689F6A969AB449B11794B473A2EDAB</vt:lpwstr>
  </property>
</Properties>
</file>